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64B"/>
                </a:solidFill>
                <a:latin typeface="Calibri"/>
              </a:defRPr>
            </a:pPr>
            <a:r>
              <a:rPr sz="1200" b="0" i="0" u="none" strike="noStrike">
                <a:solidFill>
                  <a:srgbClr val="3A464B"/>
                </a:solidFill>
                <a:latin typeface="Calibri"/>
              </a:rPr>
              <a:t>Monte Carlo — 10,000 runs on 12 weeks of throughput</a:t>
            </a:r>
          </a:p>
        </c:rich>
      </c:tx>
      <c:layout/>
      <c:overlay val="0"/>
    </c:title>
    <c:autoTitleDeleted val="0"/>
    <c:plotArea>
      <c:layout/>
      <c:barChart>
        <c:barDir val="col"/>
        <c:grouping val="clustered"/>
        <c:varyColors val="0"/>
        <c:ser>
          <c:idx val="0"/>
          <c:order val="0"/>
          <c:tx>
            <c:strRef>
              <c:f>Sheet1!$B$1</c:f>
              <c:strCache>
                <c:ptCount val="1"/>
                <c:pt idx="0">
                  <c:v>Simulations reaching done (%)</c:v>
                </c:pt>
              </c:strCache>
            </c:strRef>
          </c:tx>
          <c:spPr>
            <a:solidFill>
              <a:srgbClr val="0B6E6B"/>
            </a:solidFill>
            <a:effectLst/>
          </c:spPr>
          <c:invertIfNegative val="0"/>
          <c:dLbls>
            <c:numFmt formatCode="#,##0" sourceLinked="0"/>
            <c:txPr>
              <a:bodyPr/>
              <a:lstStyle/>
              <a:p>
                <a:pPr>
                  <a:defRPr b="0" i="0" strike="noStrike" sz="900" u="none">
                    <a:solidFill>
                      <a:srgbClr val="3A464B"/>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W8</c:v>
                  </c:pt>
                  <c:pt idx="1">
                    <c:v>W9</c:v>
                  </c:pt>
                  <c:pt idx="2">
                    <c:v>W10</c:v>
                  </c:pt>
                  <c:pt idx="3">
                    <c:v>W11</c:v>
                  </c:pt>
                  <c:pt idx="4">
                    <c:v>W12</c:v>
                  </c:pt>
                  <c:pt idx="5">
                    <c:v>W13</c:v>
                  </c:pt>
                  <c:pt idx="6">
                    <c:v>W14</c:v>
                  </c:pt>
                  <c:pt idx="7">
                    <c:v>W15</c:v>
                  </c:pt>
                  <c:pt idx="8">
                    <c:v>W16</c:v>
                  </c:pt>
                </c:lvl>
              </c:multiLvlStrCache>
            </c:multiLvlStrRef>
          </c:cat>
          <c:val>
            <c:numRef>
              <c:f>Sheet1!$B$2:$B$10</c:f>
              <c:numCache>
                <c:formatCode>General</c:formatCode>
                <c:ptCount val="9"/>
                <c:pt idx="0">
                  <c:v>2</c:v>
                </c:pt>
                <c:pt idx="1">
                  <c:v>7</c:v>
                </c:pt>
                <c:pt idx="2">
                  <c:v>15</c:v>
                </c:pt>
                <c:pt idx="3">
                  <c:v>22</c:v>
                </c:pt>
                <c:pt idx="4">
                  <c:v>21</c:v>
                </c:pt>
                <c:pt idx="5">
                  <c:v>15</c:v>
                </c:pt>
                <c:pt idx="6">
                  <c:v>10</c:v>
                </c:pt>
                <c:pt idx="7">
                  <c:v>5</c:v>
                </c:pt>
                <c:pt idx="8">
                  <c:v>3</c:v>
                </c:pt>
              </c:numCache>
            </c:numRef>
          </c:val>
        </c:ser>
        <c:dLbls>
          <c:numFmt formatCode="#,##0" sourceLinked="0"/>
          <c:txPr>
            <a:bodyPr/>
            <a:lstStyle/>
            <a:p>
              <a:pPr>
                <a:defRPr b="0" i="0" strike="noStrike" sz="900" u="none">
                  <a:solidFill>
                    <a:srgbClr val="3A464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64B"/>
                </a:solidFill>
                <a:latin typeface="Calibri"/>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E3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FADB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64B"/>
                </a:solidFill>
                <a:latin typeface="Calibri"/>
              </a:defRPr>
            </a:pPr>
            <a:r>
              <a:rPr sz="1200" b="0" i="0" u="none" strike="noStrike">
                <a:solidFill>
                  <a:srgbClr val="3A464B"/>
                </a:solidFill>
                <a:latin typeface="Calibri"/>
              </a:rPr>
              <a:t>Cycle time by stage — one epic, from the label history (days)</a:t>
            </a:r>
          </a:p>
        </c:rich>
      </c:tx>
      <c:layout/>
      <c:overlay val="0"/>
    </c:title>
    <c:autoTitleDeleted val="0"/>
    <c:plotArea>
      <c:layout/>
      <c:barChart>
        <c:barDir val="bar"/>
        <c:grouping val="clustered"/>
        <c:varyColors val="0"/>
        <c:ser>
          <c:idx val="0"/>
          <c:order val="0"/>
          <c:tx>
            <c:strRef>
              <c:f>Sheet1!$B$1</c:f>
              <c:strCache>
                <c:ptCount val="1"/>
                <c:pt idx="0">
                  <c:v>Median days in stage</c:v>
                </c:pt>
              </c:strCache>
            </c:strRef>
          </c:tx>
          <c:spPr>
            <a:solidFill>
              <a:srgbClr val="0B6E6B"/>
            </a:solidFill>
            <a:effectLst/>
          </c:spPr>
          <c:invertIfNegative val="0"/>
          <c:dLbls>
            <c:numFmt formatCode="0.0" sourceLinked="0"/>
            <c:txPr>
              <a:bodyPr/>
              <a:lstStyle/>
              <a:p>
                <a:pPr>
                  <a:defRPr b="0" i="0" strike="noStrike" sz="900" u="none">
                    <a:solidFill>
                      <a:srgbClr val="3A464B"/>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intake</c:v>
                  </c:pt>
                  <c:pt idx="1">
                    <c:v>spec gate</c:v>
                  </c:pt>
                  <c:pt idx="2">
                    <c:v>plan+design</c:v>
                  </c:pt>
                  <c:pt idx="3">
                    <c:v>design gate</c:v>
                  </c:pt>
                  <c:pt idx="4">
                    <c:v>implement</c:v>
                  </c:pt>
                  <c:pt idx="5">
                    <c:v>review</c:v>
                  </c:pt>
                  <c:pt idx="6">
                    <c:v>test</c:v>
                  </c:pt>
                  <c:pt idx="7">
                    <c:v>staging gate</c:v>
                  </c:pt>
                  <c:pt idx="8">
                    <c:v>prod gate</c:v>
                  </c:pt>
                </c:lvl>
              </c:multiLvlStrCache>
            </c:multiLvlStrRef>
          </c:cat>
          <c:val>
            <c:numRef>
              <c:f>Sheet1!$B$2:$B$10</c:f>
              <c:numCache>
                <c:formatCode>General</c:formatCode>
                <c:ptCount val="9"/>
                <c:pt idx="0">
                  <c:v>0.3</c:v>
                </c:pt>
                <c:pt idx="1">
                  <c:v>2.1</c:v>
                </c:pt>
                <c:pt idx="2">
                  <c:v>0.4</c:v>
                </c:pt>
                <c:pt idx="3">
                  <c:v>1.6</c:v>
                </c:pt>
                <c:pt idx="4">
                  <c:v>1.2</c:v>
                </c:pt>
                <c:pt idx="5">
                  <c:v>0.5</c:v>
                </c:pt>
                <c:pt idx="6">
                  <c:v>0.6</c:v>
                </c:pt>
                <c:pt idx="7">
                  <c:v>1.9</c:v>
                </c:pt>
                <c:pt idx="8">
                  <c:v>0.8</c:v>
                </c:pt>
              </c:numCache>
            </c:numRef>
          </c:val>
        </c:ser>
        <c:dLbls>
          <c:numFmt formatCode="0.0" sourceLinked="0"/>
          <c:txPr>
            <a:bodyPr/>
            <a:lstStyle/>
            <a:p>
              <a:pPr>
                <a:defRPr b="0" i="0" strike="noStrike" sz="900" u="none">
                  <a:solidFill>
                    <a:srgbClr val="3A464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A464B"/>
                </a:solidFill>
                <a:latin typeface="Calibri"/>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E3E8E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9FADB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program is built for PMs who already run delivery well and need to run it with AI — both using AI in their own work and governing delivery where agents do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by GenAI People. github.com/genai-jerry/claude-software-factory. Ten roles, five gates. Emphasise: the orchestrator is not an AI — it is a routing job that reads labels. Any human can take over any stage by setting the next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values are illustrative. In the lab, participants use a supplied 12-week throughput dataset or their own Jira/ADO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tie-in: the factory's own rule set is exactly this table. Agents label, comment and open PRs; they may never merge to main, and a hook enforces it rather than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values are illustrative. Point: AI monitoring is anomaly and trend detection on top of these, and an attention queue instead of an alert firehose.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1C"/>
        </a:solidFill>
      </p:bgPr>
    </p:bg>
    <p:spTree>
      <p:nvGrpSpPr>
        <p:cNvPr id="1" name=""/>
        <p:cNvGrpSpPr/>
        <p:nvPr/>
      </p:nvGrpSpPr>
      <p:grpSpPr>
        <a:xfrm>
          <a:off x="0" y="0"/>
          <a:ext cx="0" cy="0"/>
          <a:chOff x="0" y="0"/>
          <a:chExt cx="0" cy="0"/>
        </a:xfrm>
      </p:grpSpPr>
      <p:sp>
        <p:nvSpPr>
          <p:cNvPr id="2" name="Shape 0"/>
          <p:cNvSpPr/>
          <p:nvPr/>
        </p:nvSpPr>
        <p:spPr>
          <a:xfrm>
            <a:off x="8138160" y="-1463040"/>
            <a:ext cx="5943600" cy="5943600"/>
          </a:xfrm>
          <a:prstGeom prst="ellipse">
            <a:avLst/>
          </a:prstGeom>
          <a:solidFill>
            <a:srgbClr val="0A3B39"/>
          </a:solidFill>
          <a:ln w="12700">
            <a:solidFill>
              <a:srgbClr val="0A3B39"/>
            </a:solidFill>
            <a:prstDash val="solid"/>
          </a:ln>
        </p:spPr>
      </p:sp>
      <p:sp>
        <p:nvSpPr>
          <p:cNvPr id="3" name="Shape 1"/>
          <p:cNvSpPr/>
          <p:nvPr/>
        </p:nvSpPr>
        <p:spPr>
          <a:xfrm>
            <a:off x="9509760" y="182880"/>
            <a:ext cx="3291840" cy="3291840"/>
          </a:xfrm>
          <a:prstGeom prst="ellipse">
            <a:avLst/>
          </a:prstGeom>
          <a:solidFill>
            <a:srgbClr val="0B6E6B"/>
          </a:solidFill>
          <a:ln w="12700">
            <a:solidFill>
              <a:srgbClr val="0B6E6B"/>
            </a:solidFill>
            <a:prstDash val="solid"/>
          </a:ln>
        </p:spPr>
      </p:sp>
      <p:sp>
        <p:nvSpPr>
          <p:cNvPr id="4" name="Shape 2"/>
          <p:cNvSpPr/>
          <p:nvPr/>
        </p:nvSpPr>
        <p:spPr>
          <a:xfrm>
            <a:off x="9966960" y="1554480"/>
            <a:ext cx="1408176" cy="292608"/>
          </a:xfrm>
          <a:prstGeom prst="roundRect">
            <a:avLst>
              <a:gd name="adj" fmla="val 50000"/>
            </a:avLst>
          </a:prstGeom>
          <a:solidFill>
            <a:srgbClr val="FFFFFF"/>
          </a:solidFill>
          <a:ln w="6350">
            <a:solidFill>
              <a:srgbClr val="FFFFFF"/>
            </a:solidFill>
            <a:prstDash val="solid"/>
          </a:ln>
        </p:spPr>
      </p:sp>
      <p:sp>
        <p:nvSpPr>
          <p:cNvPr id="5" name="Text 3"/>
          <p:cNvSpPr txBox="1"/>
          <p:nvPr/>
        </p:nvSpPr>
        <p:spPr>
          <a:xfrm>
            <a:off x="9966960" y="1554480"/>
            <a:ext cx="1408176"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ourier New" pitchFamily="34" charset="0"/>
                <a:ea typeface="Courier New" pitchFamily="34" charset="-122"/>
                <a:cs typeface="Courier New" pitchFamily="34" charset="-120"/>
              </a:rPr>
              <a:t>factory:intake</a:t>
            </a:r>
            <a:endParaRPr lang="en-US" sz="1000" dirty="0"/>
          </a:p>
        </p:txBody>
      </p:sp>
      <p:sp>
        <p:nvSpPr>
          <p:cNvPr id="6" name="Shape 4"/>
          <p:cNvSpPr/>
          <p:nvPr/>
        </p:nvSpPr>
        <p:spPr>
          <a:xfrm>
            <a:off x="8686800" y="2148840"/>
            <a:ext cx="1719072" cy="292608"/>
          </a:xfrm>
          <a:prstGeom prst="roundRect">
            <a:avLst>
              <a:gd name="adj" fmla="val 50000"/>
            </a:avLst>
          </a:prstGeom>
          <a:solidFill>
            <a:srgbClr val="DFEDEC"/>
          </a:solidFill>
          <a:ln w="6350">
            <a:solidFill>
              <a:srgbClr val="DFEDEC"/>
            </a:solidFill>
            <a:prstDash val="solid"/>
          </a:ln>
        </p:spPr>
      </p:sp>
      <p:sp>
        <p:nvSpPr>
          <p:cNvPr id="7" name="Text 5"/>
          <p:cNvSpPr txBox="1"/>
          <p:nvPr/>
        </p:nvSpPr>
        <p:spPr>
          <a:xfrm>
            <a:off x="8686800" y="2148840"/>
            <a:ext cx="1719072"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ourier New" pitchFamily="34" charset="0"/>
                <a:ea typeface="Courier New" pitchFamily="34" charset="-122"/>
                <a:cs typeface="Courier New" pitchFamily="34" charset="-120"/>
              </a:rPr>
              <a:t>factory:spec-ready</a:t>
            </a:r>
            <a:endParaRPr lang="en-US" sz="1000" dirty="0"/>
          </a:p>
        </p:txBody>
      </p:sp>
      <p:sp>
        <p:nvSpPr>
          <p:cNvPr id="8" name="Shape 6"/>
          <p:cNvSpPr/>
          <p:nvPr/>
        </p:nvSpPr>
        <p:spPr>
          <a:xfrm>
            <a:off x="9692640" y="2743200"/>
            <a:ext cx="1563624" cy="292608"/>
          </a:xfrm>
          <a:prstGeom prst="roundRect">
            <a:avLst>
              <a:gd name="adj" fmla="val 50000"/>
            </a:avLst>
          </a:prstGeom>
          <a:solidFill>
            <a:srgbClr val="FAEDE4"/>
          </a:solidFill>
          <a:ln w="6350">
            <a:solidFill>
              <a:srgbClr val="FAEDE4"/>
            </a:solidFill>
            <a:prstDash val="solid"/>
          </a:ln>
        </p:spPr>
      </p:sp>
      <p:sp>
        <p:nvSpPr>
          <p:cNvPr id="9" name="Text 7"/>
          <p:cNvSpPr txBox="1"/>
          <p:nvPr/>
        </p:nvSpPr>
        <p:spPr>
          <a:xfrm>
            <a:off x="9692640" y="2743200"/>
            <a:ext cx="1563624" cy="292608"/>
          </a:xfrm>
          <a:prstGeom prst="rect">
            <a:avLst/>
          </a:prstGeom>
          <a:noFill/>
          <a:ln/>
        </p:spPr>
        <p:txBody>
          <a:bodyPr wrap="square" lIns="0" tIns="0" rIns="0" bIns="0" rtlCol="0" anchor="ctr"/>
          <a:lstStyle/>
          <a:p>
            <a:pPr algn="ctr" indent="0" marL="0">
              <a:buNone/>
            </a:pPr>
            <a:r>
              <a:rPr lang="en-US" sz="1000" b="1" dirty="0">
                <a:solidFill>
                  <a:srgbClr val="B24A17"/>
                </a:solidFill>
                <a:latin typeface="Courier New" pitchFamily="34" charset="0"/>
                <a:ea typeface="Courier New" pitchFamily="34" charset="-122"/>
                <a:cs typeface="Courier New" pitchFamily="34" charset="-120"/>
              </a:rPr>
              <a:t>factory:deployed</a:t>
            </a:r>
            <a:endParaRPr lang="en-US" sz="1000" dirty="0"/>
          </a:p>
        </p:txBody>
      </p:sp>
      <p:sp>
        <p:nvSpPr>
          <p:cNvPr id="10" name="Text 8"/>
          <p:cNvSpPr txBox="1"/>
          <p:nvPr/>
        </p:nvSpPr>
        <p:spPr>
          <a:xfrm>
            <a:off x="640080" y="1463040"/>
            <a:ext cx="7315200" cy="320040"/>
          </a:xfrm>
          <a:prstGeom prst="rect">
            <a:avLst/>
          </a:prstGeom>
          <a:noFill/>
          <a:ln/>
        </p:spPr>
        <p:txBody>
          <a:bodyPr wrap="square" lIns="0" tIns="0" rIns="0" bIns="0" rtlCol="0" anchor="ctr"/>
          <a:lstStyle/>
          <a:p>
            <a:pPr indent="0" marL="0">
              <a:buNone/>
            </a:pPr>
            <a:r>
              <a:rPr lang="en-US" sz="1200" b="1" spc="200" kern="0" dirty="0">
                <a:solidFill>
                  <a:srgbClr val="DFEDEC"/>
                </a:solidFill>
                <a:latin typeface="Calibri" pitchFamily="34" charset="0"/>
                <a:ea typeface="Calibri" pitchFamily="34" charset="-122"/>
                <a:cs typeface="Calibri" pitchFamily="34" charset="-120"/>
              </a:rPr>
              <a:t>CORPORATE TRAINING PROGRAM  ·  20 HOURS  ·  5 HALF-DAYS</a:t>
            </a:r>
            <a:endParaRPr lang="en-US" sz="1200" dirty="0"/>
          </a:p>
        </p:txBody>
      </p:sp>
      <p:sp>
        <p:nvSpPr>
          <p:cNvPr id="11" name="Text 9"/>
          <p:cNvSpPr txBox="1"/>
          <p:nvPr/>
        </p:nvSpPr>
        <p:spPr>
          <a:xfrm>
            <a:off x="640080" y="1828800"/>
            <a:ext cx="7863840" cy="17373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AI-Enabled Project &amp; Delivery Management</a:t>
            </a:r>
            <a:endParaRPr lang="en-US" sz="4600" dirty="0"/>
          </a:p>
        </p:txBody>
      </p:sp>
      <p:sp>
        <p:nvSpPr>
          <p:cNvPr id="12" name="Text 10"/>
          <p:cNvSpPr txBox="1"/>
          <p:nvPr/>
        </p:nvSpPr>
        <p:spPr>
          <a:xfrm>
            <a:off x="640080" y="3657600"/>
            <a:ext cx="7498080" cy="1005840"/>
          </a:xfrm>
          <a:prstGeom prst="rect">
            <a:avLst/>
          </a:prstGeom>
          <a:noFill/>
          <a:ln/>
        </p:spPr>
        <p:txBody>
          <a:bodyPr wrap="square" lIns="0" tIns="0" rIns="0" bIns="0" rtlCol="0" anchor="t"/>
          <a:lstStyle/>
          <a:p>
            <a:pPr indent="0" marL="0">
              <a:buNone/>
            </a:pPr>
            <a:r>
              <a:rPr lang="en-US" sz="1600" dirty="0">
                <a:solidFill>
                  <a:srgbClr val="DFEDEC"/>
                </a:solidFill>
                <a:latin typeface="Calibri" pitchFamily="34" charset="0"/>
                <a:ea typeface="Calibri" pitchFamily="34" charset="-122"/>
                <a:cs typeface="Calibri" pitchFamily="34" charset="-120"/>
              </a:rPr>
              <a:t>Generative AI, predictive analytics and automation for experienced Project and Delivery Managers — with the Software Factory, an agent-driven delivery pipeline, as the running case.</a:t>
            </a:r>
            <a:endParaRPr lang="en-US" sz="1600" dirty="0"/>
          </a:p>
        </p:txBody>
      </p:sp>
      <p:sp>
        <p:nvSpPr>
          <p:cNvPr id="13" name="Text 11"/>
          <p:cNvSpPr txBox="1"/>
          <p:nvPr/>
        </p:nvSpPr>
        <p:spPr>
          <a:xfrm>
            <a:off x="640080" y="576072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GenAI People</a:t>
            </a:r>
            <a:pPr indent="0" marL="0">
              <a:buNone/>
            </a:pPr>
            <a:r>
              <a:rPr lang="en-US" sz="1300" dirty="0">
                <a:solidFill>
                  <a:srgbClr val="9FADB1"/>
                </a:solidFill>
                <a:latin typeface="Calibri" pitchFamily="34" charset="0"/>
                <a:ea typeface="Calibri" pitchFamily="34" charset="-122"/>
                <a:cs typeface="Calibri" pitchFamily="34" charset="-120"/>
              </a:rPr>
              <a:t>  ·  Jerry Kurian  ·  genaipeople.com</a:t>
            </a:r>
            <a:endParaRPr lang="en-US" sz="1300" dirty="0"/>
          </a:p>
        </p:txBody>
      </p:sp>
      <p:sp>
        <p:nvSpPr>
          <p:cNvPr id="14" name="Text 12"/>
          <p:cNvSpPr txBox="1"/>
          <p:nvPr/>
        </p:nvSpPr>
        <p:spPr>
          <a:xfrm>
            <a:off x="640080" y="6126480"/>
            <a:ext cx="7315200" cy="320040"/>
          </a:xfrm>
          <a:prstGeom prst="rect">
            <a:avLst/>
          </a:prstGeom>
          <a:noFill/>
          <a:ln/>
        </p:spPr>
        <p:txBody>
          <a:bodyPr wrap="square" lIns="0" tIns="0" rIns="0" bIns="0" rtlCol="0" anchor="ctr"/>
          <a:lstStyle/>
          <a:p>
            <a:pPr indent="0" marL="0">
              <a:buNone/>
            </a:pPr>
            <a:r>
              <a:rPr lang="en-US" sz="1100" dirty="0">
                <a:solidFill>
                  <a:srgbClr val="9FADB1"/>
                </a:solidFill>
                <a:latin typeface="Calibri" pitchFamily="34" charset="0"/>
                <a:ea typeface="Calibri" pitchFamily="34" charset="-122"/>
                <a:cs typeface="Calibri" pitchFamily="34" charset="-120"/>
              </a:rPr>
              <a:t>Prepared for Gynosis Information Technology Pvt. Ltd. · Client: UST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WHY THIS PROGRAM</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The Project Manager's job is changing — twice</a:t>
            </a:r>
            <a:endParaRPr lang="en-US" sz="3000" dirty="0"/>
          </a:p>
        </p:txBody>
      </p:sp>
      <p:sp>
        <p:nvSpPr>
          <p:cNvPr id="4" name="Text 2"/>
          <p:cNvSpPr txBox="1"/>
          <p:nvPr/>
        </p:nvSpPr>
        <p:spPr>
          <a:xfrm>
            <a:off x="548640" y="1645920"/>
            <a:ext cx="6035040" cy="4480560"/>
          </a:xfrm>
          <a:prstGeom prst="rect">
            <a:avLst/>
          </a:prstGeom>
          <a:noFill/>
          <a:ln/>
        </p:spPr>
        <p:txBody>
          <a:bodyPr wrap="square" lIns="0" tIns="0" rIns="0" bIns="0" rtlCol="0" anchor="t"/>
          <a:lstStyle/>
          <a:p>
            <a:pPr marL="177800" indent="-177800">
              <a:spcAft>
                <a:spcPts val="1200"/>
              </a:spcAft>
              <a:buSzPct val="100000"/>
              <a:buChar char="•"/>
            </a:pPr>
            <a:r>
              <a:rPr lang="en-US" sz="1400" b="1" dirty="0">
                <a:solidFill>
                  <a:srgbClr val="0F1A1C"/>
                </a:solidFill>
                <a:latin typeface="Calibri" pitchFamily="34" charset="0"/>
                <a:ea typeface="Calibri" pitchFamily="34" charset="-122"/>
                <a:cs typeface="Calibri" pitchFamily="34" charset="-120"/>
              </a:rPr>
              <a:t>First shift: AI in the PM's own work.  </a:t>
            </a:r>
            <a:pPr indent="0" marL="0">
              <a:spcAft>
                <a:spcPts val="1200"/>
              </a:spcAft>
              <a:buNone/>
            </a:pPr>
            <a:r>
              <a:rPr lang="en-US" sz="1400" dirty="0">
                <a:solidFill>
                  <a:srgbClr val="3A464B"/>
                </a:solidFill>
                <a:latin typeface="Calibri" pitchFamily="34" charset="0"/>
                <a:ea typeface="Calibri" pitchFamily="34" charset="-122"/>
                <a:cs typeface="Calibri" pitchFamily="34" charset="-120"/>
              </a:rPr>
              <a:t>Charters, estimates, risk registers, status reports and stakeholder updates are now drafted in minutes. The skill moves from writing to reviewing.</a:t>
            </a:r>
            <a:endParaRPr lang="en-US" sz="1400" dirty="0"/>
          </a:p>
          <a:p>
            <a:pPr marL="177800" indent="-177800">
              <a:spcAft>
                <a:spcPts val="1200"/>
              </a:spcAft>
              <a:buSzPct val="100000"/>
              <a:buChar char="•"/>
            </a:pPr>
            <a:r>
              <a:rPr lang="en-US" sz="1400" b="1" dirty="0">
                <a:solidFill>
                  <a:srgbClr val="0F1A1C"/>
                </a:solidFill>
                <a:latin typeface="Calibri" pitchFamily="34" charset="0"/>
                <a:ea typeface="Calibri" pitchFamily="34" charset="-122"/>
                <a:cs typeface="Calibri" pitchFamily="34" charset="-120"/>
              </a:rPr>
              <a:t>Second shift: AI doing the delivery.  </a:t>
            </a:r>
            <a:pPr indent="0" marL="0">
              <a:spcAft>
                <a:spcPts val="1200"/>
              </a:spcAft>
              <a:buNone/>
            </a:pPr>
            <a:r>
              <a:rPr lang="en-US" sz="1400" dirty="0">
                <a:solidFill>
                  <a:srgbClr val="3A464B"/>
                </a:solidFill>
                <a:latin typeface="Calibri" pitchFamily="34" charset="0"/>
                <a:ea typeface="Calibri" pitchFamily="34" charset="-122"/>
                <a:cs typeface="Calibri" pitchFamily="34" charset="-120"/>
              </a:rPr>
              <a:t>Agents now spec, plan, design, implement, review and test. The PM stops coordinating hand-offs and starts holding gates.</a:t>
            </a:r>
            <a:endParaRPr lang="en-US" sz="1400" dirty="0"/>
          </a:p>
          <a:p>
            <a:pPr marL="177800" indent="-177800">
              <a:spcAft>
                <a:spcPts val="1200"/>
              </a:spcAft>
              <a:buSzPct val="100000"/>
              <a:buChar char="•"/>
            </a:pPr>
            <a:r>
              <a:rPr lang="en-US" sz="1400" b="1" dirty="0">
                <a:solidFill>
                  <a:srgbClr val="0F1A1C"/>
                </a:solidFill>
                <a:latin typeface="Calibri" pitchFamily="34" charset="0"/>
                <a:ea typeface="Calibri" pitchFamily="34" charset="-122"/>
                <a:cs typeface="Calibri" pitchFamily="34" charset="-120"/>
              </a:rPr>
              <a:t>What does not change.  </a:t>
            </a:r>
            <a:pPr indent="0" marL="0">
              <a:spcAft>
                <a:spcPts val="1200"/>
              </a:spcAft>
              <a:buNone/>
            </a:pPr>
            <a:r>
              <a:rPr lang="en-US" sz="1400" dirty="0">
                <a:solidFill>
                  <a:srgbClr val="3A464B"/>
                </a:solidFill>
                <a:latin typeface="Calibri" pitchFamily="34" charset="0"/>
                <a:ea typeface="Calibri" pitchFamily="34" charset="-122"/>
                <a:cs typeface="Calibri" pitchFamily="34" charset="-120"/>
              </a:rPr>
              <a:t>Scope, trade-offs, accountability, relationships, and the decision to ship. These get more valuable, not less.</a:t>
            </a:r>
            <a:endParaRPr lang="en-US" sz="1400" dirty="0"/>
          </a:p>
          <a:p>
            <a:pPr marL="177800" indent="-177800">
              <a:spcAft>
                <a:spcPts val="1200"/>
              </a:spcAft>
              <a:buSzPct val="100000"/>
              <a:buChar char="•"/>
            </a:pPr>
            <a:r>
              <a:rPr lang="en-US" sz="1400" b="1" dirty="0">
                <a:solidFill>
                  <a:srgbClr val="0F1A1C"/>
                </a:solidFill>
                <a:latin typeface="Calibri" pitchFamily="34" charset="0"/>
                <a:ea typeface="Calibri" pitchFamily="34" charset="-122"/>
                <a:cs typeface="Calibri" pitchFamily="34" charset="-120"/>
              </a:rPr>
              <a:t>The program teaches both halves,  </a:t>
            </a:r>
            <a:pPr indent="0" marL="0">
              <a:spcAft>
                <a:spcPts val="1200"/>
              </a:spcAft>
              <a:buNone/>
            </a:pPr>
            <a:r>
              <a:rPr lang="en-US" sz="1400" dirty="0">
                <a:solidFill>
                  <a:srgbClr val="3A464B"/>
                </a:solidFill>
                <a:latin typeface="Calibri" pitchFamily="34" charset="0"/>
                <a:ea typeface="Calibri" pitchFamily="34" charset="-122"/>
                <a:cs typeface="Calibri" pitchFamily="34" charset="-120"/>
              </a:rPr>
              <a:t>with hands-on labs every day and a real agent-driven pipeline on Days 4 and 5.</a:t>
            </a:r>
            <a:endParaRPr lang="en-US" sz="1400" dirty="0"/>
          </a:p>
        </p:txBody>
      </p:sp>
      <p:sp>
        <p:nvSpPr>
          <p:cNvPr id="5" name="Shape 3"/>
          <p:cNvSpPr/>
          <p:nvPr/>
        </p:nvSpPr>
        <p:spPr>
          <a:xfrm>
            <a:off x="7040880" y="1645920"/>
            <a:ext cx="4617720" cy="1325880"/>
          </a:xfrm>
          <a:prstGeom prst="roundRect">
            <a:avLst>
              <a:gd name="adj" fmla="val 8276"/>
            </a:avLst>
          </a:prstGeom>
          <a:solidFill>
            <a:srgbClr val="F4F6F6"/>
          </a:solidFill>
          <a:ln w="12700">
            <a:solidFill>
              <a:srgbClr val="F4F6F6"/>
            </a:solidFill>
            <a:prstDash val="solid"/>
          </a:ln>
        </p:spPr>
      </p:sp>
      <p:sp>
        <p:nvSpPr>
          <p:cNvPr id="6" name="Shape 4"/>
          <p:cNvSpPr/>
          <p:nvPr/>
        </p:nvSpPr>
        <p:spPr>
          <a:xfrm>
            <a:off x="7223760" y="2011680"/>
            <a:ext cx="594360" cy="5943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66406" y="2154326"/>
            <a:ext cx="309067" cy="309067"/>
          </a:xfrm>
          <a:prstGeom prst="rect">
            <a:avLst/>
          </a:prstGeom>
        </p:spPr>
      </p:pic>
      <p:sp>
        <p:nvSpPr>
          <p:cNvPr id="8" name="Text 5"/>
          <p:cNvSpPr txBox="1"/>
          <p:nvPr/>
        </p:nvSpPr>
        <p:spPr>
          <a:xfrm>
            <a:off x="8001000" y="1828800"/>
            <a:ext cx="3474720" cy="365760"/>
          </a:xfrm>
          <a:prstGeom prst="rect">
            <a:avLst/>
          </a:prstGeom>
          <a:noFill/>
          <a:ln/>
        </p:spPr>
        <p:txBody>
          <a:bodyPr wrap="square" lIns="0" tIns="0" rIns="0" bIns="0" rtlCol="0" anchor="ctr"/>
          <a:lstStyle/>
          <a:p>
            <a:pPr indent="0" marL="0">
              <a:buNone/>
            </a:pPr>
            <a:r>
              <a:rPr lang="en-US" sz="1600" b="1" dirty="0">
                <a:solidFill>
                  <a:srgbClr val="0B6E6B"/>
                </a:solidFill>
                <a:latin typeface="Cambria" pitchFamily="34" charset="0"/>
                <a:ea typeface="Cambria" pitchFamily="34" charset="-122"/>
                <a:cs typeface="Cambria" pitchFamily="34" charset="-120"/>
              </a:rPr>
              <a:t>Assistant</a:t>
            </a:r>
            <a:endParaRPr lang="en-US" sz="1600" dirty="0"/>
          </a:p>
        </p:txBody>
      </p:sp>
      <p:sp>
        <p:nvSpPr>
          <p:cNvPr id="9" name="Text 6"/>
          <p:cNvSpPr txBox="1"/>
          <p:nvPr/>
        </p:nvSpPr>
        <p:spPr>
          <a:xfrm>
            <a:off x="8001000" y="2194560"/>
            <a:ext cx="3520440" cy="685800"/>
          </a:xfrm>
          <a:prstGeom prst="rect">
            <a:avLst/>
          </a:prstGeom>
          <a:noFill/>
          <a:ln/>
        </p:spPr>
        <p:txBody>
          <a:bodyPr wrap="square" lIns="0" tIns="0" rIns="0" bIns="0" rtlCol="0" anchor="t"/>
          <a:lstStyle/>
          <a:p>
            <a:pPr indent="0" marL="0">
              <a:buNone/>
            </a:pPr>
            <a:r>
              <a:rPr lang="en-US" sz="1150" dirty="0">
                <a:solidFill>
                  <a:srgbClr val="3A464B"/>
                </a:solidFill>
                <a:latin typeface="Calibri" pitchFamily="34" charset="0"/>
                <a:ea typeface="Calibri" pitchFamily="34" charset="-122"/>
                <a:cs typeface="Calibri" pitchFamily="34" charset="-120"/>
              </a:rPr>
              <a:t>Drafts for you. You paste context in, you copy the output out. Day 1.</a:t>
            </a:r>
            <a:endParaRPr lang="en-US" sz="1150" dirty="0"/>
          </a:p>
        </p:txBody>
      </p:sp>
      <p:sp>
        <p:nvSpPr>
          <p:cNvPr id="10" name="Shape 7"/>
          <p:cNvSpPr/>
          <p:nvPr/>
        </p:nvSpPr>
        <p:spPr>
          <a:xfrm>
            <a:off x="7040880" y="3127248"/>
            <a:ext cx="4617720" cy="1325880"/>
          </a:xfrm>
          <a:prstGeom prst="roundRect">
            <a:avLst>
              <a:gd name="adj" fmla="val 8276"/>
            </a:avLst>
          </a:prstGeom>
          <a:solidFill>
            <a:srgbClr val="DFEDEC"/>
          </a:solidFill>
          <a:ln w="12700">
            <a:solidFill>
              <a:srgbClr val="DFEDEC"/>
            </a:solidFill>
            <a:prstDash val="solid"/>
          </a:ln>
        </p:spPr>
      </p:sp>
      <p:sp>
        <p:nvSpPr>
          <p:cNvPr id="11" name="Shape 8"/>
          <p:cNvSpPr/>
          <p:nvPr/>
        </p:nvSpPr>
        <p:spPr>
          <a:xfrm>
            <a:off x="7223760" y="3493008"/>
            <a:ext cx="594360" cy="59436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7366406" y="3635654"/>
            <a:ext cx="309067" cy="309067"/>
          </a:xfrm>
          <a:prstGeom prst="rect">
            <a:avLst/>
          </a:prstGeom>
        </p:spPr>
      </p:pic>
      <p:sp>
        <p:nvSpPr>
          <p:cNvPr id="13" name="Text 9"/>
          <p:cNvSpPr txBox="1"/>
          <p:nvPr/>
        </p:nvSpPr>
        <p:spPr>
          <a:xfrm>
            <a:off x="8001000" y="3310128"/>
            <a:ext cx="3474720" cy="365760"/>
          </a:xfrm>
          <a:prstGeom prst="rect">
            <a:avLst/>
          </a:prstGeom>
          <a:noFill/>
          <a:ln/>
        </p:spPr>
        <p:txBody>
          <a:bodyPr wrap="square" lIns="0" tIns="0" rIns="0" bIns="0" rtlCol="0" anchor="ctr"/>
          <a:lstStyle/>
          <a:p>
            <a:pPr indent="0" marL="0">
              <a:buNone/>
            </a:pPr>
            <a:r>
              <a:rPr lang="en-US" sz="1600" b="1" dirty="0">
                <a:solidFill>
                  <a:srgbClr val="0B6E6B"/>
                </a:solidFill>
                <a:latin typeface="Cambria" pitchFamily="34" charset="0"/>
                <a:ea typeface="Cambria" pitchFamily="34" charset="-122"/>
                <a:cs typeface="Cambria" pitchFamily="34" charset="-120"/>
              </a:rPr>
              <a:t>Copilot</a:t>
            </a:r>
            <a:endParaRPr lang="en-US" sz="1600" dirty="0"/>
          </a:p>
        </p:txBody>
      </p:sp>
      <p:sp>
        <p:nvSpPr>
          <p:cNvPr id="14" name="Text 10"/>
          <p:cNvSpPr txBox="1"/>
          <p:nvPr/>
        </p:nvSpPr>
        <p:spPr>
          <a:xfrm>
            <a:off x="8001000" y="3675888"/>
            <a:ext cx="3520440" cy="685800"/>
          </a:xfrm>
          <a:prstGeom prst="rect">
            <a:avLst/>
          </a:prstGeom>
          <a:noFill/>
          <a:ln/>
        </p:spPr>
        <p:txBody>
          <a:bodyPr wrap="square" lIns="0" tIns="0" rIns="0" bIns="0" rtlCol="0" anchor="t"/>
          <a:lstStyle/>
          <a:p>
            <a:pPr indent="0" marL="0">
              <a:buNone/>
            </a:pPr>
            <a:r>
              <a:rPr lang="en-US" sz="1150" dirty="0">
                <a:solidFill>
                  <a:srgbClr val="3A464B"/>
                </a:solidFill>
                <a:latin typeface="Calibri" pitchFamily="34" charset="0"/>
                <a:ea typeface="Calibri" pitchFamily="34" charset="-122"/>
                <a:cs typeface="Calibri" pitchFamily="34" charset="-120"/>
              </a:rPr>
              <a:t>Works inside your tools — tracker, chat, spreadsheet, IDE. Days 2 and 3.</a:t>
            </a:r>
            <a:endParaRPr lang="en-US" sz="1150" dirty="0"/>
          </a:p>
        </p:txBody>
      </p:sp>
      <p:sp>
        <p:nvSpPr>
          <p:cNvPr id="15" name="Shape 11"/>
          <p:cNvSpPr/>
          <p:nvPr/>
        </p:nvSpPr>
        <p:spPr>
          <a:xfrm>
            <a:off x="7040880" y="4608576"/>
            <a:ext cx="4617720" cy="1325880"/>
          </a:xfrm>
          <a:prstGeom prst="roundRect">
            <a:avLst>
              <a:gd name="adj" fmla="val 8276"/>
            </a:avLst>
          </a:prstGeom>
          <a:solidFill>
            <a:srgbClr val="0F1A1C"/>
          </a:solidFill>
          <a:ln w="12700">
            <a:solidFill>
              <a:srgbClr val="0F1A1C"/>
            </a:solidFill>
            <a:prstDash val="solid"/>
          </a:ln>
        </p:spPr>
      </p:sp>
      <p:sp>
        <p:nvSpPr>
          <p:cNvPr id="16" name="Shape 12"/>
          <p:cNvSpPr/>
          <p:nvPr/>
        </p:nvSpPr>
        <p:spPr>
          <a:xfrm>
            <a:off x="7223760" y="4974336"/>
            <a:ext cx="594360" cy="594360"/>
          </a:xfrm>
          <a:prstGeom prst="ellipse">
            <a:avLst/>
          </a:prstGeom>
          <a:solidFill>
            <a:srgbClr val="0B6E6B"/>
          </a:solidFill>
          <a:ln w="12700">
            <a:solidFill>
              <a:srgbClr val="0B6E6B"/>
            </a:solidFill>
            <a:prstDash val="solid"/>
          </a:ln>
        </p:spPr>
      </p:sp>
      <p:pic>
        <p:nvPicPr>
          <p:cNvPr id="17" name="Image 2" descr="preencoded.png">    </p:cNvPr>
          <p:cNvPicPr>
            <a:picLocks noChangeAspect="1"/>
          </p:cNvPicPr>
          <p:nvPr/>
        </p:nvPicPr>
        <p:blipFill>
          <a:blip r:embed="rId3"/>
          <a:stretch>
            <a:fillRect/>
          </a:stretch>
        </p:blipFill>
        <p:spPr>
          <a:xfrm>
            <a:off x="7366406" y="5116982"/>
            <a:ext cx="309067" cy="309067"/>
          </a:xfrm>
          <a:prstGeom prst="rect">
            <a:avLst/>
          </a:prstGeom>
        </p:spPr>
      </p:pic>
      <p:sp>
        <p:nvSpPr>
          <p:cNvPr id="18" name="Text 13"/>
          <p:cNvSpPr txBox="1"/>
          <p:nvPr/>
        </p:nvSpPr>
        <p:spPr>
          <a:xfrm>
            <a:off x="8001000" y="4791456"/>
            <a:ext cx="34747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Agent</a:t>
            </a:r>
            <a:endParaRPr lang="en-US" sz="1600" dirty="0"/>
          </a:p>
        </p:txBody>
      </p:sp>
      <p:sp>
        <p:nvSpPr>
          <p:cNvPr id="19" name="Text 14"/>
          <p:cNvSpPr txBox="1"/>
          <p:nvPr/>
        </p:nvSpPr>
        <p:spPr>
          <a:xfrm>
            <a:off x="8001000" y="5157216"/>
            <a:ext cx="3520440" cy="685800"/>
          </a:xfrm>
          <a:prstGeom prst="rect">
            <a:avLst/>
          </a:prstGeom>
          <a:noFill/>
          <a:ln/>
        </p:spPr>
        <p:txBody>
          <a:bodyPr wrap="square" lIns="0" tIns="0" rIns="0" bIns="0" rtlCol="0" anchor="t"/>
          <a:lstStyle/>
          <a:p>
            <a:pPr indent="0" marL="0">
              <a:buNone/>
            </a:pPr>
            <a:r>
              <a:rPr lang="en-US" sz="1150" dirty="0">
                <a:solidFill>
                  <a:srgbClr val="DFEDEC"/>
                </a:solidFill>
                <a:latin typeface="Calibri" pitchFamily="34" charset="0"/>
                <a:ea typeface="Calibri" pitchFamily="34" charset="-122"/>
                <a:cs typeface="Calibri" pitchFamily="34" charset="-120"/>
              </a:rPr>
              <a:t>Does the work end to end. You approve at gates. Days 4 and 5.</a:t>
            </a:r>
            <a:endParaRPr lang="en-US" sz="1150" dirty="0"/>
          </a:p>
        </p:txBody>
      </p:sp>
      <p:sp>
        <p:nvSpPr>
          <p:cNvPr id="20"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1" name="Text 16"/>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PROGRAM AT A GLANCE</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Five half-days, one running case</a:t>
            </a:r>
            <a:endParaRPr lang="en-US" sz="3000" dirty="0"/>
          </a:p>
        </p:txBody>
      </p:sp>
      <p:sp>
        <p:nvSpPr>
          <p:cNvPr id="4" name="Shape 2"/>
          <p:cNvSpPr/>
          <p:nvPr/>
        </p:nvSpPr>
        <p:spPr>
          <a:xfrm>
            <a:off x="548640" y="1645920"/>
            <a:ext cx="2121408" cy="3794760"/>
          </a:xfrm>
          <a:prstGeom prst="roundRect">
            <a:avLst>
              <a:gd name="adj" fmla="val 5172"/>
            </a:avLst>
          </a:prstGeom>
          <a:solidFill>
            <a:srgbClr val="F4F6F6"/>
          </a:solidFill>
          <a:ln w="12700">
            <a:solidFill>
              <a:srgbClr val="F4F6F6"/>
            </a:solidFill>
            <a:prstDash val="solid"/>
          </a:ln>
        </p:spPr>
      </p:sp>
      <p:sp>
        <p:nvSpPr>
          <p:cNvPr id="5" name="Text 3"/>
          <p:cNvSpPr txBox="1"/>
          <p:nvPr/>
        </p:nvSpPr>
        <p:spPr>
          <a:xfrm>
            <a:off x="731520" y="1737360"/>
            <a:ext cx="914400" cy="731520"/>
          </a:xfrm>
          <a:prstGeom prst="rect">
            <a:avLst/>
          </a:prstGeom>
          <a:noFill/>
          <a:ln/>
        </p:spPr>
        <p:txBody>
          <a:bodyPr wrap="square" lIns="0" tIns="0" rIns="0" bIns="0" rtlCol="0" anchor="ctr"/>
          <a:lstStyle/>
          <a:p>
            <a:pPr indent="0" marL="0">
              <a:buNone/>
            </a:pPr>
            <a:r>
              <a:rPr lang="en-US" sz="4000" b="1" dirty="0">
                <a:solidFill>
                  <a:srgbClr val="0B6E6B"/>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1938528" y="1828800"/>
            <a:ext cx="548640" cy="274320"/>
          </a:xfrm>
          <a:prstGeom prst="rect">
            <a:avLst/>
          </a:prstGeom>
          <a:noFill/>
          <a:ln/>
        </p:spPr>
        <p:txBody>
          <a:bodyPr wrap="square" lIns="0" tIns="0" rIns="0" bIns="0" rtlCol="0" anchor="ctr"/>
          <a:lstStyle/>
          <a:p>
            <a:pPr algn="r" indent="0" marL="0">
              <a:buNone/>
            </a:pPr>
            <a:r>
              <a:rPr lang="en-US" sz="1100" b="1" dirty="0">
                <a:solidFill>
                  <a:srgbClr val="9FADB1"/>
                </a:solidFill>
                <a:latin typeface="Calibri" pitchFamily="34" charset="0"/>
                <a:ea typeface="Calibri" pitchFamily="34" charset="-122"/>
                <a:cs typeface="Calibri" pitchFamily="34" charset="-120"/>
              </a:rPr>
              <a:t>4 h</a:t>
            </a:r>
            <a:endParaRPr lang="en-US" sz="1100" dirty="0"/>
          </a:p>
        </p:txBody>
      </p:sp>
      <p:sp>
        <p:nvSpPr>
          <p:cNvPr id="7" name="Text 5"/>
          <p:cNvSpPr txBox="1"/>
          <p:nvPr/>
        </p:nvSpPr>
        <p:spPr>
          <a:xfrm>
            <a:off x="731520" y="2514600"/>
            <a:ext cx="1755648" cy="5486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GenAI for the PM</a:t>
            </a:r>
            <a:endParaRPr lang="en-US" sz="1500" dirty="0"/>
          </a:p>
        </p:txBody>
      </p:sp>
      <p:sp>
        <p:nvSpPr>
          <p:cNvPr id="8" name="Text 6"/>
          <p:cNvSpPr txBox="1"/>
          <p:nvPr/>
        </p:nvSpPr>
        <p:spPr>
          <a:xfrm>
            <a:off x="731520" y="3063240"/>
            <a:ext cx="1755648" cy="457200"/>
          </a:xfrm>
          <a:prstGeom prst="rect">
            <a:avLst/>
          </a:prstGeom>
          <a:noFill/>
          <a:ln/>
        </p:spPr>
        <p:txBody>
          <a:bodyPr wrap="square" lIns="0" tIns="0" rIns="0" bIns="0" rtlCol="0" anchor="t"/>
          <a:lstStyle/>
          <a:p>
            <a:pPr indent="0" marL="0">
              <a:buNone/>
            </a:pPr>
            <a:r>
              <a:rPr lang="en-US" sz="1050" i="1" dirty="0">
                <a:solidFill>
                  <a:srgbClr val="9FADB1"/>
                </a:solidFill>
                <a:latin typeface="Calibri" pitchFamily="34" charset="0"/>
                <a:ea typeface="Calibri" pitchFamily="34" charset="-122"/>
                <a:cs typeface="Calibri" pitchFamily="34" charset="-120"/>
              </a:rPr>
              <a:t>Foundations · forecasting · risk</a:t>
            </a:r>
            <a:endParaRPr lang="en-US" sz="1050" dirty="0"/>
          </a:p>
        </p:txBody>
      </p:sp>
      <p:sp>
        <p:nvSpPr>
          <p:cNvPr id="9" name="Text 7"/>
          <p:cNvSpPr txBox="1"/>
          <p:nvPr/>
        </p:nvSpPr>
        <p:spPr>
          <a:xfrm>
            <a:off x="731520" y="3566160"/>
            <a:ext cx="1801368" cy="17830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Intro to GenAI in PM</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Forecasting &amp; risk</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Lab: plan + forecast</a:t>
            </a:r>
            <a:endParaRPr lang="en-US" sz="1100" dirty="0"/>
          </a:p>
        </p:txBody>
      </p:sp>
      <p:sp>
        <p:nvSpPr>
          <p:cNvPr id="10" name="Shape 8"/>
          <p:cNvSpPr/>
          <p:nvPr/>
        </p:nvSpPr>
        <p:spPr>
          <a:xfrm>
            <a:off x="2816352" y="1645920"/>
            <a:ext cx="2121408" cy="3794760"/>
          </a:xfrm>
          <a:prstGeom prst="roundRect">
            <a:avLst>
              <a:gd name="adj" fmla="val 5172"/>
            </a:avLst>
          </a:prstGeom>
          <a:solidFill>
            <a:srgbClr val="F4F6F6"/>
          </a:solidFill>
          <a:ln w="12700">
            <a:solidFill>
              <a:srgbClr val="F4F6F6"/>
            </a:solidFill>
            <a:prstDash val="solid"/>
          </a:ln>
        </p:spPr>
      </p:sp>
      <p:sp>
        <p:nvSpPr>
          <p:cNvPr id="11" name="Text 9"/>
          <p:cNvSpPr txBox="1"/>
          <p:nvPr/>
        </p:nvSpPr>
        <p:spPr>
          <a:xfrm>
            <a:off x="2999232" y="1737360"/>
            <a:ext cx="914400" cy="731520"/>
          </a:xfrm>
          <a:prstGeom prst="rect">
            <a:avLst/>
          </a:prstGeom>
          <a:noFill/>
          <a:ln/>
        </p:spPr>
        <p:txBody>
          <a:bodyPr wrap="square" lIns="0" tIns="0" rIns="0" bIns="0" rtlCol="0" anchor="ctr"/>
          <a:lstStyle/>
          <a:p>
            <a:pPr indent="0" marL="0">
              <a:buNone/>
            </a:pPr>
            <a:r>
              <a:rPr lang="en-US" sz="4000" b="1" dirty="0">
                <a:solidFill>
                  <a:srgbClr val="0B6E6B"/>
                </a:solidFill>
                <a:latin typeface="Cambria" pitchFamily="34" charset="0"/>
                <a:ea typeface="Cambria" pitchFamily="34" charset="-122"/>
                <a:cs typeface="Cambria" pitchFamily="34" charset="-120"/>
              </a:rPr>
              <a:t>2</a:t>
            </a:r>
            <a:endParaRPr lang="en-US" sz="4000" dirty="0"/>
          </a:p>
        </p:txBody>
      </p:sp>
      <p:sp>
        <p:nvSpPr>
          <p:cNvPr id="12" name="Text 10"/>
          <p:cNvSpPr txBox="1"/>
          <p:nvPr/>
        </p:nvSpPr>
        <p:spPr>
          <a:xfrm>
            <a:off x="4206240" y="1828800"/>
            <a:ext cx="548640" cy="274320"/>
          </a:xfrm>
          <a:prstGeom prst="rect">
            <a:avLst/>
          </a:prstGeom>
          <a:noFill/>
          <a:ln/>
        </p:spPr>
        <p:txBody>
          <a:bodyPr wrap="square" lIns="0" tIns="0" rIns="0" bIns="0" rtlCol="0" anchor="ctr"/>
          <a:lstStyle/>
          <a:p>
            <a:pPr algn="r" indent="0" marL="0">
              <a:buNone/>
            </a:pPr>
            <a:r>
              <a:rPr lang="en-US" sz="1100" b="1" dirty="0">
                <a:solidFill>
                  <a:srgbClr val="9FADB1"/>
                </a:solidFill>
                <a:latin typeface="Calibri" pitchFamily="34" charset="0"/>
                <a:ea typeface="Calibri" pitchFamily="34" charset="-122"/>
                <a:cs typeface="Calibri" pitchFamily="34" charset="-120"/>
              </a:rPr>
              <a:t>4 h</a:t>
            </a:r>
            <a:endParaRPr lang="en-US" sz="1100" dirty="0"/>
          </a:p>
        </p:txBody>
      </p:sp>
      <p:sp>
        <p:nvSpPr>
          <p:cNvPr id="13" name="Text 11"/>
          <p:cNvSpPr txBox="1"/>
          <p:nvPr/>
        </p:nvSpPr>
        <p:spPr>
          <a:xfrm>
            <a:off x="2999232" y="2514600"/>
            <a:ext cx="1755648" cy="5486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Automation &amp; reporting</a:t>
            </a:r>
            <a:endParaRPr lang="en-US" sz="1500" dirty="0"/>
          </a:p>
        </p:txBody>
      </p:sp>
      <p:sp>
        <p:nvSpPr>
          <p:cNvPr id="14" name="Text 12"/>
          <p:cNvSpPr txBox="1"/>
          <p:nvPr/>
        </p:nvSpPr>
        <p:spPr>
          <a:xfrm>
            <a:off x="2999232" y="3063240"/>
            <a:ext cx="1755648" cy="457200"/>
          </a:xfrm>
          <a:prstGeom prst="rect">
            <a:avLst/>
          </a:prstGeom>
          <a:noFill/>
          <a:ln/>
        </p:spPr>
        <p:txBody>
          <a:bodyPr wrap="square" lIns="0" tIns="0" rIns="0" bIns="0" rtlCol="0" anchor="t"/>
          <a:lstStyle/>
          <a:p>
            <a:pPr indent="0" marL="0">
              <a:buNone/>
            </a:pPr>
            <a:r>
              <a:rPr lang="en-US" sz="1050" i="1" dirty="0">
                <a:solidFill>
                  <a:srgbClr val="9FADB1"/>
                </a:solidFill>
                <a:latin typeface="Calibri" pitchFamily="34" charset="0"/>
                <a:ea typeface="Calibri" pitchFamily="34" charset="-122"/>
                <a:cs typeface="Calibri" pitchFamily="34" charset="-120"/>
              </a:rPr>
              <a:t>Workflows · status · comms</a:t>
            </a:r>
            <a:endParaRPr lang="en-US" sz="1050" dirty="0"/>
          </a:p>
        </p:txBody>
      </p:sp>
      <p:sp>
        <p:nvSpPr>
          <p:cNvPr id="15" name="Text 13"/>
          <p:cNvSpPr txBox="1"/>
          <p:nvPr/>
        </p:nvSpPr>
        <p:spPr>
          <a:xfrm>
            <a:off x="2999232" y="3566160"/>
            <a:ext cx="1801368" cy="17830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AI automation</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AI reporting</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Lab: automated status</a:t>
            </a:r>
            <a:endParaRPr lang="en-US" sz="1100" dirty="0"/>
          </a:p>
        </p:txBody>
      </p:sp>
      <p:sp>
        <p:nvSpPr>
          <p:cNvPr id="16" name="Shape 14"/>
          <p:cNvSpPr/>
          <p:nvPr/>
        </p:nvSpPr>
        <p:spPr>
          <a:xfrm>
            <a:off x="5084064" y="1645920"/>
            <a:ext cx="2121408" cy="3794760"/>
          </a:xfrm>
          <a:prstGeom prst="roundRect">
            <a:avLst>
              <a:gd name="adj" fmla="val 5172"/>
            </a:avLst>
          </a:prstGeom>
          <a:solidFill>
            <a:srgbClr val="F4F6F6"/>
          </a:solidFill>
          <a:ln w="12700">
            <a:solidFill>
              <a:srgbClr val="F4F6F6"/>
            </a:solidFill>
            <a:prstDash val="solid"/>
          </a:ln>
        </p:spPr>
      </p:sp>
      <p:sp>
        <p:nvSpPr>
          <p:cNvPr id="17" name="Text 15"/>
          <p:cNvSpPr txBox="1"/>
          <p:nvPr/>
        </p:nvSpPr>
        <p:spPr>
          <a:xfrm>
            <a:off x="5266944" y="1737360"/>
            <a:ext cx="914400" cy="731520"/>
          </a:xfrm>
          <a:prstGeom prst="rect">
            <a:avLst/>
          </a:prstGeom>
          <a:noFill/>
          <a:ln/>
        </p:spPr>
        <p:txBody>
          <a:bodyPr wrap="square" lIns="0" tIns="0" rIns="0" bIns="0" rtlCol="0" anchor="ctr"/>
          <a:lstStyle/>
          <a:p>
            <a:pPr indent="0" marL="0">
              <a:buNone/>
            </a:pPr>
            <a:r>
              <a:rPr lang="en-US" sz="4000" b="1" dirty="0">
                <a:solidFill>
                  <a:srgbClr val="0B6E6B"/>
                </a:solidFill>
                <a:latin typeface="Cambria" pitchFamily="34" charset="0"/>
                <a:ea typeface="Cambria" pitchFamily="34" charset="-122"/>
                <a:cs typeface="Cambria" pitchFamily="34" charset="-120"/>
              </a:rPr>
              <a:t>3</a:t>
            </a:r>
            <a:endParaRPr lang="en-US" sz="4000" dirty="0"/>
          </a:p>
        </p:txBody>
      </p:sp>
      <p:sp>
        <p:nvSpPr>
          <p:cNvPr id="18" name="Text 16"/>
          <p:cNvSpPr txBox="1"/>
          <p:nvPr/>
        </p:nvSpPr>
        <p:spPr>
          <a:xfrm>
            <a:off x="6473952" y="1828800"/>
            <a:ext cx="548640" cy="274320"/>
          </a:xfrm>
          <a:prstGeom prst="rect">
            <a:avLst/>
          </a:prstGeom>
          <a:noFill/>
          <a:ln/>
        </p:spPr>
        <p:txBody>
          <a:bodyPr wrap="square" lIns="0" tIns="0" rIns="0" bIns="0" rtlCol="0" anchor="ctr"/>
          <a:lstStyle/>
          <a:p>
            <a:pPr algn="r" indent="0" marL="0">
              <a:buNone/>
            </a:pPr>
            <a:r>
              <a:rPr lang="en-US" sz="1100" b="1" dirty="0">
                <a:solidFill>
                  <a:srgbClr val="9FADB1"/>
                </a:solidFill>
                <a:latin typeface="Calibri" pitchFamily="34" charset="0"/>
                <a:ea typeface="Calibri" pitchFamily="34" charset="-122"/>
                <a:cs typeface="Calibri" pitchFamily="34" charset="-120"/>
              </a:rPr>
              <a:t>4 h</a:t>
            </a:r>
            <a:endParaRPr lang="en-US" sz="1100" dirty="0"/>
          </a:p>
        </p:txBody>
      </p:sp>
      <p:sp>
        <p:nvSpPr>
          <p:cNvPr id="19" name="Text 17"/>
          <p:cNvSpPr txBox="1"/>
          <p:nvPr/>
        </p:nvSpPr>
        <p:spPr>
          <a:xfrm>
            <a:off x="5266944" y="2514600"/>
            <a:ext cx="1755648" cy="5486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Tools &amp; integration</a:t>
            </a:r>
            <a:endParaRPr lang="en-US" sz="1500" dirty="0"/>
          </a:p>
        </p:txBody>
      </p:sp>
      <p:sp>
        <p:nvSpPr>
          <p:cNvPr id="20" name="Text 18"/>
          <p:cNvSpPr txBox="1"/>
          <p:nvPr/>
        </p:nvSpPr>
        <p:spPr>
          <a:xfrm>
            <a:off x="5266944" y="3063240"/>
            <a:ext cx="1755648" cy="457200"/>
          </a:xfrm>
          <a:prstGeom prst="rect">
            <a:avLst/>
          </a:prstGeom>
          <a:noFill/>
          <a:ln/>
        </p:spPr>
        <p:txBody>
          <a:bodyPr wrap="square" lIns="0" tIns="0" rIns="0" bIns="0" rtlCol="0" anchor="t"/>
          <a:lstStyle/>
          <a:p>
            <a:pPr indent="0" marL="0">
              <a:buNone/>
            </a:pPr>
            <a:r>
              <a:rPr lang="en-US" sz="1050" i="1" dirty="0">
                <a:solidFill>
                  <a:srgbClr val="9FADB1"/>
                </a:solidFill>
                <a:latin typeface="Calibri" pitchFamily="34" charset="0"/>
                <a:ea typeface="Calibri" pitchFamily="34" charset="-122"/>
                <a:cs typeface="Calibri" pitchFamily="34" charset="-120"/>
              </a:rPr>
              <a:t>Landscape · integration · monitoring</a:t>
            </a:r>
            <a:endParaRPr lang="en-US" sz="1050" dirty="0"/>
          </a:p>
        </p:txBody>
      </p:sp>
      <p:sp>
        <p:nvSpPr>
          <p:cNvPr id="21" name="Text 19"/>
          <p:cNvSpPr txBox="1"/>
          <p:nvPr/>
        </p:nvSpPr>
        <p:spPr>
          <a:xfrm>
            <a:off x="5266944" y="3566160"/>
            <a:ext cx="1801368" cy="17830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Modern PM tools</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Collaboration tools</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Monitoring</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Lab: tool integration</a:t>
            </a:r>
            <a:endParaRPr lang="en-US" sz="1100" dirty="0"/>
          </a:p>
        </p:txBody>
      </p:sp>
      <p:sp>
        <p:nvSpPr>
          <p:cNvPr id="22" name="Shape 20"/>
          <p:cNvSpPr/>
          <p:nvPr/>
        </p:nvSpPr>
        <p:spPr>
          <a:xfrm>
            <a:off x="7351776" y="1645920"/>
            <a:ext cx="2121408" cy="3794760"/>
          </a:xfrm>
          <a:prstGeom prst="roundRect">
            <a:avLst>
              <a:gd name="adj" fmla="val 5172"/>
            </a:avLst>
          </a:prstGeom>
          <a:solidFill>
            <a:srgbClr val="0F1A1C"/>
          </a:solidFill>
          <a:ln w="12700">
            <a:solidFill>
              <a:srgbClr val="0F1A1C"/>
            </a:solidFill>
            <a:prstDash val="solid"/>
          </a:ln>
        </p:spPr>
      </p:sp>
      <p:sp>
        <p:nvSpPr>
          <p:cNvPr id="23" name="Text 21"/>
          <p:cNvSpPr txBox="1"/>
          <p:nvPr/>
        </p:nvSpPr>
        <p:spPr>
          <a:xfrm>
            <a:off x="7534656" y="1737360"/>
            <a:ext cx="914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24" name="Text 22"/>
          <p:cNvSpPr txBox="1"/>
          <p:nvPr/>
        </p:nvSpPr>
        <p:spPr>
          <a:xfrm>
            <a:off x="8741664" y="1828800"/>
            <a:ext cx="548640" cy="274320"/>
          </a:xfrm>
          <a:prstGeom prst="rect">
            <a:avLst/>
          </a:prstGeom>
          <a:noFill/>
          <a:ln/>
        </p:spPr>
        <p:txBody>
          <a:bodyPr wrap="square" lIns="0" tIns="0" rIns="0" bIns="0" rtlCol="0" anchor="ctr"/>
          <a:lstStyle/>
          <a:p>
            <a:pPr algn="r" indent="0" marL="0">
              <a:buNone/>
            </a:pPr>
            <a:r>
              <a:rPr lang="en-US" sz="1100" b="1" dirty="0">
                <a:solidFill>
                  <a:srgbClr val="9FADB1"/>
                </a:solidFill>
                <a:latin typeface="Calibri" pitchFamily="34" charset="0"/>
                <a:ea typeface="Calibri" pitchFamily="34" charset="-122"/>
                <a:cs typeface="Calibri" pitchFamily="34" charset="-120"/>
              </a:rPr>
              <a:t>4 h</a:t>
            </a:r>
            <a:endParaRPr lang="en-US" sz="1100" dirty="0"/>
          </a:p>
        </p:txBody>
      </p:sp>
      <p:sp>
        <p:nvSpPr>
          <p:cNvPr id="25" name="Text 23"/>
          <p:cNvSpPr txBox="1"/>
          <p:nvPr/>
        </p:nvSpPr>
        <p:spPr>
          <a:xfrm>
            <a:off x="7534656" y="2514600"/>
            <a:ext cx="1755648"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AI-driven delivery</a:t>
            </a:r>
            <a:endParaRPr lang="en-US" sz="1500" dirty="0"/>
          </a:p>
        </p:txBody>
      </p:sp>
      <p:sp>
        <p:nvSpPr>
          <p:cNvPr id="26" name="Text 24"/>
          <p:cNvSpPr txBox="1"/>
          <p:nvPr/>
        </p:nvSpPr>
        <p:spPr>
          <a:xfrm>
            <a:off x="7534656" y="3063240"/>
            <a:ext cx="1755648" cy="457200"/>
          </a:xfrm>
          <a:prstGeom prst="rect">
            <a:avLst/>
          </a:prstGeom>
          <a:noFill/>
          <a:ln/>
        </p:spPr>
        <p:txBody>
          <a:bodyPr wrap="square" lIns="0" tIns="0" rIns="0" bIns="0" rtlCol="0" anchor="t"/>
          <a:lstStyle/>
          <a:p>
            <a:pPr indent="0" marL="0">
              <a:buNone/>
            </a:pPr>
            <a:r>
              <a:rPr lang="en-US" sz="1050" i="1" dirty="0">
                <a:solidFill>
                  <a:srgbClr val="DFEDEC"/>
                </a:solidFill>
                <a:latin typeface="Calibri" pitchFamily="34" charset="0"/>
                <a:ea typeface="Calibri" pitchFamily="34" charset="-122"/>
                <a:cs typeface="Calibri" pitchFamily="34" charset="-120"/>
              </a:rPr>
              <a:t>The Software Factory operating model</a:t>
            </a:r>
            <a:endParaRPr lang="en-US" sz="1050" dirty="0"/>
          </a:p>
        </p:txBody>
      </p:sp>
      <p:sp>
        <p:nvSpPr>
          <p:cNvPr id="27" name="Text 25"/>
          <p:cNvSpPr txBox="1"/>
          <p:nvPr/>
        </p:nvSpPr>
        <p:spPr>
          <a:xfrm>
            <a:off x="7534656" y="3566160"/>
            <a:ext cx="1801368" cy="17830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DFEDEC"/>
                </a:solidFill>
                <a:latin typeface="Calibri" pitchFamily="34" charset="0"/>
                <a:ea typeface="Calibri" pitchFamily="34" charset="-122"/>
                <a:cs typeface="Calibri" pitchFamily="34" charset="-120"/>
              </a:rPr>
              <a:t>Future of PM</a:t>
            </a:r>
            <a:endParaRPr lang="en-US" sz="1100" dirty="0"/>
          </a:p>
          <a:p>
            <a:pPr marL="127000" indent="-127000">
              <a:spcAft>
                <a:spcPts val="400"/>
              </a:spcAft>
              <a:buSzPct val="100000"/>
              <a:buChar char="•"/>
            </a:pPr>
            <a:r>
              <a:rPr lang="en-US" sz="1100" dirty="0">
                <a:solidFill>
                  <a:srgbClr val="DFEDEC"/>
                </a:solidFill>
                <a:latin typeface="Calibri" pitchFamily="34" charset="0"/>
                <a:ea typeface="Calibri" pitchFamily="34" charset="-122"/>
                <a:cs typeface="Calibri" pitchFamily="34" charset="-120"/>
              </a:rPr>
              <a:t>Delivery best practices</a:t>
            </a:r>
            <a:endParaRPr lang="en-US" sz="1100" dirty="0"/>
          </a:p>
          <a:p>
            <a:pPr marL="127000" indent="-127000">
              <a:spcAft>
                <a:spcPts val="400"/>
              </a:spcAft>
              <a:buSzPct val="100000"/>
              <a:buChar char="•"/>
            </a:pPr>
            <a:r>
              <a:rPr lang="en-US" sz="1100" dirty="0">
                <a:solidFill>
                  <a:srgbClr val="DFEDEC"/>
                </a:solidFill>
                <a:latin typeface="Calibri" pitchFamily="34" charset="0"/>
                <a:ea typeface="Calibri" pitchFamily="34" charset="-122"/>
                <a:cs typeface="Calibri" pitchFamily="34" charset="-120"/>
              </a:rPr>
              <a:t>Managing Gen AI projects</a:t>
            </a:r>
            <a:endParaRPr lang="en-US" sz="1100" dirty="0"/>
          </a:p>
          <a:p>
            <a:pPr marL="127000" indent="-127000">
              <a:spcAft>
                <a:spcPts val="400"/>
              </a:spcAft>
              <a:buSzPct val="100000"/>
              <a:buChar char="•"/>
            </a:pPr>
            <a:r>
              <a:rPr lang="en-US" sz="1100" dirty="0">
                <a:solidFill>
                  <a:srgbClr val="DFEDEC"/>
                </a:solidFill>
                <a:latin typeface="Calibri" pitchFamily="34" charset="0"/>
                <a:ea typeface="Calibri" pitchFamily="34" charset="-122"/>
                <a:cs typeface="Calibri" pitchFamily="34" charset="-120"/>
              </a:rPr>
              <a:t>Lab: run an epic</a:t>
            </a:r>
            <a:endParaRPr lang="en-US" sz="1100" dirty="0"/>
          </a:p>
        </p:txBody>
      </p:sp>
      <p:sp>
        <p:nvSpPr>
          <p:cNvPr id="28" name="Shape 26"/>
          <p:cNvSpPr/>
          <p:nvPr/>
        </p:nvSpPr>
        <p:spPr>
          <a:xfrm>
            <a:off x="9619488" y="1645920"/>
            <a:ext cx="2121408" cy="3794760"/>
          </a:xfrm>
          <a:prstGeom prst="roundRect">
            <a:avLst>
              <a:gd name="adj" fmla="val 5172"/>
            </a:avLst>
          </a:prstGeom>
          <a:solidFill>
            <a:srgbClr val="F4F6F6"/>
          </a:solidFill>
          <a:ln w="12700">
            <a:solidFill>
              <a:srgbClr val="F4F6F6"/>
            </a:solidFill>
            <a:prstDash val="solid"/>
          </a:ln>
        </p:spPr>
      </p:sp>
      <p:sp>
        <p:nvSpPr>
          <p:cNvPr id="29" name="Text 27"/>
          <p:cNvSpPr txBox="1"/>
          <p:nvPr/>
        </p:nvSpPr>
        <p:spPr>
          <a:xfrm>
            <a:off x="9802368" y="1737360"/>
            <a:ext cx="914400" cy="731520"/>
          </a:xfrm>
          <a:prstGeom prst="rect">
            <a:avLst/>
          </a:prstGeom>
          <a:noFill/>
          <a:ln/>
        </p:spPr>
        <p:txBody>
          <a:bodyPr wrap="square" lIns="0" tIns="0" rIns="0" bIns="0" rtlCol="0" anchor="ctr"/>
          <a:lstStyle/>
          <a:p>
            <a:pPr indent="0" marL="0">
              <a:buNone/>
            </a:pPr>
            <a:r>
              <a:rPr lang="en-US" sz="4000" b="1" dirty="0">
                <a:solidFill>
                  <a:srgbClr val="0B6E6B"/>
                </a:solidFill>
                <a:latin typeface="Cambria" pitchFamily="34" charset="0"/>
                <a:ea typeface="Cambria" pitchFamily="34" charset="-122"/>
                <a:cs typeface="Cambria" pitchFamily="34" charset="-120"/>
              </a:rPr>
              <a:t>5</a:t>
            </a:r>
            <a:endParaRPr lang="en-US" sz="4000" dirty="0"/>
          </a:p>
        </p:txBody>
      </p:sp>
      <p:sp>
        <p:nvSpPr>
          <p:cNvPr id="30" name="Text 28"/>
          <p:cNvSpPr txBox="1"/>
          <p:nvPr/>
        </p:nvSpPr>
        <p:spPr>
          <a:xfrm>
            <a:off x="11009376" y="1828800"/>
            <a:ext cx="548640" cy="274320"/>
          </a:xfrm>
          <a:prstGeom prst="rect">
            <a:avLst/>
          </a:prstGeom>
          <a:noFill/>
          <a:ln/>
        </p:spPr>
        <p:txBody>
          <a:bodyPr wrap="square" lIns="0" tIns="0" rIns="0" bIns="0" rtlCol="0" anchor="ctr"/>
          <a:lstStyle/>
          <a:p>
            <a:pPr algn="r" indent="0" marL="0">
              <a:buNone/>
            </a:pPr>
            <a:r>
              <a:rPr lang="en-US" sz="1100" b="1" dirty="0">
                <a:solidFill>
                  <a:srgbClr val="9FADB1"/>
                </a:solidFill>
                <a:latin typeface="Calibri" pitchFamily="34" charset="0"/>
                <a:ea typeface="Calibri" pitchFamily="34" charset="-122"/>
                <a:cs typeface="Calibri" pitchFamily="34" charset="-120"/>
              </a:rPr>
              <a:t>4 h</a:t>
            </a:r>
            <a:endParaRPr lang="en-US" sz="1100" dirty="0"/>
          </a:p>
        </p:txBody>
      </p:sp>
      <p:sp>
        <p:nvSpPr>
          <p:cNvPr id="31" name="Text 29"/>
          <p:cNvSpPr txBox="1"/>
          <p:nvPr/>
        </p:nvSpPr>
        <p:spPr>
          <a:xfrm>
            <a:off x="9802368" y="2514600"/>
            <a:ext cx="1755648" cy="5486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Capstone &amp; certification</a:t>
            </a:r>
            <a:endParaRPr lang="en-US" sz="1500" dirty="0"/>
          </a:p>
        </p:txBody>
      </p:sp>
      <p:sp>
        <p:nvSpPr>
          <p:cNvPr id="32" name="Text 30"/>
          <p:cNvSpPr txBox="1"/>
          <p:nvPr/>
        </p:nvSpPr>
        <p:spPr>
          <a:xfrm>
            <a:off x="9802368" y="3063240"/>
            <a:ext cx="1755648" cy="457200"/>
          </a:xfrm>
          <a:prstGeom prst="rect">
            <a:avLst/>
          </a:prstGeom>
          <a:noFill/>
          <a:ln/>
        </p:spPr>
        <p:txBody>
          <a:bodyPr wrap="square" lIns="0" tIns="0" rIns="0" bIns="0" rtlCol="0" anchor="t"/>
          <a:lstStyle/>
          <a:p>
            <a:pPr indent="0" marL="0">
              <a:buNone/>
            </a:pPr>
            <a:r>
              <a:rPr lang="en-US" sz="1050" i="1" dirty="0">
                <a:solidFill>
                  <a:srgbClr val="9FADB1"/>
                </a:solidFill>
                <a:latin typeface="Calibri" pitchFamily="34" charset="0"/>
                <a:ea typeface="Calibri" pitchFamily="34" charset="-122"/>
                <a:cs typeface="Calibri" pitchFamily="34" charset="-120"/>
              </a:rPr>
              <a:t>Case study · capstone · 30-60-90</a:t>
            </a:r>
            <a:endParaRPr lang="en-US" sz="1050" dirty="0"/>
          </a:p>
        </p:txBody>
      </p:sp>
      <p:sp>
        <p:nvSpPr>
          <p:cNvPr id="33" name="Text 31"/>
          <p:cNvSpPr txBox="1"/>
          <p:nvPr/>
        </p:nvSpPr>
        <p:spPr>
          <a:xfrm>
            <a:off x="9802368" y="3566160"/>
            <a:ext cx="1801368" cy="17830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Case study</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Capstone (teams)</a:t>
            </a:r>
            <a:endParaRPr lang="en-US" sz="1100" dirty="0"/>
          </a:p>
          <a:p>
            <a:pPr marL="127000" indent="-1270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Conclusion &amp; certificate</a:t>
            </a:r>
            <a:endParaRPr lang="en-US" sz="1100" dirty="0"/>
          </a:p>
        </p:txBody>
      </p:sp>
      <p:sp>
        <p:nvSpPr>
          <p:cNvPr id="34" name="Text 32"/>
          <p:cNvSpPr txBox="1"/>
          <p:nvPr/>
        </p:nvSpPr>
        <p:spPr>
          <a:xfrm>
            <a:off x="548640" y="5623560"/>
            <a:ext cx="11064240" cy="64008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Every day: </a:t>
            </a:r>
            <a:pPr indent="0" marL="0">
              <a:buNone/>
            </a:pPr>
            <a:r>
              <a:rPr lang="en-US" sz="1250" dirty="0">
                <a:solidFill>
                  <a:srgbClr val="3A464B"/>
                </a:solidFill>
                <a:latin typeface="Calibri" pitchFamily="34" charset="0"/>
                <a:ea typeface="Calibri" pitchFamily="34" charset="-122"/>
                <a:cs typeface="Calibri" pitchFamily="34" charset="-120"/>
              </a:rPr>
              <a:t>three 50-minute teaching-and-demo blocks, one 60–90-minute lab, a closing round. </a:t>
            </a:r>
            <a:pPr indent="0" marL="0">
              <a:buNone/>
            </a:pPr>
            <a:r>
              <a:rPr lang="en-US" sz="1250" b="1" dirty="0">
                <a:solidFill>
                  <a:srgbClr val="0F1A1C"/>
                </a:solidFill>
                <a:latin typeface="Calibri" pitchFamily="34" charset="0"/>
                <a:ea typeface="Calibri" pitchFamily="34" charset="-122"/>
                <a:cs typeface="Calibri" pitchFamily="34" charset="-120"/>
              </a:rPr>
              <a:t>Every module </a:t>
            </a:r>
            <a:pPr indent="0" marL="0">
              <a:buNone/>
            </a:pPr>
            <a:r>
              <a:rPr lang="en-US" sz="1250" dirty="0">
                <a:solidFill>
                  <a:srgbClr val="3A464B"/>
                </a:solidFill>
                <a:latin typeface="Calibri" pitchFamily="34" charset="0"/>
                <a:ea typeface="Calibri" pitchFamily="34" charset="-122"/>
                <a:cs typeface="Calibri" pitchFamily="34" charset="-120"/>
              </a:rPr>
              <a:t>ties back to the Software Factory so the concepts are seen running, not just described.</a:t>
            </a:r>
            <a:endParaRPr lang="en-US" sz="1250" dirty="0"/>
          </a:p>
        </p:txBody>
      </p:sp>
      <p:sp>
        <p:nvSpPr>
          <p:cNvPr id="35" name="Text 3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6" name="Text 34"/>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AUDIENCE AND FORMAT</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Built for senior delivery practitioners</a:t>
            </a:r>
            <a:endParaRPr lang="en-US" sz="3000" dirty="0"/>
          </a:p>
        </p:txBody>
      </p:sp>
      <p:sp>
        <p:nvSpPr>
          <p:cNvPr id="4" name="Text 2"/>
          <p:cNvSpPr txBox="1"/>
          <p:nvPr/>
        </p:nvSpPr>
        <p:spPr>
          <a:xfrm>
            <a:off x="548640" y="1554480"/>
            <a:ext cx="2377440" cy="822960"/>
          </a:xfrm>
          <a:prstGeom prst="rect">
            <a:avLst/>
          </a:prstGeom>
          <a:noFill/>
          <a:ln/>
        </p:spPr>
        <p:txBody>
          <a:bodyPr wrap="square" lIns="0" tIns="0" rIns="0" bIns="0" rtlCol="0" anchor="b"/>
          <a:lstStyle/>
          <a:p>
            <a:pPr algn="l" indent="0" marL="0">
              <a:buNone/>
            </a:pPr>
            <a:r>
              <a:rPr lang="en-US" sz="4400" b="1" dirty="0">
                <a:solidFill>
                  <a:srgbClr val="0B6E6B"/>
                </a:solidFill>
                <a:latin typeface="Cambria" pitchFamily="34" charset="0"/>
                <a:ea typeface="Cambria" pitchFamily="34" charset="-122"/>
                <a:cs typeface="Cambria" pitchFamily="34" charset="-120"/>
              </a:rPr>
              <a:t>20 h</a:t>
            </a:r>
            <a:endParaRPr lang="en-US" sz="4400" dirty="0"/>
          </a:p>
        </p:txBody>
      </p:sp>
      <p:sp>
        <p:nvSpPr>
          <p:cNvPr id="5" name="Text 3"/>
          <p:cNvSpPr txBox="1"/>
          <p:nvPr/>
        </p:nvSpPr>
        <p:spPr>
          <a:xfrm>
            <a:off x="548640" y="2395728"/>
            <a:ext cx="2377440" cy="457200"/>
          </a:xfrm>
          <a:prstGeom prst="rect">
            <a:avLst/>
          </a:prstGeom>
          <a:noFill/>
          <a:ln/>
        </p:spPr>
        <p:txBody>
          <a:bodyPr wrap="square" lIns="0" tIns="0" rIns="0" bIns="0" rtlCol="0" anchor="t"/>
          <a:lstStyle/>
          <a:p>
            <a:pPr algn="l" indent="0" marL="0">
              <a:buNone/>
            </a:pPr>
            <a:r>
              <a:rPr lang="en-US" sz="1150" dirty="0">
                <a:solidFill>
                  <a:srgbClr val="3A464B"/>
                </a:solidFill>
                <a:latin typeface="Calibri" pitchFamily="34" charset="0"/>
                <a:ea typeface="Calibri" pitchFamily="34" charset="-122"/>
                <a:cs typeface="Calibri" pitchFamily="34" charset="-120"/>
              </a:rPr>
              <a:t>five half-days of 4–4.5 hours, online, recorded</a:t>
            </a:r>
            <a:endParaRPr lang="en-US" sz="1150" dirty="0"/>
          </a:p>
        </p:txBody>
      </p:sp>
      <p:sp>
        <p:nvSpPr>
          <p:cNvPr id="6" name="Text 4"/>
          <p:cNvSpPr txBox="1"/>
          <p:nvPr/>
        </p:nvSpPr>
        <p:spPr>
          <a:xfrm>
            <a:off x="3108960" y="1554480"/>
            <a:ext cx="2377440" cy="822960"/>
          </a:xfrm>
          <a:prstGeom prst="rect">
            <a:avLst/>
          </a:prstGeom>
          <a:noFill/>
          <a:ln/>
        </p:spPr>
        <p:txBody>
          <a:bodyPr wrap="square" lIns="0" tIns="0" rIns="0" bIns="0" rtlCol="0" anchor="b"/>
          <a:lstStyle/>
          <a:p>
            <a:pPr algn="l" indent="0" marL="0">
              <a:buNone/>
            </a:pPr>
            <a:r>
              <a:rPr lang="en-US" sz="4400" b="1" dirty="0">
                <a:solidFill>
                  <a:srgbClr val="0B6E6B"/>
                </a:solidFill>
                <a:latin typeface="Cambria" pitchFamily="34" charset="0"/>
                <a:ea typeface="Cambria" pitchFamily="34" charset="-122"/>
                <a:cs typeface="Cambria" pitchFamily="34" charset="-120"/>
              </a:rPr>
              <a:t>8</a:t>
            </a:r>
            <a:endParaRPr lang="en-US" sz="4400" dirty="0"/>
          </a:p>
        </p:txBody>
      </p:sp>
      <p:sp>
        <p:nvSpPr>
          <p:cNvPr id="7" name="Text 5"/>
          <p:cNvSpPr txBox="1"/>
          <p:nvPr/>
        </p:nvSpPr>
        <p:spPr>
          <a:xfrm>
            <a:off x="3108960" y="2395728"/>
            <a:ext cx="2377440" cy="457200"/>
          </a:xfrm>
          <a:prstGeom prst="rect">
            <a:avLst/>
          </a:prstGeom>
          <a:noFill/>
          <a:ln/>
        </p:spPr>
        <p:txBody>
          <a:bodyPr wrap="square" lIns="0" tIns="0" rIns="0" bIns="0" rtlCol="0" anchor="t"/>
          <a:lstStyle/>
          <a:p>
            <a:pPr algn="l" indent="0" marL="0">
              <a:buNone/>
            </a:pPr>
            <a:r>
              <a:rPr lang="en-US" sz="1150" dirty="0">
                <a:solidFill>
                  <a:srgbClr val="3A464B"/>
                </a:solidFill>
                <a:latin typeface="Calibri" pitchFamily="34" charset="0"/>
                <a:ea typeface="Calibri" pitchFamily="34" charset="-122"/>
                <a:cs typeface="Calibri" pitchFamily="34" charset="-120"/>
              </a:rPr>
              <a:t>hands-on labs, one every half-day or more</a:t>
            </a:r>
            <a:endParaRPr lang="en-US" sz="1150" dirty="0"/>
          </a:p>
        </p:txBody>
      </p:sp>
      <p:sp>
        <p:nvSpPr>
          <p:cNvPr id="8" name="Text 6"/>
          <p:cNvSpPr txBox="1"/>
          <p:nvPr/>
        </p:nvSpPr>
        <p:spPr>
          <a:xfrm>
            <a:off x="5669280" y="1554480"/>
            <a:ext cx="2377440" cy="822960"/>
          </a:xfrm>
          <a:prstGeom prst="rect">
            <a:avLst/>
          </a:prstGeom>
          <a:noFill/>
          <a:ln/>
        </p:spPr>
        <p:txBody>
          <a:bodyPr wrap="square" lIns="0" tIns="0" rIns="0" bIns="0" rtlCol="0" anchor="b"/>
          <a:lstStyle/>
          <a:p>
            <a:pPr algn="l" indent="0" marL="0">
              <a:buNone/>
            </a:pPr>
            <a:r>
              <a:rPr lang="en-US" sz="4400" b="1" dirty="0">
                <a:solidFill>
                  <a:srgbClr val="0B6E6B"/>
                </a:solidFill>
                <a:latin typeface="Cambria" pitchFamily="34" charset="0"/>
                <a:ea typeface="Cambria" pitchFamily="34" charset="-122"/>
                <a:cs typeface="Cambria" pitchFamily="34" charset="-120"/>
              </a:rPr>
              <a:t>1</a:t>
            </a:r>
            <a:endParaRPr lang="en-US" sz="4400" dirty="0"/>
          </a:p>
        </p:txBody>
      </p:sp>
      <p:sp>
        <p:nvSpPr>
          <p:cNvPr id="9" name="Text 7"/>
          <p:cNvSpPr txBox="1"/>
          <p:nvPr/>
        </p:nvSpPr>
        <p:spPr>
          <a:xfrm>
            <a:off x="5669280" y="2395728"/>
            <a:ext cx="2377440" cy="457200"/>
          </a:xfrm>
          <a:prstGeom prst="rect">
            <a:avLst/>
          </a:prstGeom>
          <a:noFill/>
          <a:ln/>
        </p:spPr>
        <p:txBody>
          <a:bodyPr wrap="square" lIns="0" tIns="0" rIns="0" bIns="0" rtlCol="0" anchor="t"/>
          <a:lstStyle/>
          <a:p>
            <a:pPr algn="l" indent="0" marL="0">
              <a:buNone/>
            </a:pPr>
            <a:r>
              <a:rPr lang="en-US" sz="1150" dirty="0">
                <a:solidFill>
                  <a:srgbClr val="3A464B"/>
                </a:solidFill>
                <a:latin typeface="Calibri" pitchFamily="34" charset="0"/>
                <a:ea typeface="Calibri" pitchFamily="34" charset="-122"/>
                <a:cs typeface="Calibri" pitchFamily="34" charset="-120"/>
              </a:rPr>
              <a:t>capstone: a full AI-enabled delivery plan, presented</a:t>
            </a:r>
            <a:endParaRPr lang="en-US" sz="1150" dirty="0"/>
          </a:p>
        </p:txBody>
      </p:sp>
      <p:sp>
        <p:nvSpPr>
          <p:cNvPr id="10" name="Text 8"/>
          <p:cNvSpPr txBox="1"/>
          <p:nvPr/>
        </p:nvSpPr>
        <p:spPr>
          <a:xfrm>
            <a:off x="8229600" y="1554480"/>
            <a:ext cx="3291840" cy="822960"/>
          </a:xfrm>
          <a:prstGeom prst="rect">
            <a:avLst/>
          </a:prstGeom>
          <a:noFill/>
          <a:ln/>
        </p:spPr>
        <p:txBody>
          <a:bodyPr wrap="square" lIns="0" tIns="0" rIns="0" bIns="0" rtlCol="0" anchor="b"/>
          <a:lstStyle/>
          <a:p>
            <a:pPr algn="l" indent="0" marL="0">
              <a:buNone/>
            </a:pPr>
            <a:r>
              <a:rPr lang="en-US" sz="4400" b="1" dirty="0">
                <a:solidFill>
                  <a:srgbClr val="0B6E6B"/>
                </a:solidFill>
                <a:latin typeface="Cambria" pitchFamily="34" charset="0"/>
                <a:ea typeface="Cambria" pitchFamily="34" charset="-122"/>
                <a:cs typeface="Cambria" pitchFamily="34" charset="-120"/>
              </a:rPr>
              <a:t>12–20</a:t>
            </a:r>
            <a:endParaRPr lang="en-US" sz="4400" dirty="0"/>
          </a:p>
        </p:txBody>
      </p:sp>
      <p:sp>
        <p:nvSpPr>
          <p:cNvPr id="11" name="Text 9"/>
          <p:cNvSpPr txBox="1"/>
          <p:nvPr/>
        </p:nvSpPr>
        <p:spPr>
          <a:xfrm>
            <a:off x="8229600" y="2395728"/>
            <a:ext cx="3291840" cy="457200"/>
          </a:xfrm>
          <a:prstGeom prst="rect">
            <a:avLst/>
          </a:prstGeom>
          <a:noFill/>
          <a:ln/>
        </p:spPr>
        <p:txBody>
          <a:bodyPr wrap="square" lIns="0" tIns="0" rIns="0" bIns="0" rtlCol="0" anchor="t"/>
          <a:lstStyle/>
          <a:p>
            <a:pPr algn="l" indent="0" marL="0">
              <a:buNone/>
            </a:pPr>
            <a:r>
              <a:rPr lang="en-US" sz="1150" dirty="0">
                <a:solidFill>
                  <a:srgbClr val="3A464B"/>
                </a:solidFill>
                <a:latin typeface="Calibri" pitchFamily="34" charset="0"/>
                <a:ea typeface="Calibri" pitchFamily="34" charset="-122"/>
                <a:cs typeface="Calibri" pitchFamily="34" charset="-120"/>
              </a:rPr>
              <a:t>participants per batch; capstone teams of 3–4</a:t>
            </a:r>
            <a:endParaRPr lang="en-US" sz="1150" dirty="0"/>
          </a:p>
        </p:txBody>
      </p:sp>
      <p:sp>
        <p:nvSpPr>
          <p:cNvPr id="12" name="Shape 10"/>
          <p:cNvSpPr/>
          <p:nvPr/>
        </p:nvSpPr>
        <p:spPr>
          <a:xfrm>
            <a:off x="548640" y="3383280"/>
            <a:ext cx="5394960" cy="2468880"/>
          </a:xfrm>
          <a:prstGeom prst="roundRect">
            <a:avLst>
              <a:gd name="adj" fmla="val 4444"/>
            </a:avLst>
          </a:prstGeom>
          <a:solidFill>
            <a:srgbClr val="F4F6F6"/>
          </a:solidFill>
          <a:ln w="12700">
            <a:solidFill>
              <a:srgbClr val="F4F6F6"/>
            </a:solidFill>
            <a:prstDash val="solid"/>
          </a:ln>
        </p:spPr>
      </p:sp>
      <p:sp>
        <p:nvSpPr>
          <p:cNvPr id="13" name="Text 11"/>
          <p:cNvSpPr txBox="1"/>
          <p:nvPr/>
        </p:nvSpPr>
        <p:spPr>
          <a:xfrm>
            <a:off x="749808" y="3547872"/>
            <a:ext cx="4992624" cy="365760"/>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Who it is for</a:t>
            </a:r>
            <a:endParaRPr lang="en-US" sz="1500" dirty="0"/>
          </a:p>
        </p:txBody>
      </p:sp>
      <p:sp>
        <p:nvSpPr>
          <p:cNvPr id="14" name="Text 12"/>
          <p:cNvSpPr txBox="1"/>
          <p:nvPr/>
        </p:nvSpPr>
        <p:spPr>
          <a:xfrm>
            <a:off x="749808" y="3959352"/>
            <a:ext cx="4992624" cy="1755648"/>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3A464B"/>
                </a:solidFill>
                <a:latin typeface="Calibri" pitchFamily="34" charset="0"/>
                <a:ea typeface="Calibri" pitchFamily="34" charset="-122"/>
                <a:cs typeface="Calibri" pitchFamily="34" charset="-120"/>
              </a:rPr>
              <a:t>Career Grade 4–6 Project and Delivery Managers</a:t>
            </a:r>
            <a:endParaRPr lang="en-US" sz="1300" dirty="0"/>
          </a:p>
          <a:p>
            <a:pPr marL="152400" indent="-152400">
              <a:spcAft>
                <a:spcPts val="400"/>
              </a:spcAft>
              <a:buSzPct val="100000"/>
              <a:buChar char="•"/>
            </a:pPr>
            <a:r>
              <a:rPr lang="en-US" sz="1300" dirty="0">
                <a:solidFill>
                  <a:srgbClr val="3A464B"/>
                </a:solidFill>
                <a:latin typeface="Calibri" pitchFamily="34" charset="0"/>
                <a:ea typeface="Calibri" pitchFamily="34" charset="-122"/>
                <a:cs typeface="Calibri" pitchFamily="34" charset="-120"/>
              </a:rPr>
              <a:t>12–18 years total experience, 5–6 in project / delivery management</a:t>
            </a:r>
            <a:endParaRPr lang="en-US" sz="1300" dirty="0"/>
          </a:p>
          <a:p>
            <a:pPr marL="152400" indent="-152400">
              <a:spcAft>
                <a:spcPts val="400"/>
              </a:spcAft>
              <a:buSzPct val="100000"/>
              <a:buChar char="•"/>
            </a:pPr>
            <a:r>
              <a:rPr lang="en-US" sz="1300" dirty="0">
                <a:solidFill>
                  <a:srgbClr val="3A464B"/>
                </a:solidFill>
                <a:latin typeface="Calibri" pitchFamily="34" charset="0"/>
                <a:ea typeface="Calibri" pitchFamily="34" charset="-122"/>
                <a:cs typeface="Calibri" pitchFamily="34" charset="-120"/>
              </a:rPr>
              <a:t>Running agile or hybrid delivery with Jira, Azure DevOps or GitHub</a:t>
            </a:r>
            <a:endParaRPr lang="en-US" sz="1300" dirty="0"/>
          </a:p>
          <a:p>
            <a:pPr marL="152400" indent="-152400">
              <a:spcAft>
                <a:spcPts val="400"/>
              </a:spcAft>
              <a:buSzPct val="100000"/>
              <a:buChar char="•"/>
            </a:pPr>
            <a:r>
              <a:rPr lang="en-US" sz="1300" dirty="0">
                <a:solidFill>
                  <a:srgbClr val="3A464B"/>
                </a:solidFill>
                <a:latin typeface="Calibri" pitchFamily="34" charset="0"/>
                <a:ea typeface="Calibri" pitchFamily="34" charset="-122"/>
                <a:cs typeface="Calibri" pitchFamily="34" charset="-120"/>
              </a:rPr>
              <a:t>No coding required — labs are browser, spreadsheet and guided templates</a:t>
            </a:r>
            <a:endParaRPr lang="en-US" sz="1300" dirty="0"/>
          </a:p>
        </p:txBody>
      </p:sp>
      <p:sp>
        <p:nvSpPr>
          <p:cNvPr id="15" name="Shape 13"/>
          <p:cNvSpPr/>
          <p:nvPr/>
        </p:nvSpPr>
        <p:spPr>
          <a:xfrm>
            <a:off x="6217920" y="3383280"/>
            <a:ext cx="5440680" cy="2468880"/>
          </a:xfrm>
          <a:prstGeom prst="roundRect">
            <a:avLst>
              <a:gd name="adj" fmla="val 4444"/>
            </a:avLst>
          </a:prstGeom>
          <a:solidFill>
            <a:srgbClr val="DFEDEC"/>
          </a:solidFill>
          <a:ln w="12700">
            <a:solidFill>
              <a:srgbClr val="DFEDEC"/>
            </a:solidFill>
            <a:prstDash val="solid"/>
          </a:ln>
        </p:spPr>
      </p:sp>
      <p:sp>
        <p:nvSpPr>
          <p:cNvPr id="16" name="Text 14"/>
          <p:cNvSpPr txBox="1"/>
          <p:nvPr/>
        </p:nvSpPr>
        <p:spPr>
          <a:xfrm>
            <a:off x="6419088" y="3547872"/>
            <a:ext cx="5038344" cy="365760"/>
          </a:xfrm>
          <a:prstGeom prst="rect">
            <a:avLst/>
          </a:prstGeom>
          <a:noFill/>
          <a:ln/>
        </p:spPr>
        <p:txBody>
          <a:bodyPr wrap="square" lIns="0" tIns="0" rIns="0" bIns="0" rtlCol="0" anchor="t"/>
          <a:lstStyle/>
          <a:p>
            <a:pPr indent="0" marL="0">
              <a:buNone/>
            </a:pPr>
            <a:r>
              <a:rPr lang="en-US" sz="1500" b="1" dirty="0">
                <a:solidFill>
                  <a:srgbClr val="0A3B39"/>
                </a:solidFill>
                <a:latin typeface="Cambria" pitchFamily="34" charset="0"/>
                <a:ea typeface="Cambria" pitchFamily="34" charset="-122"/>
                <a:cs typeface="Cambria" pitchFamily="34" charset="-120"/>
              </a:rPr>
              <a:t>How it is taught</a:t>
            </a:r>
            <a:endParaRPr lang="en-US" sz="1500" dirty="0"/>
          </a:p>
        </p:txBody>
      </p:sp>
      <p:sp>
        <p:nvSpPr>
          <p:cNvPr id="17" name="Text 15"/>
          <p:cNvSpPr txBox="1"/>
          <p:nvPr/>
        </p:nvSpPr>
        <p:spPr>
          <a:xfrm>
            <a:off x="6419088" y="3959352"/>
            <a:ext cx="5038344" cy="1755648"/>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0A3B39"/>
                </a:solidFill>
                <a:latin typeface="Calibri" pitchFamily="34" charset="0"/>
                <a:ea typeface="Calibri" pitchFamily="34" charset="-122"/>
                <a:cs typeface="Calibri" pitchFamily="34" charset="-120"/>
              </a:rPr>
              <a:t>Concept → live demo → lab on participants' own data or a sandbox</a:t>
            </a:r>
            <a:endParaRPr lang="en-US" sz="1300" dirty="0"/>
          </a:p>
          <a:p>
            <a:pPr marL="152400" indent="-152400">
              <a:spcAft>
                <a:spcPts val="400"/>
              </a:spcAft>
              <a:buSzPct val="100000"/>
              <a:buChar char="•"/>
            </a:pPr>
            <a:r>
              <a:rPr lang="en-US" sz="1300" dirty="0">
                <a:solidFill>
                  <a:srgbClr val="0A3B39"/>
                </a:solidFill>
                <a:latin typeface="Calibri" pitchFamily="34" charset="0"/>
                <a:ea typeface="Calibri" pitchFamily="34" charset="-122"/>
                <a:cs typeface="Calibri" pitchFamily="34" charset="-120"/>
              </a:rPr>
              <a:t>Sandbox GitHub organisation with the Software Factory pre-installed</a:t>
            </a:r>
            <a:endParaRPr lang="en-US" sz="1300" dirty="0"/>
          </a:p>
          <a:p>
            <a:pPr marL="152400" indent="-152400">
              <a:spcAft>
                <a:spcPts val="400"/>
              </a:spcAft>
              <a:buSzPct val="100000"/>
              <a:buChar char="•"/>
            </a:pPr>
            <a:r>
              <a:rPr lang="en-US" sz="1300" dirty="0">
                <a:solidFill>
                  <a:srgbClr val="0A3B39"/>
                </a:solidFill>
                <a:latin typeface="Calibri" pitchFamily="34" charset="0"/>
                <a:ea typeface="Calibri" pitchFamily="34" charset="-122"/>
                <a:cs typeface="Calibri" pitchFamily="34" charset="-120"/>
              </a:rPr>
              <a:t>Participants sit in the approver seats on Days 4–5 and open real gates</a:t>
            </a:r>
            <a:endParaRPr lang="en-US" sz="1300" dirty="0"/>
          </a:p>
          <a:p>
            <a:pPr marL="152400" indent="-152400">
              <a:spcAft>
                <a:spcPts val="400"/>
              </a:spcAft>
              <a:buSzPct val="100000"/>
              <a:buChar char="•"/>
            </a:pPr>
            <a:r>
              <a:rPr lang="en-US" sz="1300" dirty="0">
                <a:solidFill>
                  <a:srgbClr val="0A3B39"/>
                </a:solidFill>
                <a:latin typeface="Calibri" pitchFamily="34" charset="0"/>
                <a:ea typeface="Calibri" pitchFamily="34" charset="-122"/>
                <a:cs typeface="Calibri" pitchFamily="34" charset="-120"/>
              </a:rPr>
              <a:t>Assessment: capstone 60% + scenario quiz 40% → certificate of completion</a:t>
            </a:r>
            <a:endParaRPr lang="en-US" sz="1300" dirty="0"/>
          </a:p>
        </p:txBody>
      </p:sp>
      <p:sp>
        <p:nvSpPr>
          <p:cNvPr id="18" name="Text 1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9" name="Text 1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BUSINESS OUTCOMES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Every expected business outcome has a module and a proof</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4297680"/>
                <a:gridCol w="347472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business outcome</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is built</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at the end</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r>
              <a:tr h="54864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Improved project delivery predictability</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Day 1 forecasting · Day 4 small batches, staging first, release gating</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P50 / P85 forecast on real data; sequenced release plan</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54864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Faster and more accurate project reporting</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Day 2 reporting from the system of record · Day 3 monitoring</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A working automated status report posted to Teams / Slack</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Reduced risk exposure through AI-driven forecasting</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Day 1 risk mining and early-warning signals · Day 4 independent review, gates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AI-mined risk register with exposure and signals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54864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Increased productivity through workflow automation</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Day 2 automation · Day 3 integration · Day 4 agents doing the work</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Automation built in the lab; an epic run end-to-end by agents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Better resource utilisation and governance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Day 3 flow metrics · Day 4 gates, approvers, guardrails, model routing</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Governance design in the capstone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54864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Readiness to manage AI-driven business initiatives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Day 4 managing Gen AI projects · Day 5 capstone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Capstone delivery plan and personal 30-60-90 plan</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6" name="Text 3"/>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AN AGENT-DRIVEN DELIVERY PIPELINE · OPEN SOURCE, MIT</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The running case: the Software Factory</a:t>
            </a:r>
            <a:endParaRPr lang="en-US" sz="3000" dirty="0"/>
          </a:p>
        </p:txBody>
      </p:sp>
      <p:sp>
        <p:nvSpPr>
          <p:cNvPr id="4" name="Text 2"/>
          <p:cNvSpPr txBox="1"/>
          <p:nvPr/>
        </p:nvSpPr>
        <p:spPr>
          <a:xfrm>
            <a:off x="548640" y="1508760"/>
            <a:ext cx="11064240" cy="777240"/>
          </a:xfrm>
          <a:prstGeom prst="rect">
            <a:avLst/>
          </a:prstGeom>
          <a:noFill/>
          <a:ln/>
        </p:spPr>
        <p:txBody>
          <a:bodyPr wrap="square" lIns="0" tIns="0" rIns="0" bIns="0" rtlCol="0" anchor="t"/>
          <a:lstStyle/>
          <a:p>
            <a:pPr indent="0" marL="0">
              <a:buNone/>
            </a:pPr>
            <a:r>
              <a:rPr lang="en-US" sz="1600" i="1" dirty="0">
                <a:solidFill>
                  <a:srgbClr val="0A3B39"/>
                </a:solidFill>
                <a:latin typeface="Cambria" pitchFamily="34" charset="0"/>
                <a:ea typeface="Cambria" pitchFamily="34" charset="-122"/>
                <a:cs typeface="Cambria" pitchFamily="34" charset="-120"/>
              </a:rPr>
              <a:t>A plain GitHub issue goes in. A specced, planned, designed, implemented, reviewed, tested and released change comes out — with human approval gates, and no ability for an agent to put anything on main.</a:t>
            </a:r>
            <a:endParaRPr lang="en-US" sz="1600" dirty="0"/>
          </a:p>
        </p:txBody>
      </p:sp>
      <p:sp>
        <p:nvSpPr>
          <p:cNvPr id="5" name="Shape 3"/>
          <p:cNvSpPr/>
          <p:nvPr/>
        </p:nvSpPr>
        <p:spPr>
          <a:xfrm>
            <a:off x="548640" y="2606040"/>
            <a:ext cx="1152144" cy="685800"/>
          </a:xfrm>
          <a:prstGeom prst="chevron">
            <a:avLst/>
          </a:prstGeom>
          <a:solidFill>
            <a:srgbClr val="0A3B39"/>
          </a:solidFill>
          <a:ln w="12700">
            <a:solidFill>
              <a:srgbClr val="FFFFFF"/>
            </a:solidFill>
            <a:prstDash val="solid"/>
          </a:ln>
        </p:spPr>
      </p:sp>
      <p:sp>
        <p:nvSpPr>
          <p:cNvPr id="6" name="Text 4"/>
          <p:cNvSpPr txBox="1"/>
          <p:nvPr/>
        </p:nvSpPr>
        <p:spPr>
          <a:xfrm>
            <a:off x="822960"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scrum</a:t>
            </a:r>
            <a:endParaRPr lang="en-US" sz="900" dirty="0"/>
          </a:p>
        </p:txBody>
      </p:sp>
      <p:sp>
        <p:nvSpPr>
          <p:cNvPr id="7" name="Text 5"/>
          <p:cNvSpPr txBox="1"/>
          <p:nvPr/>
        </p:nvSpPr>
        <p:spPr>
          <a:xfrm>
            <a:off x="502920"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release plan</a:t>
            </a:r>
            <a:endParaRPr lang="en-US" sz="950" dirty="0"/>
          </a:p>
        </p:txBody>
      </p:sp>
      <p:sp>
        <p:nvSpPr>
          <p:cNvPr id="8" name="Shape 6"/>
          <p:cNvSpPr/>
          <p:nvPr/>
        </p:nvSpPr>
        <p:spPr>
          <a:xfrm>
            <a:off x="1664208" y="2606040"/>
            <a:ext cx="1152144" cy="685800"/>
          </a:xfrm>
          <a:prstGeom prst="chevron">
            <a:avLst/>
          </a:prstGeom>
          <a:solidFill>
            <a:srgbClr val="0B6E6B"/>
          </a:solidFill>
          <a:ln w="12700">
            <a:solidFill>
              <a:srgbClr val="FFFFFF"/>
            </a:solidFill>
            <a:prstDash val="solid"/>
          </a:ln>
        </p:spPr>
      </p:sp>
      <p:sp>
        <p:nvSpPr>
          <p:cNvPr id="9" name="Text 7"/>
          <p:cNvSpPr txBox="1"/>
          <p:nvPr/>
        </p:nvSpPr>
        <p:spPr>
          <a:xfrm>
            <a:off x="1938528"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intake</a:t>
            </a:r>
            <a:endParaRPr lang="en-US" sz="900" dirty="0"/>
          </a:p>
        </p:txBody>
      </p:sp>
      <p:sp>
        <p:nvSpPr>
          <p:cNvPr id="10" name="Text 8"/>
          <p:cNvSpPr txBox="1"/>
          <p:nvPr/>
        </p:nvSpPr>
        <p:spPr>
          <a:xfrm>
            <a:off x="1618488"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proposal + specs</a:t>
            </a:r>
            <a:endParaRPr lang="en-US" sz="950" dirty="0"/>
          </a:p>
        </p:txBody>
      </p:sp>
      <p:sp>
        <p:nvSpPr>
          <p:cNvPr id="11" name="Shape 9"/>
          <p:cNvSpPr/>
          <p:nvPr/>
        </p:nvSpPr>
        <p:spPr>
          <a:xfrm>
            <a:off x="2779776" y="2606040"/>
            <a:ext cx="1152144" cy="685800"/>
          </a:xfrm>
          <a:prstGeom prst="chevron">
            <a:avLst/>
          </a:prstGeom>
          <a:solidFill>
            <a:srgbClr val="0A3B39"/>
          </a:solidFill>
          <a:ln w="12700">
            <a:solidFill>
              <a:srgbClr val="FFFFFF"/>
            </a:solidFill>
            <a:prstDash val="solid"/>
          </a:ln>
        </p:spPr>
      </p:sp>
      <p:sp>
        <p:nvSpPr>
          <p:cNvPr id="12" name="Text 10"/>
          <p:cNvSpPr txBox="1"/>
          <p:nvPr/>
        </p:nvSpPr>
        <p:spPr>
          <a:xfrm>
            <a:off x="3054096"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planner</a:t>
            </a:r>
            <a:endParaRPr lang="en-US" sz="900" dirty="0"/>
          </a:p>
        </p:txBody>
      </p:sp>
      <p:sp>
        <p:nvSpPr>
          <p:cNvPr id="13" name="Text 11"/>
          <p:cNvSpPr txBox="1"/>
          <p:nvPr/>
        </p:nvSpPr>
        <p:spPr>
          <a:xfrm>
            <a:off x="2734056"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tasks.md</a:t>
            </a:r>
            <a:endParaRPr lang="en-US" sz="950" dirty="0"/>
          </a:p>
        </p:txBody>
      </p:sp>
      <p:sp>
        <p:nvSpPr>
          <p:cNvPr id="14" name="Shape 12"/>
          <p:cNvSpPr/>
          <p:nvPr/>
        </p:nvSpPr>
        <p:spPr>
          <a:xfrm>
            <a:off x="3895344" y="2606040"/>
            <a:ext cx="1152144" cy="685800"/>
          </a:xfrm>
          <a:prstGeom prst="chevron">
            <a:avLst/>
          </a:prstGeom>
          <a:solidFill>
            <a:srgbClr val="0B6E6B"/>
          </a:solidFill>
          <a:ln w="12700">
            <a:solidFill>
              <a:srgbClr val="FFFFFF"/>
            </a:solidFill>
            <a:prstDash val="solid"/>
          </a:ln>
        </p:spPr>
      </p:sp>
      <p:sp>
        <p:nvSpPr>
          <p:cNvPr id="15" name="Text 13"/>
          <p:cNvSpPr txBox="1"/>
          <p:nvPr/>
        </p:nvSpPr>
        <p:spPr>
          <a:xfrm>
            <a:off x="4169664"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architect</a:t>
            </a:r>
            <a:endParaRPr lang="en-US" sz="900" dirty="0"/>
          </a:p>
        </p:txBody>
      </p:sp>
      <p:sp>
        <p:nvSpPr>
          <p:cNvPr id="16" name="Text 14"/>
          <p:cNvSpPr txBox="1"/>
          <p:nvPr/>
        </p:nvSpPr>
        <p:spPr>
          <a:xfrm>
            <a:off x="3849624"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design.md</a:t>
            </a:r>
            <a:endParaRPr lang="en-US" sz="950" dirty="0"/>
          </a:p>
        </p:txBody>
      </p:sp>
      <p:sp>
        <p:nvSpPr>
          <p:cNvPr id="17" name="Shape 15"/>
          <p:cNvSpPr/>
          <p:nvPr/>
        </p:nvSpPr>
        <p:spPr>
          <a:xfrm>
            <a:off x="5010912" y="2606040"/>
            <a:ext cx="1152144" cy="685800"/>
          </a:xfrm>
          <a:prstGeom prst="chevron">
            <a:avLst/>
          </a:prstGeom>
          <a:solidFill>
            <a:srgbClr val="0A3B39"/>
          </a:solidFill>
          <a:ln w="12700">
            <a:solidFill>
              <a:srgbClr val="FFFFFF"/>
            </a:solidFill>
            <a:prstDash val="solid"/>
          </a:ln>
        </p:spPr>
      </p:sp>
      <p:sp>
        <p:nvSpPr>
          <p:cNvPr id="18" name="Text 16"/>
          <p:cNvSpPr txBox="1"/>
          <p:nvPr/>
        </p:nvSpPr>
        <p:spPr>
          <a:xfrm>
            <a:off x="5285232"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dispatch</a:t>
            </a:r>
            <a:endParaRPr lang="en-US" sz="900" dirty="0"/>
          </a:p>
        </p:txBody>
      </p:sp>
      <p:sp>
        <p:nvSpPr>
          <p:cNvPr id="19" name="Text 17"/>
          <p:cNvSpPr txBox="1"/>
          <p:nvPr/>
        </p:nvSpPr>
        <p:spPr>
          <a:xfrm>
            <a:off x="4965192"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ready tasks</a:t>
            </a:r>
            <a:endParaRPr lang="en-US" sz="950" dirty="0"/>
          </a:p>
        </p:txBody>
      </p:sp>
      <p:sp>
        <p:nvSpPr>
          <p:cNvPr id="20" name="Shape 18"/>
          <p:cNvSpPr/>
          <p:nvPr/>
        </p:nvSpPr>
        <p:spPr>
          <a:xfrm>
            <a:off x="6126480" y="2606040"/>
            <a:ext cx="1152144" cy="685800"/>
          </a:xfrm>
          <a:prstGeom prst="chevron">
            <a:avLst/>
          </a:prstGeom>
          <a:solidFill>
            <a:srgbClr val="0B6E6B"/>
          </a:solidFill>
          <a:ln w="12700">
            <a:solidFill>
              <a:srgbClr val="FFFFFF"/>
            </a:solidFill>
            <a:prstDash val="solid"/>
          </a:ln>
        </p:spPr>
      </p:sp>
      <p:sp>
        <p:nvSpPr>
          <p:cNvPr id="21" name="Text 19"/>
          <p:cNvSpPr txBox="1"/>
          <p:nvPr/>
        </p:nvSpPr>
        <p:spPr>
          <a:xfrm>
            <a:off x="6400800"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implementer</a:t>
            </a:r>
            <a:endParaRPr lang="en-US" sz="900" dirty="0"/>
          </a:p>
        </p:txBody>
      </p:sp>
      <p:sp>
        <p:nvSpPr>
          <p:cNvPr id="22" name="Text 20"/>
          <p:cNvSpPr txBox="1"/>
          <p:nvPr/>
        </p:nvSpPr>
        <p:spPr>
          <a:xfrm>
            <a:off x="6080760"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PR per task</a:t>
            </a:r>
            <a:endParaRPr lang="en-US" sz="950" dirty="0"/>
          </a:p>
        </p:txBody>
      </p:sp>
      <p:sp>
        <p:nvSpPr>
          <p:cNvPr id="23" name="Shape 21"/>
          <p:cNvSpPr/>
          <p:nvPr/>
        </p:nvSpPr>
        <p:spPr>
          <a:xfrm>
            <a:off x="7242048" y="2606040"/>
            <a:ext cx="1152144" cy="685800"/>
          </a:xfrm>
          <a:prstGeom prst="chevron">
            <a:avLst/>
          </a:prstGeom>
          <a:solidFill>
            <a:srgbClr val="0A3B39"/>
          </a:solidFill>
          <a:ln w="12700">
            <a:solidFill>
              <a:srgbClr val="FFFFFF"/>
            </a:solidFill>
            <a:prstDash val="solid"/>
          </a:ln>
        </p:spPr>
      </p:sp>
      <p:sp>
        <p:nvSpPr>
          <p:cNvPr id="24" name="Text 22"/>
          <p:cNvSpPr txBox="1"/>
          <p:nvPr/>
        </p:nvSpPr>
        <p:spPr>
          <a:xfrm>
            <a:off x="7516368"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reviewer</a:t>
            </a:r>
            <a:endParaRPr lang="en-US" sz="900" dirty="0"/>
          </a:p>
        </p:txBody>
      </p:sp>
      <p:sp>
        <p:nvSpPr>
          <p:cNvPr id="25" name="Text 23"/>
          <p:cNvSpPr txBox="1"/>
          <p:nvPr/>
        </p:nvSpPr>
        <p:spPr>
          <a:xfrm>
            <a:off x="7196328"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line review</a:t>
            </a:r>
            <a:endParaRPr lang="en-US" sz="950" dirty="0"/>
          </a:p>
        </p:txBody>
      </p:sp>
      <p:sp>
        <p:nvSpPr>
          <p:cNvPr id="26" name="Shape 24"/>
          <p:cNvSpPr/>
          <p:nvPr/>
        </p:nvSpPr>
        <p:spPr>
          <a:xfrm>
            <a:off x="8357616" y="2606040"/>
            <a:ext cx="1152144" cy="685800"/>
          </a:xfrm>
          <a:prstGeom prst="chevron">
            <a:avLst/>
          </a:prstGeom>
          <a:solidFill>
            <a:srgbClr val="0B6E6B"/>
          </a:solidFill>
          <a:ln w="12700">
            <a:solidFill>
              <a:srgbClr val="FFFFFF"/>
            </a:solidFill>
            <a:prstDash val="solid"/>
          </a:ln>
        </p:spPr>
      </p:sp>
      <p:sp>
        <p:nvSpPr>
          <p:cNvPr id="27" name="Text 25"/>
          <p:cNvSpPr txBox="1"/>
          <p:nvPr/>
        </p:nvSpPr>
        <p:spPr>
          <a:xfrm>
            <a:off x="8631936"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qa</a:t>
            </a:r>
            <a:endParaRPr lang="en-US" sz="900" dirty="0"/>
          </a:p>
        </p:txBody>
      </p:sp>
      <p:sp>
        <p:nvSpPr>
          <p:cNvPr id="28" name="Text 26"/>
          <p:cNvSpPr txBox="1"/>
          <p:nvPr/>
        </p:nvSpPr>
        <p:spPr>
          <a:xfrm>
            <a:off x="8311896"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tests green</a:t>
            </a:r>
            <a:endParaRPr lang="en-US" sz="950" dirty="0"/>
          </a:p>
        </p:txBody>
      </p:sp>
      <p:sp>
        <p:nvSpPr>
          <p:cNvPr id="29" name="Shape 27"/>
          <p:cNvSpPr/>
          <p:nvPr/>
        </p:nvSpPr>
        <p:spPr>
          <a:xfrm>
            <a:off x="9473184" y="2606040"/>
            <a:ext cx="1152144" cy="685800"/>
          </a:xfrm>
          <a:prstGeom prst="chevron">
            <a:avLst/>
          </a:prstGeom>
          <a:solidFill>
            <a:srgbClr val="0A3B39"/>
          </a:solidFill>
          <a:ln w="12700">
            <a:solidFill>
              <a:srgbClr val="FFFFFF"/>
            </a:solidFill>
            <a:prstDash val="solid"/>
          </a:ln>
        </p:spPr>
      </p:sp>
      <p:sp>
        <p:nvSpPr>
          <p:cNvPr id="30" name="Text 28"/>
          <p:cNvSpPr txBox="1"/>
          <p:nvPr/>
        </p:nvSpPr>
        <p:spPr>
          <a:xfrm>
            <a:off x="9747504"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release</a:t>
            </a:r>
            <a:endParaRPr lang="en-US" sz="900" dirty="0"/>
          </a:p>
        </p:txBody>
      </p:sp>
      <p:sp>
        <p:nvSpPr>
          <p:cNvPr id="31" name="Text 29"/>
          <p:cNvSpPr txBox="1"/>
          <p:nvPr/>
        </p:nvSpPr>
        <p:spPr>
          <a:xfrm>
            <a:off x="9427464"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staging → main</a:t>
            </a:r>
            <a:endParaRPr lang="en-US" sz="950" dirty="0"/>
          </a:p>
        </p:txBody>
      </p:sp>
      <p:sp>
        <p:nvSpPr>
          <p:cNvPr id="32" name="Shape 30"/>
          <p:cNvSpPr/>
          <p:nvPr/>
        </p:nvSpPr>
        <p:spPr>
          <a:xfrm>
            <a:off x="10588752" y="2606040"/>
            <a:ext cx="1152144" cy="685800"/>
          </a:xfrm>
          <a:prstGeom prst="chevron">
            <a:avLst/>
          </a:prstGeom>
          <a:solidFill>
            <a:srgbClr val="0B6E6B"/>
          </a:solidFill>
          <a:ln w="12700">
            <a:solidFill>
              <a:srgbClr val="FFFFFF"/>
            </a:solidFill>
            <a:prstDash val="solid"/>
          </a:ln>
        </p:spPr>
      </p:sp>
      <p:sp>
        <p:nvSpPr>
          <p:cNvPr id="33" name="Text 31"/>
          <p:cNvSpPr txBox="1"/>
          <p:nvPr/>
        </p:nvSpPr>
        <p:spPr>
          <a:xfrm>
            <a:off x="10863072" y="2606040"/>
            <a:ext cx="896112"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ops</a:t>
            </a:r>
            <a:endParaRPr lang="en-US" sz="900" dirty="0"/>
          </a:p>
        </p:txBody>
      </p:sp>
      <p:sp>
        <p:nvSpPr>
          <p:cNvPr id="34" name="Text 32"/>
          <p:cNvSpPr txBox="1"/>
          <p:nvPr/>
        </p:nvSpPr>
        <p:spPr>
          <a:xfrm>
            <a:off x="10543032" y="3337560"/>
            <a:ext cx="1243584" cy="457200"/>
          </a:xfrm>
          <a:prstGeom prst="rect">
            <a:avLst/>
          </a:prstGeom>
          <a:noFill/>
          <a:ln/>
        </p:spPr>
        <p:txBody>
          <a:bodyPr wrap="square" lIns="0" tIns="0" rIns="0" bIns="0" rtlCol="0" anchor="t"/>
          <a:lstStyle/>
          <a:p>
            <a:pPr algn="ctr" indent="0" marL="0">
              <a:buNone/>
            </a:pPr>
            <a:r>
              <a:rPr lang="en-US" sz="950" dirty="0">
                <a:solidFill>
                  <a:srgbClr val="3A464B"/>
                </a:solidFill>
                <a:latin typeface="Calibri" pitchFamily="34" charset="0"/>
                <a:ea typeface="Calibri" pitchFamily="34" charset="-122"/>
                <a:cs typeface="Calibri" pitchFamily="34" charset="-120"/>
              </a:rPr>
              <a:t>verify, archive</a:t>
            </a:r>
            <a:endParaRPr lang="en-US" sz="950" dirty="0"/>
          </a:p>
        </p:txBody>
      </p:sp>
      <p:sp>
        <p:nvSpPr>
          <p:cNvPr id="35" name="Text 33"/>
          <p:cNvSpPr txBox="1"/>
          <p:nvPr/>
        </p:nvSpPr>
        <p:spPr>
          <a:xfrm>
            <a:off x="548640" y="3931920"/>
            <a:ext cx="2743200" cy="274320"/>
          </a:xfrm>
          <a:prstGeom prst="rect">
            <a:avLst/>
          </a:prstGeom>
          <a:noFill/>
          <a:ln/>
        </p:spPr>
        <p:txBody>
          <a:bodyPr wrap="square" lIns="0" tIns="0" rIns="0" bIns="0" rtlCol="0" anchor="ctr"/>
          <a:lstStyle/>
          <a:p>
            <a:pPr indent="0" marL="0">
              <a:buNone/>
            </a:pPr>
            <a:r>
              <a:rPr lang="en-US" sz="1100" b="1" dirty="0">
                <a:solidFill>
                  <a:srgbClr val="B24A17"/>
                </a:solidFill>
                <a:latin typeface="Calibri" pitchFamily="34" charset="0"/>
                <a:ea typeface="Calibri" pitchFamily="34" charset="-122"/>
                <a:cs typeface="Calibri" pitchFamily="34" charset="-120"/>
              </a:rPr>
              <a:t>Human gates</a:t>
            </a:r>
            <a:endParaRPr lang="en-US" sz="1100" dirty="0"/>
          </a:p>
        </p:txBody>
      </p:sp>
      <p:sp>
        <p:nvSpPr>
          <p:cNvPr id="36" name="Shape 34"/>
          <p:cNvSpPr/>
          <p:nvPr/>
        </p:nvSpPr>
        <p:spPr>
          <a:xfrm>
            <a:off x="822960" y="4251960"/>
            <a:ext cx="502920" cy="502920"/>
          </a:xfrm>
          <a:prstGeom prst="ellipse">
            <a:avLst/>
          </a:prstGeom>
          <a:solidFill>
            <a:srgbClr val="B24A17"/>
          </a:solidFill>
          <a:ln w="12700">
            <a:solidFill>
              <a:srgbClr val="B24A17"/>
            </a:solidFill>
            <a:prstDash val="solid"/>
          </a:ln>
        </p:spPr>
      </p:sp>
      <p:sp>
        <p:nvSpPr>
          <p:cNvPr id="37" name="Text 35"/>
          <p:cNvSpPr txBox="1"/>
          <p:nvPr/>
        </p:nvSpPr>
        <p:spPr>
          <a:xfrm>
            <a:off x="822960" y="425196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G0</a:t>
            </a:r>
            <a:endParaRPr lang="en-US" sz="1100" dirty="0"/>
          </a:p>
        </p:txBody>
      </p:sp>
      <p:sp>
        <p:nvSpPr>
          <p:cNvPr id="38" name="Text 36"/>
          <p:cNvSpPr txBox="1"/>
          <p:nvPr/>
        </p:nvSpPr>
        <p:spPr>
          <a:xfrm>
            <a:off x="365760" y="4773168"/>
            <a:ext cx="1417320" cy="274320"/>
          </a:xfrm>
          <a:prstGeom prst="rect">
            <a:avLst/>
          </a:prstGeom>
          <a:noFill/>
          <a:ln/>
        </p:spPr>
        <p:txBody>
          <a:bodyPr wrap="square" lIns="0" tIns="0" rIns="0" bIns="0" rtlCol="0" anchor="ctr"/>
          <a:lstStyle/>
          <a:p>
            <a:pPr algn="ctr" indent="0" marL="0">
              <a:buNone/>
            </a:pPr>
            <a:r>
              <a:rPr lang="en-US" sz="1000" dirty="0">
                <a:solidFill>
                  <a:srgbClr val="3A464B"/>
                </a:solidFill>
                <a:latin typeface="Calibri" pitchFamily="34" charset="0"/>
                <a:ea typeface="Calibri" pitchFamily="34" charset="-122"/>
                <a:cs typeface="Calibri" pitchFamily="34" charset="-120"/>
              </a:rPr>
              <a:t>release scope</a:t>
            </a:r>
            <a:endParaRPr lang="en-US" sz="1000" dirty="0"/>
          </a:p>
        </p:txBody>
      </p:sp>
      <p:sp>
        <p:nvSpPr>
          <p:cNvPr id="39" name="Shape 37"/>
          <p:cNvSpPr/>
          <p:nvPr/>
        </p:nvSpPr>
        <p:spPr>
          <a:xfrm>
            <a:off x="2194560" y="4251960"/>
            <a:ext cx="502920" cy="502920"/>
          </a:xfrm>
          <a:prstGeom prst="ellipse">
            <a:avLst/>
          </a:prstGeom>
          <a:solidFill>
            <a:srgbClr val="B24A17"/>
          </a:solidFill>
          <a:ln w="12700">
            <a:solidFill>
              <a:srgbClr val="B24A17"/>
            </a:solidFill>
            <a:prstDash val="solid"/>
          </a:ln>
        </p:spPr>
      </p:sp>
      <p:sp>
        <p:nvSpPr>
          <p:cNvPr id="40" name="Text 38"/>
          <p:cNvSpPr txBox="1"/>
          <p:nvPr/>
        </p:nvSpPr>
        <p:spPr>
          <a:xfrm>
            <a:off x="2194560" y="425196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G1</a:t>
            </a:r>
            <a:endParaRPr lang="en-US" sz="1100" dirty="0"/>
          </a:p>
        </p:txBody>
      </p:sp>
      <p:sp>
        <p:nvSpPr>
          <p:cNvPr id="41" name="Text 39"/>
          <p:cNvSpPr txBox="1"/>
          <p:nvPr/>
        </p:nvSpPr>
        <p:spPr>
          <a:xfrm>
            <a:off x="1737360" y="4773168"/>
            <a:ext cx="1417320" cy="274320"/>
          </a:xfrm>
          <a:prstGeom prst="rect">
            <a:avLst/>
          </a:prstGeom>
          <a:noFill/>
          <a:ln/>
        </p:spPr>
        <p:txBody>
          <a:bodyPr wrap="square" lIns="0" tIns="0" rIns="0" bIns="0" rtlCol="0" anchor="ctr"/>
          <a:lstStyle/>
          <a:p>
            <a:pPr algn="ctr" indent="0" marL="0">
              <a:buNone/>
            </a:pPr>
            <a:r>
              <a:rPr lang="en-US" sz="1000" dirty="0">
                <a:solidFill>
                  <a:srgbClr val="3A464B"/>
                </a:solidFill>
                <a:latin typeface="Calibri" pitchFamily="34" charset="0"/>
                <a:ea typeface="Calibri" pitchFamily="34" charset="-122"/>
                <a:cs typeface="Calibri" pitchFamily="34" charset="-120"/>
              </a:rPr>
              <a:t>spec</a:t>
            </a:r>
            <a:endParaRPr lang="en-US" sz="1000" dirty="0"/>
          </a:p>
        </p:txBody>
      </p:sp>
      <p:sp>
        <p:nvSpPr>
          <p:cNvPr id="42" name="Shape 40"/>
          <p:cNvSpPr/>
          <p:nvPr/>
        </p:nvSpPr>
        <p:spPr>
          <a:xfrm>
            <a:off x="3931920" y="4251960"/>
            <a:ext cx="502920" cy="502920"/>
          </a:xfrm>
          <a:prstGeom prst="ellipse">
            <a:avLst/>
          </a:prstGeom>
          <a:solidFill>
            <a:srgbClr val="B24A17"/>
          </a:solidFill>
          <a:ln w="12700">
            <a:solidFill>
              <a:srgbClr val="B24A17"/>
            </a:solidFill>
            <a:prstDash val="solid"/>
          </a:ln>
        </p:spPr>
      </p:sp>
      <p:sp>
        <p:nvSpPr>
          <p:cNvPr id="43" name="Text 41"/>
          <p:cNvSpPr txBox="1"/>
          <p:nvPr/>
        </p:nvSpPr>
        <p:spPr>
          <a:xfrm>
            <a:off x="3931920" y="425196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G2</a:t>
            </a:r>
            <a:endParaRPr lang="en-US" sz="1100" dirty="0"/>
          </a:p>
        </p:txBody>
      </p:sp>
      <p:sp>
        <p:nvSpPr>
          <p:cNvPr id="44" name="Text 42"/>
          <p:cNvSpPr txBox="1"/>
          <p:nvPr/>
        </p:nvSpPr>
        <p:spPr>
          <a:xfrm>
            <a:off x="3474720" y="4773168"/>
            <a:ext cx="1417320" cy="274320"/>
          </a:xfrm>
          <a:prstGeom prst="rect">
            <a:avLst/>
          </a:prstGeom>
          <a:noFill/>
          <a:ln/>
        </p:spPr>
        <p:txBody>
          <a:bodyPr wrap="square" lIns="0" tIns="0" rIns="0" bIns="0" rtlCol="0" anchor="ctr"/>
          <a:lstStyle/>
          <a:p>
            <a:pPr algn="ctr" indent="0" marL="0">
              <a:buNone/>
            </a:pPr>
            <a:r>
              <a:rPr lang="en-US" sz="1000" dirty="0">
                <a:solidFill>
                  <a:srgbClr val="3A464B"/>
                </a:solidFill>
                <a:latin typeface="Calibri" pitchFamily="34" charset="0"/>
                <a:ea typeface="Calibri" pitchFamily="34" charset="-122"/>
                <a:cs typeface="Calibri" pitchFamily="34" charset="-120"/>
              </a:rPr>
              <a:t>design</a:t>
            </a:r>
            <a:endParaRPr lang="en-US" sz="1000" dirty="0"/>
          </a:p>
        </p:txBody>
      </p:sp>
      <p:sp>
        <p:nvSpPr>
          <p:cNvPr id="45" name="Shape 43"/>
          <p:cNvSpPr/>
          <p:nvPr/>
        </p:nvSpPr>
        <p:spPr>
          <a:xfrm>
            <a:off x="8869680" y="4251960"/>
            <a:ext cx="502920" cy="502920"/>
          </a:xfrm>
          <a:prstGeom prst="ellipse">
            <a:avLst/>
          </a:prstGeom>
          <a:solidFill>
            <a:srgbClr val="B24A17"/>
          </a:solidFill>
          <a:ln w="12700">
            <a:solidFill>
              <a:srgbClr val="B24A17"/>
            </a:solidFill>
            <a:prstDash val="solid"/>
          </a:ln>
        </p:spPr>
      </p:sp>
      <p:sp>
        <p:nvSpPr>
          <p:cNvPr id="46" name="Text 44"/>
          <p:cNvSpPr txBox="1"/>
          <p:nvPr/>
        </p:nvSpPr>
        <p:spPr>
          <a:xfrm>
            <a:off x="8869680" y="425196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GS</a:t>
            </a:r>
            <a:endParaRPr lang="en-US" sz="1100" dirty="0"/>
          </a:p>
        </p:txBody>
      </p:sp>
      <p:sp>
        <p:nvSpPr>
          <p:cNvPr id="47" name="Text 45"/>
          <p:cNvSpPr txBox="1"/>
          <p:nvPr/>
        </p:nvSpPr>
        <p:spPr>
          <a:xfrm>
            <a:off x="8412480" y="4773168"/>
            <a:ext cx="1417320" cy="274320"/>
          </a:xfrm>
          <a:prstGeom prst="rect">
            <a:avLst/>
          </a:prstGeom>
          <a:noFill/>
          <a:ln/>
        </p:spPr>
        <p:txBody>
          <a:bodyPr wrap="square" lIns="0" tIns="0" rIns="0" bIns="0" rtlCol="0" anchor="ctr"/>
          <a:lstStyle/>
          <a:p>
            <a:pPr algn="ctr" indent="0" marL="0">
              <a:buNone/>
            </a:pPr>
            <a:r>
              <a:rPr lang="en-US" sz="1000" dirty="0">
                <a:solidFill>
                  <a:srgbClr val="3A464B"/>
                </a:solidFill>
                <a:latin typeface="Calibri" pitchFamily="34" charset="0"/>
                <a:ea typeface="Calibri" pitchFamily="34" charset="-122"/>
                <a:cs typeface="Calibri" pitchFamily="34" charset="-120"/>
              </a:rPr>
              <a:t>to staging</a:t>
            </a:r>
            <a:endParaRPr lang="en-US" sz="1000" dirty="0"/>
          </a:p>
        </p:txBody>
      </p:sp>
      <p:sp>
        <p:nvSpPr>
          <p:cNvPr id="48" name="Shape 46"/>
          <p:cNvSpPr/>
          <p:nvPr/>
        </p:nvSpPr>
        <p:spPr>
          <a:xfrm>
            <a:off x="10241280" y="4251960"/>
            <a:ext cx="502920" cy="502920"/>
          </a:xfrm>
          <a:prstGeom prst="ellipse">
            <a:avLst/>
          </a:prstGeom>
          <a:solidFill>
            <a:srgbClr val="B24A17"/>
          </a:solidFill>
          <a:ln w="12700">
            <a:solidFill>
              <a:srgbClr val="B24A17"/>
            </a:solidFill>
            <a:prstDash val="solid"/>
          </a:ln>
        </p:spPr>
      </p:sp>
      <p:sp>
        <p:nvSpPr>
          <p:cNvPr id="49" name="Text 47"/>
          <p:cNvSpPr txBox="1"/>
          <p:nvPr/>
        </p:nvSpPr>
        <p:spPr>
          <a:xfrm>
            <a:off x="10241280" y="425196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G3</a:t>
            </a:r>
            <a:endParaRPr lang="en-US" sz="1100" dirty="0"/>
          </a:p>
        </p:txBody>
      </p:sp>
      <p:sp>
        <p:nvSpPr>
          <p:cNvPr id="50" name="Text 48"/>
          <p:cNvSpPr txBox="1"/>
          <p:nvPr/>
        </p:nvSpPr>
        <p:spPr>
          <a:xfrm>
            <a:off x="9784080" y="4773168"/>
            <a:ext cx="1417320" cy="274320"/>
          </a:xfrm>
          <a:prstGeom prst="rect">
            <a:avLst/>
          </a:prstGeom>
          <a:noFill/>
          <a:ln/>
        </p:spPr>
        <p:txBody>
          <a:bodyPr wrap="square" lIns="0" tIns="0" rIns="0" bIns="0" rtlCol="0" anchor="ctr"/>
          <a:lstStyle/>
          <a:p>
            <a:pPr algn="ctr" indent="0" marL="0">
              <a:buNone/>
            </a:pPr>
            <a:r>
              <a:rPr lang="en-US" sz="1000" dirty="0">
                <a:solidFill>
                  <a:srgbClr val="3A464B"/>
                </a:solidFill>
                <a:latin typeface="Calibri" pitchFamily="34" charset="0"/>
                <a:ea typeface="Calibri" pitchFamily="34" charset="-122"/>
                <a:cs typeface="Calibri" pitchFamily="34" charset="-120"/>
              </a:rPr>
              <a:t>to production</a:t>
            </a:r>
            <a:endParaRPr lang="en-US" sz="1000" dirty="0"/>
          </a:p>
        </p:txBody>
      </p:sp>
      <p:sp>
        <p:nvSpPr>
          <p:cNvPr id="51" name="Text 49"/>
          <p:cNvSpPr txBox="1"/>
          <p:nvPr/>
        </p:nvSpPr>
        <p:spPr>
          <a:xfrm>
            <a:off x="4663440" y="3931920"/>
            <a:ext cx="3931920" cy="1097280"/>
          </a:xfrm>
          <a:prstGeom prst="rect">
            <a:avLst/>
          </a:prstGeom>
          <a:noFill/>
          <a:ln/>
        </p:spPr>
        <p:txBody>
          <a:bodyPr wrap="square" lIns="0" tIns="0" rIns="0" bIns="0" rtlCol="0" anchor="t"/>
          <a:lstStyle/>
          <a:p>
            <a:pPr indent="0" marL="0">
              <a:buNone/>
            </a:pPr>
            <a:r>
              <a:rPr lang="en-US" sz="1050" i="1" dirty="0">
                <a:solidFill>
                  <a:srgbClr val="3A464B"/>
                </a:solidFill>
                <a:latin typeface="Calibri" pitchFamily="34" charset="0"/>
                <a:ea typeface="Calibri" pitchFamily="34" charset="-122"/>
                <a:cs typeface="Calibri" pitchFamily="34" charset="-120"/>
              </a:rPr>
              <a:t>Everything between the gates runs unattended. Only GS and G3 can never be delegated: they are the moments something leaves the factory's own branches.</a:t>
            </a:r>
            <a:endParaRPr lang="en-US" sz="1050" dirty="0"/>
          </a:p>
        </p:txBody>
      </p:sp>
      <p:sp>
        <p:nvSpPr>
          <p:cNvPr id="52" name="Shape 50"/>
          <p:cNvSpPr/>
          <p:nvPr/>
        </p:nvSpPr>
        <p:spPr>
          <a:xfrm>
            <a:off x="548640" y="5212080"/>
            <a:ext cx="11064240" cy="1051560"/>
          </a:xfrm>
          <a:prstGeom prst="roundRect">
            <a:avLst>
              <a:gd name="adj" fmla="val 10435"/>
            </a:avLst>
          </a:prstGeom>
          <a:solidFill>
            <a:srgbClr val="DFEDEC"/>
          </a:solidFill>
          <a:ln w="12700">
            <a:solidFill>
              <a:srgbClr val="DFEDEC"/>
            </a:solidFill>
            <a:prstDash val="solid"/>
          </a:ln>
        </p:spPr>
      </p:sp>
      <p:sp>
        <p:nvSpPr>
          <p:cNvPr id="53" name="Text 51"/>
          <p:cNvSpPr txBox="1"/>
          <p:nvPr/>
        </p:nvSpPr>
        <p:spPr>
          <a:xfrm>
            <a:off x="749808" y="5376672"/>
            <a:ext cx="10661904" cy="749808"/>
          </a:xfrm>
          <a:prstGeom prst="rect">
            <a:avLst/>
          </a:prstGeom>
          <a:noFill/>
          <a:ln/>
        </p:spPr>
        <p:txBody>
          <a:bodyPr wrap="square" lIns="0" tIns="0" rIns="0" bIns="0" rtlCol="0" anchor="t"/>
          <a:lstStyle/>
          <a:p>
            <a:pPr indent="0" marL="0">
              <a:buNone/>
            </a:pPr>
            <a:r>
              <a:rPr lang="en-US" sz="1200" b="1" dirty="0">
                <a:solidFill>
                  <a:srgbClr val="0A3B39"/>
                </a:solidFill>
                <a:latin typeface="Calibri" pitchFamily="34" charset="0"/>
                <a:ea typeface="Calibri" pitchFamily="34" charset="-122"/>
                <a:cs typeface="Calibri" pitchFamily="34" charset="-120"/>
              </a:rPr>
              <a:t>Why it is the running case: </a:t>
            </a:r>
            <a:pPr indent="0" marL="0">
              <a:buNone/>
            </a:pPr>
            <a:r>
              <a:rPr lang="en-US" sz="1200" dirty="0">
                <a:solidFill>
                  <a:srgbClr val="0A3B39"/>
                </a:solidFill>
                <a:latin typeface="Calibri" pitchFamily="34" charset="0"/>
                <a:ea typeface="Calibri" pitchFamily="34" charset="-122"/>
                <a:cs typeface="Calibri" pitchFamily="34" charset="-120"/>
              </a:rPr>
              <a:t>the client's six outcomes — predictability, reporting, risk, automation, governance, AI readiness — are exactly what a factory-style pipeline forces you to design for. Participants see every concept of the program running on a real repository, and sit in the approver seats themselves.</a:t>
            </a:r>
            <a:endParaRPr lang="en-US" sz="1200" dirty="0"/>
          </a:p>
        </p:txBody>
      </p:sp>
      <p:sp>
        <p:nvSpPr>
          <p:cNvPr id="54" name="Text 5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55" name="Text 53"/>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THE FACTORY'S DESIGN PRINCIPLES — AND WHAT A PM TAKES FROM THEM</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Two foundations, one rule</a:t>
            </a:r>
            <a:endParaRPr lang="en-US" sz="3000" dirty="0"/>
          </a:p>
        </p:txBody>
      </p:sp>
      <p:sp>
        <p:nvSpPr>
          <p:cNvPr id="4" name="Shape 2"/>
          <p:cNvSpPr/>
          <p:nvPr/>
        </p:nvSpPr>
        <p:spPr>
          <a:xfrm>
            <a:off x="548640" y="1600200"/>
            <a:ext cx="3566160" cy="4572000"/>
          </a:xfrm>
          <a:prstGeom prst="roundRect">
            <a:avLst>
              <a:gd name="adj" fmla="val 3077"/>
            </a:avLst>
          </a:prstGeom>
          <a:solidFill>
            <a:srgbClr val="F4F6F6"/>
          </a:solidFill>
          <a:ln w="12700">
            <a:solidFill>
              <a:srgbClr val="F4F6F6"/>
            </a:solidFill>
            <a:prstDash val="solid"/>
          </a:ln>
        </p:spPr>
      </p:sp>
      <p:sp>
        <p:nvSpPr>
          <p:cNvPr id="5" name="Shape 3"/>
          <p:cNvSpPr/>
          <p:nvPr/>
        </p:nvSpPr>
        <p:spPr>
          <a:xfrm>
            <a:off x="777240" y="1783080"/>
            <a:ext cx="640080" cy="64008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30859" y="1936699"/>
            <a:ext cx="332842" cy="332842"/>
          </a:xfrm>
          <a:prstGeom prst="rect">
            <a:avLst/>
          </a:prstGeom>
        </p:spPr>
      </p:pic>
      <p:sp>
        <p:nvSpPr>
          <p:cNvPr id="7" name="Text 4"/>
          <p:cNvSpPr txBox="1"/>
          <p:nvPr/>
        </p:nvSpPr>
        <p:spPr>
          <a:xfrm>
            <a:off x="777240" y="2560320"/>
            <a:ext cx="3108960" cy="7772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GitHub is the state machine</a:t>
            </a:r>
            <a:endParaRPr lang="en-US" sz="1500" dirty="0"/>
          </a:p>
        </p:txBody>
      </p:sp>
      <p:sp>
        <p:nvSpPr>
          <p:cNvPr id="8" name="Text 5"/>
          <p:cNvSpPr txBox="1"/>
          <p:nvPr/>
        </p:nvSpPr>
        <p:spPr>
          <a:xfrm>
            <a:off x="777240" y="3337560"/>
            <a:ext cx="3108960" cy="1234440"/>
          </a:xfrm>
          <a:prstGeom prst="rect">
            <a:avLst/>
          </a:prstGeom>
          <a:noFill/>
          <a:ln/>
        </p:spPr>
        <p:txBody>
          <a:bodyPr wrap="square" lIns="0" tIns="0" rIns="0" bIns="0" rtlCol="0" anchor="t"/>
          <a:lstStyle/>
          <a:p>
            <a:pPr indent="0" marL="0">
              <a:buNone/>
            </a:pPr>
            <a:r>
              <a:rPr lang="en-US" sz="1150" dirty="0">
                <a:solidFill>
                  <a:srgbClr val="3A464B"/>
                </a:solidFill>
                <a:latin typeface="Calibri" pitchFamily="34" charset="0"/>
                <a:ea typeface="Calibri" pitchFamily="34" charset="-122"/>
                <a:cs typeface="Calibri" pitchFamily="34" charset="-120"/>
              </a:rPr>
              <a:t>Milestones are releases; issues, sub-issues and factory:* labels encode where every piece of work is. A label change is what wakes an agent.</a:t>
            </a:r>
            <a:endParaRPr lang="en-US" sz="1150" dirty="0"/>
          </a:p>
        </p:txBody>
      </p:sp>
      <p:sp>
        <p:nvSpPr>
          <p:cNvPr id="9" name="Shape 6"/>
          <p:cNvSpPr/>
          <p:nvPr/>
        </p:nvSpPr>
        <p:spPr>
          <a:xfrm>
            <a:off x="731520" y="4617720"/>
            <a:ext cx="3200400" cy="1417320"/>
          </a:xfrm>
          <a:prstGeom prst="roundRect">
            <a:avLst>
              <a:gd name="adj" fmla="val 6452"/>
            </a:avLst>
          </a:prstGeom>
          <a:solidFill>
            <a:srgbClr val="DFEDEC"/>
          </a:solidFill>
          <a:ln w="12700">
            <a:solidFill>
              <a:srgbClr val="DFEDEC"/>
            </a:solidFill>
            <a:prstDash val="solid"/>
          </a:ln>
        </p:spPr>
      </p:sp>
      <p:sp>
        <p:nvSpPr>
          <p:cNvPr id="10" name="Text 7"/>
          <p:cNvSpPr txBox="1"/>
          <p:nvPr/>
        </p:nvSpPr>
        <p:spPr>
          <a:xfrm>
            <a:off x="868680" y="4681728"/>
            <a:ext cx="2926080" cy="1298448"/>
          </a:xfrm>
          <a:prstGeom prst="rect">
            <a:avLst/>
          </a:prstGeom>
          <a:noFill/>
          <a:ln/>
        </p:spPr>
        <p:txBody>
          <a:bodyPr wrap="square" lIns="0" tIns="0" rIns="0" bIns="0" rtlCol="0" anchor="ctr"/>
          <a:lstStyle/>
          <a:p>
            <a:pPr indent="0" marL="0">
              <a:buNone/>
            </a:pPr>
            <a:r>
              <a:rPr lang="en-US" sz="1100" dirty="0">
                <a:solidFill>
                  <a:srgbClr val="0A3B39"/>
                </a:solidFill>
                <a:latin typeface="Calibri" pitchFamily="34" charset="0"/>
                <a:ea typeface="Calibri" pitchFamily="34" charset="-122"/>
                <a:cs typeface="Calibri" pitchFamily="34" charset="-120"/>
              </a:rPr>
              <a:t>For the PM: reporting becomes a query, not a meeting. Flow metrics come for free. Any human can take over any stage by moving the label.</a:t>
            </a:r>
            <a:endParaRPr lang="en-US" sz="1100" dirty="0"/>
          </a:p>
        </p:txBody>
      </p:sp>
      <p:sp>
        <p:nvSpPr>
          <p:cNvPr id="11" name="Shape 8"/>
          <p:cNvSpPr/>
          <p:nvPr/>
        </p:nvSpPr>
        <p:spPr>
          <a:xfrm>
            <a:off x="4297680" y="1600200"/>
            <a:ext cx="3566160" cy="4572000"/>
          </a:xfrm>
          <a:prstGeom prst="roundRect">
            <a:avLst>
              <a:gd name="adj" fmla="val 3077"/>
            </a:avLst>
          </a:prstGeom>
          <a:solidFill>
            <a:srgbClr val="F4F6F6"/>
          </a:solidFill>
          <a:ln w="12700">
            <a:solidFill>
              <a:srgbClr val="F4F6F6"/>
            </a:solidFill>
            <a:prstDash val="solid"/>
          </a:ln>
        </p:spPr>
      </p:sp>
      <p:sp>
        <p:nvSpPr>
          <p:cNvPr id="12" name="Shape 9"/>
          <p:cNvSpPr/>
          <p:nvPr/>
        </p:nvSpPr>
        <p:spPr>
          <a:xfrm>
            <a:off x="4526280" y="1783080"/>
            <a:ext cx="640080" cy="640080"/>
          </a:xfrm>
          <a:prstGeom prst="ellipse">
            <a:avLst/>
          </a:prstGeom>
          <a:solidFill>
            <a:srgbClr val="FFFFFF"/>
          </a:solidFill>
          <a:ln w="12700">
            <a:solidFill>
              <a:srgbClr val="FFFFFF"/>
            </a:solidFill>
            <a:prstDash val="solid"/>
          </a:ln>
        </p:spPr>
      </p:sp>
      <p:pic>
        <p:nvPicPr>
          <p:cNvPr id="13" name="Image 1" descr="preencoded.png">    </p:cNvPr>
          <p:cNvPicPr>
            <a:picLocks noChangeAspect="1"/>
          </p:cNvPicPr>
          <p:nvPr/>
        </p:nvPicPr>
        <p:blipFill>
          <a:blip r:embed="rId2"/>
          <a:stretch>
            <a:fillRect/>
          </a:stretch>
        </p:blipFill>
        <p:spPr>
          <a:xfrm>
            <a:off x="4679899" y="1936699"/>
            <a:ext cx="332842" cy="332842"/>
          </a:xfrm>
          <a:prstGeom prst="rect">
            <a:avLst/>
          </a:prstGeom>
        </p:spPr>
      </p:pic>
      <p:sp>
        <p:nvSpPr>
          <p:cNvPr id="14" name="Text 10"/>
          <p:cNvSpPr txBox="1"/>
          <p:nvPr/>
        </p:nvSpPr>
        <p:spPr>
          <a:xfrm>
            <a:off x="4526280" y="2560320"/>
            <a:ext cx="3108960" cy="7772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OpenSpec is the content</a:t>
            </a:r>
            <a:endParaRPr lang="en-US" sz="1500" dirty="0"/>
          </a:p>
        </p:txBody>
      </p:sp>
      <p:sp>
        <p:nvSpPr>
          <p:cNvPr id="15" name="Text 11"/>
          <p:cNvSpPr txBox="1"/>
          <p:nvPr/>
        </p:nvSpPr>
        <p:spPr>
          <a:xfrm>
            <a:off x="4526280" y="3337560"/>
            <a:ext cx="3108960" cy="1234440"/>
          </a:xfrm>
          <a:prstGeom prst="rect">
            <a:avLst/>
          </a:prstGeom>
          <a:noFill/>
          <a:ln/>
        </p:spPr>
        <p:txBody>
          <a:bodyPr wrap="square" lIns="0" tIns="0" rIns="0" bIns="0" rtlCol="0" anchor="t"/>
          <a:lstStyle/>
          <a:p>
            <a:pPr indent="0" marL="0">
              <a:buNone/>
            </a:pPr>
            <a:r>
              <a:rPr lang="en-US" sz="1150" dirty="0">
                <a:solidFill>
                  <a:srgbClr val="3A464B"/>
                </a:solidFill>
                <a:latin typeface="Calibri" pitchFamily="34" charset="0"/>
                <a:ea typeface="Calibri" pitchFamily="34" charset="-122"/>
                <a:cs typeface="Calibri" pitchFamily="34" charset="-120"/>
              </a:rPr>
              <a:t>What is being built — proposal, WHEN/THEN scenarios, technical design, task checklist — lives in the repo as plain Markdown, versioned with the code.</a:t>
            </a:r>
            <a:endParaRPr lang="en-US" sz="1150" dirty="0"/>
          </a:p>
        </p:txBody>
      </p:sp>
      <p:sp>
        <p:nvSpPr>
          <p:cNvPr id="16" name="Shape 12"/>
          <p:cNvSpPr/>
          <p:nvPr/>
        </p:nvSpPr>
        <p:spPr>
          <a:xfrm>
            <a:off x="4480560" y="4617720"/>
            <a:ext cx="3200400" cy="1417320"/>
          </a:xfrm>
          <a:prstGeom prst="roundRect">
            <a:avLst>
              <a:gd name="adj" fmla="val 6452"/>
            </a:avLst>
          </a:prstGeom>
          <a:solidFill>
            <a:srgbClr val="DFEDEC"/>
          </a:solidFill>
          <a:ln w="12700">
            <a:solidFill>
              <a:srgbClr val="DFEDEC"/>
            </a:solidFill>
            <a:prstDash val="solid"/>
          </a:ln>
        </p:spPr>
      </p:sp>
      <p:sp>
        <p:nvSpPr>
          <p:cNvPr id="17" name="Text 13"/>
          <p:cNvSpPr txBox="1"/>
          <p:nvPr/>
        </p:nvSpPr>
        <p:spPr>
          <a:xfrm>
            <a:off x="4617720" y="4681728"/>
            <a:ext cx="2926080" cy="1298448"/>
          </a:xfrm>
          <a:prstGeom prst="rect">
            <a:avLst/>
          </a:prstGeom>
          <a:noFill/>
          <a:ln/>
        </p:spPr>
        <p:txBody>
          <a:bodyPr wrap="square" lIns="0" tIns="0" rIns="0" bIns="0" rtlCol="0" anchor="ctr"/>
          <a:lstStyle/>
          <a:p>
            <a:pPr indent="0" marL="0">
              <a:buNone/>
            </a:pPr>
            <a:r>
              <a:rPr lang="en-US" sz="1100" dirty="0">
                <a:solidFill>
                  <a:srgbClr val="0A3B39"/>
                </a:solidFill>
                <a:latin typeface="Calibri" pitchFamily="34" charset="0"/>
                <a:ea typeface="Calibri" pitchFamily="34" charset="-122"/>
                <a:cs typeface="Calibri" pitchFamily="34" charset="-120"/>
              </a:rPr>
              <a:t>For the PM: the artifacts you review at a gate are short documents, not transcripts. Requirements, plan and design are one folder, one history.</a:t>
            </a:r>
            <a:endParaRPr lang="en-US" sz="1100" dirty="0"/>
          </a:p>
        </p:txBody>
      </p:sp>
      <p:sp>
        <p:nvSpPr>
          <p:cNvPr id="18" name="Shape 14"/>
          <p:cNvSpPr/>
          <p:nvPr/>
        </p:nvSpPr>
        <p:spPr>
          <a:xfrm>
            <a:off x="8046720" y="1600200"/>
            <a:ext cx="3566160" cy="4572000"/>
          </a:xfrm>
          <a:prstGeom prst="roundRect">
            <a:avLst>
              <a:gd name="adj" fmla="val 3077"/>
            </a:avLst>
          </a:prstGeom>
          <a:solidFill>
            <a:srgbClr val="F4F6F6"/>
          </a:solidFill>
          <a:ln w="12700">
            <a:solidFill>
              <a:srgbClr val="F4F6F6"/>
            </a:solidFill>
            <a:prstDash val="solid"/>
          </a:ln>
        </p:spPr>
      </p:sp>
      <p:sp>
        <p:nvSpPr>
          <p:cNvPr id="19" name="Shape 15"/>
          <p:cNvSpPr/>
          <p:nvPr/>
        </p:nvSpPr>
        <p:spPr>
          <a:xfrm>
            <a:off x="8275320" y="1783080"/>
            <a:ext cx="640080" cy="640080"/>
          </a:xfrm>
          <a:prstGeom prst="ellipse">
            <a:avLst/>
          </a:prstGeom>
          <a:solidFill>
            <a:srgbClr val="FFFFFF"/>
          </a:solidFill>
          <a:ln w="12700">
            <a:solidFill>
              <a:srgbClr val="FFFFFF"/>
            </a:solidFill>
            <a:prstDash val="solid"/>
          </a:ln>
        </p:spPr>
      </p:sp>
      <p:pic>
        <p:nvPicPr>
          <p:cNvPr id="20" name="Image 2" descr="preencoded.png">    </p:cNvPr>
          <p:cNvPicPr>
            <a:picLocks noChangeAspect="1"/>
          </p:cNvPicPr>
          <p:nvPr/>
        </p:nvPicPr>
        <p:blipFill>
          <a:blip r:embed="rId3"/>
          <a:stretch>
            <a:fillRect/>
          </a:stretch>
        </p:blipFill>
        <p:spPr>
          <a:xfrm>
            <a:off x="8428939" y="1936699"/>
            <a:ext cx="332842" cy="332842"/>
          </a:xfrm>
          <a:prstGeom prst="rect">
            <a:avLst/>
          </a:prstGeom>
        </p:spPr>
      </p:pic>
      <p:sp>
        <p:nvSpPr>
          <p:cNvPr id="21" name="Text 16"/>
          <p:cNvSpPr txBox="1"/>
          <p:nvPr/>
        </p:nvSpPr>
        <p:spPr>
          <a:xfrm>
            <a:off x="8275320" y="2560320"/>
            <a:ext cx="3108960" cy="77724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Issues carry state plus a link — never spec content</a:t>
            </a:r>
            <a:endParaRPr lang="en-US" sz="1500" dirty="0"/>
          </a:p>
        </p:txBody>
      </p:sp>
      <p:sp>
        <p:nvSpPr>
          <p:cNvPr id="22" name="Text 17"/>
          <p:cNvSpPr txBox="1"/>
          <p:nvPr/>
        </p:nvSpPr>
        <p:spPr>
          <a:xfrm>
            <a:off x="8275320" y="3337560"/>
            <a:ext cx="3108960" cy="1234440"/>
          </a:xfrm>
          <a:prstGeom prst="rect">
            <a:avLst/>
          </a:prstGeom>
          <a:noFill/>
          <a:ln/>
        </p:spPr>
        <p:txBody>
          <a:bodyPr wrap="square" lIns="0" tIns="0" rIns="0" bIns="0" rtlCol="0" anchor="t"/>
          <a:lstStyle/>
          <a:p>
            <a:pPr indent="0" marL="0">
              <a:buNone/>
            </a:pPr>
            <a:r>
              <a:rPr lang="en-US" sz="1150" dirty="0">
                <a:solidFill>
                  <a:srgbClr val="3A464B"/>
                </a:solidFill>
                <a:latin typeface="Calibri" pitchFamily="34" charset="0"/>
                <a:ea typeface="Calibri" pitchFamily="34" charset="-122"/>
                <a:cs typeface="Calibri" pitchFamily="34" charset="-120"/>
              </a:rPr>
              <a:t>Agents read requirements from the change folder, never from the issue body. That is what stops the two sources of truth from drifting.</a:t>
            </a:r>
            <a:endParaRPr lang="en-US" sz="1150" dirty="0"/>
          </a:p>
        </p:txBody>
      </p:sp>
      <p:sp>
        <p:nvSpPr>
          <p:cNvPr id="23" name="Shape 18"/>
          <p:cNvSpPr/>
          <p:nvPr/>
        </p:nvSpPr>
        <p:spPr>
          <a:xfrm>
            <a:off x="8229600" y="4617720"/>
            <a:ext cx="3200400" cy="1417320"/>
          </a:xfrm>
          <a:prstGeom prst="roundRect">
            <a:avLst>
              <a:gd name="adj" fmla="val 6452"/>
            </a:avLst>
          </a:prstGeom>
          <a:solidFill>
            <a:srgbClr val="DFEDEC"/>
          </a:solidFill>
          <a:ln w="12700">
            <a:solidFill>
              <a:srgbClr val="DFEDEC"/>
            </a:solidFill>
            <a:prstDash val="solid"/>
          </a:ln>
        </p:spPr>
      </p:sp>
      <p:sp>
        <p:nvSpPr>
          <p:cNvPr id="24" name="Text 19"/>
          <p:cNvSpPr txBox="1"/>
          <p:nvPr/>
        </p:nvSpPr>
        <p:spPr>
          <a:xfrm>
            <a:off x="8366760" y="4681728"/>
            <a:ext cx="2926080" cy="1298448"/>
          </a:xfrm>
          <a:prstGeom prst="rect">
            <a:avLst/>
          </a:prstGeom>
          <a:noFill/>
          <a:ln/>
        </p:spPr>
        <p:txBody>
          <a:bodyPr wrap="square" lIns="0" tIns="0" rIns="0" bIns="0" rtlCol="0" anchor="ctr"/>
          <a:lstStyle/>
          <a:p>
            <a:pPr indent="0" marL="0">
              <a:buNone/>
            </a:pPr>
            <a:r>
              <a:rPr lang="en-US" sz="1100" dirty="0">
                <a:solidFill>
                  <a:srgbClr val="0A3B39"/>
                </a:solidFill>
                <a:latin typeface="Calibri" pitchFamily="34" charset="0"/>
                <a:ea typeface="Calibri" pitchFamily="34" charset="-122"/>
                <a:cs typeface="Calibri" pitchFamily="34" charset="-120"/>
              </a:rPr>
              <a:t>For the PM: the single most common cause of delivery failure — the ticket says one thing, the document another — is designed out.</a:t>
            </a:r>
            <a:endParaRPr lang="en-US" sz="1100" dirty="0"/>
          </a:p>
        </p:txBody>
      </p:sp>
      <p:sp>
        <p:nvSpPr>
          <p:cNvPr id="25" name="Text 2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6" name="Text 21"/>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1 AGENDA · 4 HOURS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Day 1 — Generative AI for the project manager</a:t>
            </a:r>
            <a:endParaRPr lang="en-US" sz="3000" dirty="0"/>
          </a:p>
        </p:txBody>
      </p:sp>
      <p:sp>
        <p:nvSpPr>
          <p:cNvPr id="4" name="Text 2"/>
          <p:cNvSpPr txBox="1"/>
          <p:nvPr/>
        </p:nvSpPr>
        <p:spPr>
          <a:xfrm>
            <a:off x="548640" y="160020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0:00 – 1:00</a:t>
            </a:r>
            <a:endParaRPr lang="en-US" sz="1100" dirty="0"/>
          </a:p>
        </p:txBody>
      </p:sp>
      <p:sp>
        <p:nvSpPr>
          <p:cNvPr id="5" name="Shape 3"/>
          <p:cNvSpPr/>
          <p:nvPr/>
        </p:nvSpPr>
        <p:spPr>
          <a:xfrm>
            <a:off x="1645920" y="1655064"/>
            <a:ext cx="5943600" cy="457200"/>
          </a:xfrm>
          <a:prstGeom prst="roundRect">
            <a:avLst>
              <a:gd name="adj" fmla="val 20000"/>
            </a:avLst>
          </a:prstGeom>
          <a:solidFill>
            <a:srgbClr val="F4F6F6"/>
          </a:solidFill>
          <a:ln w="12700">
            <a:solidFill>
              <a:srgbClr val="F4F6F6"/>
            </a:solidFill>
            <a:prstDash val="solid"/>
          </a:ln>
        </p:spPr>
      </p:sp>
      <p:sp>
        <p:nvSpPr>
          <p:cNvPr id="6" name="Text 4"/>
          <p:cNvSpPr txBox="1"/>
          <p:nvPr/>
        </p:nvSpPr>
        <p:spPr>
          <a:xfrm>
            <a:off x="1810512" y="165506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Introduction to Generative AI in PM</a:t>
            </a:r>
            <a:pPr indent="0" marL="0">
              <a:buNone/>
            </a:pPr>
            <a:r>
              <a:rPr lang="en-US" sz="1100" dirty="0">
                <a:solidFill>
                  <a:srgbClr val="3A464B"/>
                </a:solidFill>
                <a:latin typeface="Calibri" pitchFamily="34" charset="0"/>
                <a:ea typeface="Calibri" pitchFamily="34" charset="-122"/>
                <a:cs typeface="Calibri" pitchFamily="34" charset="-120"/>
              </a:rPr>
              <a:t>   LLMs for PMs · assistant / copilot / agent · prompting patterns</a:t>
            </a:r>
            <a:endParaRPr lang="en-US" sz="1250" dirty="0"/>
          </a:p>
        </p:txBody>
      </p:sp>
      <p:sp>
        <p:nvSpPr>
          <p:cNvPr id="7" name="Text 5"/>
          <p:cNvSpPr txBox="1"/>
          <p:nvPr/>
        </p:nvSpPr>
        <p:spPr>
          <a:xfrm>
            <a:off x="548640" y="2203704"/>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1:00 – 1:10</a:t>
            </a:r>
            <a:endParaRPr lang="en-US" sz="1100" dirty="0"/>
          </a:p>
        </p:txBody>
      </p:sp>
      <p:sp>
        <p:nvSpPr>
          <p:cNvPr id="8" name="Shape 6"/>
          <p:cNvSpPr/>
          <p:nvPr/>
        </p:nvSpPr>
        <p:spPr>
          <a:xfrm>
            <a:off x="1645920" y="2258568"/>
            <a:ext cx="5943600" cy="457200"/>
          </a:xfrm>
          <a:prstGeom prst="roundRect">
            <a:avLst>
              <a:gd name="adj" fmla="val 20000"/>
            </a:avLst>
          </a:prstGeom>
          <a:solidFill>
            <a:srgbClr val="F4F6F6"/>
          </a:solidFill>
          <a:ln w="12700">
            <a:solidFill>
              <a:srgbClr val="F4F6F6"/>
            </a:solidFill>
            <a:prstDash val="solid"/>
          </a:ln>
        </p:spPr>
      </p:sp>
      <p:sp>
        <p:nvSpPr>
          <p:cNvPr id="9" name="Text 7"/>
          <p:cNvSpPr txBox="1"/>
          <p:nvPr/>
        </p:nvSpPr>
        <p:spPr>
          <a:xfrm>
            <a:off x="1810512" y="2258568"/>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0" name="Text 8"/>
          <p:cNvSpPr txBox="1"/>
          <p:nvPr/>
        </p:nvSpPr>
        <p:spPr>
          <a:xfrm>
            <a:off x="548640" y="2807208"/>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1:10 – 2:25</a:t>
            </a:r>
            <a:endParaRPr lang="en-US" sz="1100" dirty="0"/>
          </a:p>
        </p:txBody>
      </p:sp>
      <p:sp>
        <p:nvSpPr>
          <p:cNvPr id="11" name="Shape 9"/>
          <p:cNvSpPr/>
          <p:nvPr/>
        </p:nvSpPr>
        <p:spPr>
          <a:xfrm>
            <a:off x="1645920" y="2862072"/>
            <a:ext cx="5943600" cy="457200"/>
          </a:xfrm>
          <a:prstGeom prst="roundRect">
            <a:avLst>
              <a:gd name="adj" fmla="val 20000"/>
            </a:avLst>
          </a:prstGeom>
          <a:solidFill>
            <a:srgbClr val="F4F6F6"/>
          </a:solidFill>
          <a:ln w="12700">
            <a:solidFill>
              <a:srgbClr val="F4F6F6"/>
            </a:solidFill>
            <a:prstDash val="solid"/>
          </a:ln>
        </p:spPr>
      </p:sp>
      <p:sp>
        <p:nvSpPr>
          <p:cNvPr id="12" name="Text 10"/>
          <p:cNvSpPr txBox="1"/>
          <p:nvPr/>
        </p:nvSpPr>
        <p:spPr>
          <a:xfrm>
            <a:off x="1810512" y="2862072"/>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AI-driven forecasting and risk management</a:t>
            </a:r>
            <a:pPr indent="0" marL="0">
              <a:buNone/>
            </a:pPr>
            <a:r>
              <a:rPr lang="en-US" sz="1100" dirty="0">
                <a:solidFill>
                  <a:srgbClr val="3A464B"/>
                </a:solidFill>
                <a:latin typeface="Calibri" pitchFamily="34" charset="0"/>
                <a:ea typeface="Calibri" pitchFamily="34" charset="-122"/>
                <a:cs typeface="Calibri" pitchFamily="34" charset="-120"/>
              </a:rPr>
              <a:t>   Throughput, Monte Carlo, risk mining, early-warning signals</a:t>
            </a:r>
            <a:endParaRPr lang="en-US" sz="1250" dirty="0"/>
          </a:p>
        </p:txBody>
      </p:sp>
      <p:sp>
        <p:nvSpPr>
          <p:cNvPr id="13" name="Text 11"/>
          <p:cNvSpPr txBox="1"/>
          <p:nvPr/>
        </p:nvSpPr>
        <p:spPr>
          <a:xfrm>
            <a:off x="548640" y="3410712"/>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2:25 – 2:35</a:t>
            </a:r>
            <a:endParaRPr lang="en-US" sz="1100" dirty="0"/>
          </a:p>
        </p:txBody>
      </p:sp>
      <p:sp>
        <p:nvSpPr>
          <p:cNvPr id="14" name="Shape 12"/>
          <p:cNvSpPr/>
          <p:nvPr/>
        </p:nvSpPr>
        <p:spPr>
          <a:xfrm>
            <a:off x="1645920" y="3465576"/>
            <a:ext cx="5943600" cy="457200"/>
          </a:xfrm>
          <a:prstGeom prst="roundRect">
            <a:avLst>
              <a:gd name="adj" fmla="val 20000"/>
            </a:avLst>
          </a:prstGeom>
          <a:solidFill>
            <a:srgbClr val="F4F6F6"/>
          </a:solidFill>
          <a:ln w="12700">
            <a:solidFill>
              <a:srgbClr val="F4F6F6"/>
            </a:solidFill>
            <a:prstDash val="solid"/>
          </a:ln>
        </p:spPr>
      </p:sp>
      <p:sp>
        <p:nvSpPr>
          <p:cNvPr id="15" name="Text 13"/>
          <p:cNvSpPr txBox="1"/>
          <p:nvPr/>
        </p:nvSpPr>
        <p:spPr>
          <a:xfrm>
            <a:off x="1810512" y="3465576"/>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6" name="Text 14"/>
          <p:cNvSpPr txBox="1"/>
          <p:nvPr/>
        </p:nvSpPr>
        <p:spPr>
          <a:xfrm>
            <a:off x="548640" y="4014216"/>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2:35 – 3:50</a:t>
            </a:r>
            <a:endParaRPr lang="en-US" sz="1100" dirty="0"/>
          </a:p>
        </p:txBody>
      </p:sp>
      <p:sp>
        <p:nvSpPr>
          <p:cNvPr id="17" name="Shape 15"/>
          <p:cNvSpPr/>
          <p:nvPr/>
        </p:nvSpPr>
        <p:spPr>
          <a:xfrm>
            <a:off x="1645920" y="4069080"/>
            <a:ext cx="5943600" cy="457200"/>
          </a:xfrm>
          <a:prstGeom prst="roundRect">
            <a:avLst>
              <a:gd name="adj" fmla="val 20000"/>
            </a:avLst>
          </a:prstGeom>
          <a:solidFill>
            <a:srgbClr val="FAEDE4"/>
          </a:solidFill>
          <a:ln w="12700">
            <a:solidFill>
              <a:srgbClr val="FAEDE4"/>
            </a:solidFill>
            <a:prstDash val="solid"/>
          </a:ln>
        </p:spPr>
      </p:sp>
      <p:sp>
        <p:nvSpPr>
          <p:cNvPr id="18" name="Text 16"/>
          <p:cNvSpPr txBox="1"/>
          <p:nvPr/>
        </p:nvSpPr>
        <p:spPr>
          <a:xfrm>
            <a:off x="1810512" y="4069080"/>
            <a:ext cx="5669280" cy="45720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Hands-on: from brief to plan; forecast</a:t>
            </a:r>
            <a:pPr indent="0" marL="0">
              <a:buNone/>
            </a:pPr>
            <a:r>
              <a:rPr lang="en-US" sz="1100" dirty="0">
                <a:solidFill>
                  <a:srgbClr val="3A464B"/>
                </a:solidFill>
                <a:latin typeface="Calibri" pitchFamily="34" charset="0"/>
                <a:ea typeface="Calibri" pitchFamily="34" charset="-122"/>
                <a:cs typeface="Calibri" pitchFamily="34" charset="-120"/>
              </a:rPr>
              <a:t>   Lab 1A charter / WBS / risks · Lab 1B Monte Carlo</a:t>
            </a:r>
            <a:endParaRPr lang="en-US" sz="1250" dirty="0"/>
          </a:p>
        </p:txBody>
      </p:sp>
      <p:sp>
        <p:nvSpPr>
          <p:cNvPr id="19" name="Text 17"/>
          <p:cNvSpPr txBox="1"/>
          <p:nvPr/>
        </p:nvSpPr>
        <p:spPr>
          <a:xfrm>
            <a:off x="548640" y="461772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3:50 – 4:00</a:t>
            </a:r>
            <a:endParaRPr lang="en-US" sz="1100" dirty="0"/>
          </a:p>
        </p:txBody>
      </p:sp>
      <p:sp>
        <p:nvSpPr>
          <p:cNvPr id="20" name="Shape 18"/>
          <p:cNvSpPr/>
          <p:nvPr/>
        </p:nvSpPr>
        <p:spPr>
          <a:xfrm>
            <a:off x="1645920" y="4672584"/>
            <a:ext cx="5943600" cy="457200"/>
          </a:xfrm>
          <a:prstGeom prst="roundRect">
            <a:avLst>
              <a:gd name="adj" fmla="val 20000"/>
            </a:avLst>
          </a:prstGeom>
          <a:solidFill>
            <a:srgbClr val="F4F6F6"/>
          </a:solidFill>
          <a:ln w="12700">
            <a:solidFill>
              <a:srgbClr val="F4F6F6"/>
            </a:solidFill>
            <a:prstDash val="solid"/>
          </a:ln>
        </p:spPr>
      </p:sp>
      <p:sp>
        <p:nvSpPr>
          <p:cNvPr id="21" name="Text 19"/>
          <p:cNvSpPr txBox="1"/>
          <p:nvPr/>
        </p:nvSpPr>
        <p:spPr>
          <a:xfrm>
            <a:off x="1810512" y="467258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Closing round</a:t>
            </a:r>
            <a:pPr indent="0" marL="0">
              <a:buNone/>
            </a:pPr>
            <a:endParaRPr lang="en-US" sz="1250" dirty="0"/>
          </a:p>
        </p:txBody>
      </p:sp>
      <p:sp>
        <p:nvSpPr>
          <p:cNvPr id="22" name="Shape 20"/>
          <p:cNvSpPr/>
          <p:nvPr/>
        </p:nvSpPr>
        <p:spPr>
          <a:xfrm>
            <a:off x="7955280" y="1600200"/>
            <a:ext cx="3703320" cy="2011680"/>
          </a:xfrm>
          <a:prstGeom prst="roundRect">
            <a:avLst>
              <a:gd name="adj" fmla="val 5455"/>
            </a:avLst>
          </a:prstGeom>
          <a:solidFill>
            <a:srgbClr val="F4F6F6"/>
          </a:solidFill>
          <a:ln w="12700">
            <a:solidFill>
              <a:srgbClr val="F4F6F6"/>
            </a:solidFill>
            <a:prstDash val="solid"/>
          </a:ln>
        </p:spPr>
      </p:sp>
      <p:sp>
        <p:nvSpPr>
          <p:cNvPr id="23" name="Text 21"/>
          <p:cNvSpPr txBox="1"/>
          <p:nvPr/>
        </p:nvSpPr>
        <p:spPr>
          <a:xfrm>
            <a:off x="8156448" y="1764792"/>
            <a:ext cx="330098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Client ToC modules covered</a:t>
            </a:r>
            <a:endParaRPr lang="en-US" sz="1300" dirty="0"/>
          </a:p>
        </p:txBody>
      </p:sp>
      <p:sp>
        <p:nvSpPr>
          <p:cNvPr id="24" name="Text 22"/>
          <p:cNvSpPr txBox="1"/>
          <p:nvPr/>
        </p:nvSpPr>
        <p:spPr>
          <a:xfrm>
            <a:off x="8156448" y="2176272"/>
            <a:ext cx="3300984" cy="129844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Introduction to Generative AI in Project Management</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AI-Driven Project Forecasting and Risk Management</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Hands-On Exercise</a:t>
            </a:r>
            <a:endParaRPr lang="en-US" sz="1100" dirty="0"/>
          </a:p>
        </p:txBody>
      </p:sp>
      <p:sp>
        <p:nvSpPr>
          <p:cNvPr id="25" name="Shape 23"/>
          <p:cNvSpPr/>
          <p:nvPr/>
        </p:nvSpPr>
        <p:spPr>
          <a:xfrm>
            <a:off x="7955280" y="3794760"/>
            <a:ext cx="3703320" cy="2331720"/>
          </a:xfrm>
          <a:prstGeom prst="roundRect">
            <a:avLst>
              <a:gd name="adj" fmla="val 4706"/>
            </a:avLst>
          </a:prstGeom>
          <a:solidFill>
            <a:srgbClr val="DFEDEC"/>
          </a:solidFill>
          <a:ln w="12700">
            <a:solidFill>
              <a:srgbClr val="DFEDEC"/>
            </a:solidFill>
            <a:prstDash val="solid"/>
          </a:ln>
        </p:spPr>
      </p:sp>
      <p:sp>
        <p:nvSpPr>
          <p:cNvPr id="26" name="Text 24"/>
          <p:cNvSpPr txBox="1"/>
          <p:nvPr/>
        </p:nvSpPr>
        <p:spPr>
          <a:xfrm>
            <a:off x="8156448" y="3959352"/>
            <a:ext cx="3300984" cy="365760"/>
          </a:xfrm>
          <a:prstGeom prst="rect">
            <a:avLst/>
          </a:prstGeom>
          <a:noFill/>
          <a:ln/>
        </p:spPr>
        <p:txBody>
          <a:bodyPr wrap="square" lIns="0" tIns="0" rIns="0" bIns="0" rtlCol="0" anchor="t"/>
          <a:lstStyle/>
          <a:p>
            <a:pPr indent="0" marL="0">
              <a:buNone/>
            </a:pPr>
            <a:r>
              <a:rPr lang="en-US" sz="1300" b="1" dirty="0">
                <a:solidFill>
                  <a:srgbClr val="0A3B39"/>
                </a:solidFill>
                <a:latin typeface="Cambria" pitchFamily="34" charset="0"/>
                <a:ea typeface="Cambria" pitchFamily="34" charset="-122"/>
                <a:cs typeface="Cambria" pitchFamily="34" charset="-120"/>
              </a:rPr>
              <a:t>Software Factory thread</a:t>
            </a:r>
            <a:endParaRPr lang="en-US" sz="1300" dirty="0"/>
          </a:p>
        </p:txBody>
      </p:sp>
      <p:sp>
        <p:nvSpPr>
          <p:cNvPr id="27" name="Text 25"/>
          <p:cNvSpPr txBox="1"/>
          <p:nvPr/>
        </p:nvSpPr>
        <p:spPr>
          <a:xfrm>
            <a:off x="8156448" y="4370832"/>
            <a:ext cx="3300984" cy="161848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Intake Analyst: an agent that stops and asks (factory:blocked) instead of inventing requirements</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Scrum Master: release scope, sequencing, risks and a GO / NO-GO on the whole milestone before anything starts</a:t>
            </a:r>
            <a:endParaRPr lang="en-US" sz="1100" dirty="0"/>
          </a:p>
        </p:txBody>
      </p:sp>
      <p:sp>
        <p:nvSpPr>
          <p:cNvPr id="28" name="Text 2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9" name="Text 2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1 · MODULE 1.1 · AND WHERE IT DOES NOT</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Where Generative AI fits in the PM lifecycle</a:t>
            </a:r>
            <a:endParaRPr lang="en-US" sz="3000" dirty="0"/>
          </a:p>
        </p:txBody>
      </p:sp>
      <p:sp>
        <p:nvSpPr>
          <p:cNvPr id="4" name="Shape 2"/>
          <p:cNvSpPr/>
          <p:nvPr/>
        </p:nvSpPr>
        <p:spPr>
          <a:xfrm>
            <a:off x="548640" y="1600200"/>
            <a:ext cx="2240280" cy="548640"/>
          </a:xfrm>
          <a:prstGeom prst="chevron">
            <a:avLst/>
          </a:prstGeom>
          <a:solidFill>
            <a:srgbClr val="0B6E6B"/>
          </a:solidFill>
          <a:ln w="12700">
            <a:solidFill>
              <a:srgbClr val="FFFFFF"/>
            </a:solidFill>
            <a:prstDash val="solid"/>
          </a:ln>
        </p:spPr>
      </p:sp>
      <p:sp>
        <p:nvSpPr>
          <p:cNvPr id="5" name="Text 3"/>
          <p:cNvSpPr txBox="1"/>
          <p:nvPr/>
        </p:nvSpPr>
        <p:spPr>
          <a:xfrm>
            <a:off x="685800" y="1600200"/>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Initiate</a:t>
            </a:r>
            <a:endParaRPr lang="en-US" sz="1300" dirty="0"/>
          </a:p>
        </p:txBody>
      </p:sp>
      <p:sp>
        <p:nvSpPr>
          <p:cNvPr id="6" name="Shape 4"/>
          <p:cNvSpPr/>
          <p:nvPr/>
        </p:nvSpPr>
        <p:spPr>
          <a:xfrm>
            <a:off x="548640" y="2240280"/>
            <a:ext cx="2103120" cy="2468880"/>
          </a:xfrm>
          <a:prstGeom prst="roundRect">
            <a:avLst>
              <a:gd name="adj" fmla="val 5217"/>
            </a:avLst>
          </a:prstGeom>
          <a:solidFill>
            <a:srgbClr val="F4F6F6"/>
          </a:solidFill>
          <a:ln w="12700">
            <a:solidFill>
              <a:srgbClr val="F4F6F6"/>
            </a:solidFill>
            <a:prstDash val="solid"/>
          </a:ln>
        </p:spPr>
      </p:sp>
      <p:sp>
        <p:nvSpPr>
          <p:cNvPr id="7" name="Text 5"/>
          <p:cNvSpPr txBox="1"/>
          <p:nvPr/>
        </p:nvSpPr>
        <p:spPr>
          <a:xfrm>
            <a:off x="749808" y="2404872"/>
            <a:ext cx="1700784" cy="216712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Charter and business case drafts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Stakeholder map</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Assumption and question lists</a:t>
            </a:r>
            <a:endParaRPr lang="en-US" sz="1150" dirty="0"/>
          </a:p>
        </p:txBody>
      </p:sp>
      <p:sp>
        <p:nvSpPr>
          <p:cNvPr id="8" name="Shape 6"/>
          <p:cNvSpPr/>
          <p:nvPr/>
        </p:nvSpPr>
        <p:spPr>
          <a:xfrm>
            <a:off x="548640" y="4800600"/>
            <a:ext cx="2103120" cy="292608"/>
          </a:xfrm>
          <a:prstGeom prst="roundRect">
            <a:avLst>
              <a:gd name="adj" fmla="val 50000"/>
            </a:avLst>
          </a:prstGeom>
          <a:solidFill>
            <a:srgbClr val="DFEDEC"/>
          </a:solidFill>
          <a:ln w="6350">
            <a:solidFill>
              <a:srgbClr val="DFEDEC"/>
            </a:solidFill>
            <a:prstDash val="solid"/>
          </a:ln>
        </p:spPr>
      </p:sp>
      <p:sp>
        <p:nvSpPr>
          <p:cNvPr id="9" name="Text 7"/>
          <p:cNvSpPr txBox="1"/>
          <p:nvPr/>
        </p:nvSpPr>
        <p:spPr>
          <a:xfrm>
            <a:off x="548640" y="4800600"/>
            <a:ext cx="2103120"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alibri" pitchFamily="34" charset="0"/>
                <a:ea typeface="Calibri" pitchFamily="34" charset="-122"/>
                <a:cs typeface="Calibri" pitchFamily="34" charset="-120"/>
              </a:rPr>
              <a:t>Assistant</a:t>
            </a:r>
            <a:endParaRPr lang="en-US" sz="1000" dirty="0"/>
          </a:p>
        </p:txBody>
      </p:sp>
      <p:sp>
        <p:nvSpPr>
          <p:cNvPr id="10" name="Shape 8"/>
          <p:cNvSpPr/>
          <p:nvPr/>
        </p:nvSpPr>
        <p:spPr>
          <a:xfrm>
            <a:off x="2788920" y="1600200"/>
            <a:ext cx="2240280" cy="548640"/>
          </a:xfrm>
          <a:prstGeom prst="chevron">
            <a:avLst/>
          </a:prstGeom>
          <a:solidFill>
            <a:srgbClr val="0B6E6B"/>
          </a:solidFill>
          <a:ln w="12700">
            <a:solidFill>
              <a:srgbClr val="FFFFFF"/>
            </a:solidFill>
            <a:prstDash val="solid"/>
          </a:ln>
        </p:spPr>
      </p:sp>
      <p:sp>
        <p:nvSpPr>
          <p:cNvPr id="11" name="Text 9"/>
          <p:cNvSpPr txBox="1"/>
          <p:nvPr/>
        </p:nvSpPr>
        <p:spPr>
          <a:xfrm>
            <a:off x="2926080" y="1600200"/>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12" name="Shape 10"/>
          <p:cNvSpPr/>
          <p:nvPr/>
        </p:nvSpPr>
        <p:spPr>
          <a:xfrm>
            <a:off x="2788920" y="2240280"/>
            <a:ext cx="2103120" cy="2468880"/>
          </a:xfrm>
          <a:prstGeom prst="roundRect">
            <a:avLst>
              <a:gd name="adj" fmla="val 5217"/>
            </a:avLst>
          </a:prstGeom>
          <a:solidFill>
            <a:srgbClr val="F4F6F6"/>
          </a:solidFill>
          <a:ln w="12700">
            <a:solidFill>
              <a:srgbClr val="F4F6F6"/>
            </a:solidFill>
            <a:prstDash val="solid"/>
          </a:ln>
        </p:spPr>
      </p:sp>
      <p:sp>
        <p:nvSpPr>
          <p:cNvPr id="13" name="Text 11"/>
          <p:cNvSpPr txBox="1"/>
          <p:nvPr/>
        </p:nvSpPr>
        <p:spPr>
          <a:xfrm>
            <a:off x="2990088" y="2404872"/>
            <a:ext cx="1700784" cy="216712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WBS, RACI, schedule skeleton</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Estimate ranges with rationale</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Requirements → acceptance scenarios</a:t>
            </a:r>
            <a:endParaRPr lang="en-US" sz="1150" dirty="0"/>
          </a:p>
        </p:txBody>
      </p:sp>
      <p:sp>
        <p:nvSpPr>
          <p:cNvPr id="14" name="Shape 12"/>
          <p:cNvSpPr/>
          <p:nvPr/>
        </p:nvSpPr>
        <p:spPr>
          <a:xfrm>
            <a:off x="2788920" y="4800600"/>
            <a:ext cx="2103120" cy="292608"/>
          </a:xfrm>
          <a:prstGeom prst="roundRect">
            <a:avLst>
              <a:gd name="adj" fmla="val 50000"/>
            </a:avLst>
          </a:prstGeom>
          <a:solidFill>
            <a:srgbClr val="DFEDEC"/>
          </a:solidFill>
          <a:ln w="6350">
            <a:solidFill>
              <a:srgbClr val="DFEDEC"/>
            </a:solidFill>
            <a:prstDash val="solid"/>
          </a:ln>
        </p:spPr>
      </p:sp>
      <p:sp>
        <p:nvSpPr>
          <p:cNvPr id="15" name="Text 13"/>
          <p:cNvSpPr txBox="1"/>
          <p:nvPr/>
        </p:nvSpPr>
        <p:spPr>
          <a:xfrm>
            <a:off x="2788920" y="4800600"/>
            <a:ext cx="2103120"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alibri" pitchFamily="34" charset="0"/>
                <a:ea typeface="Calibri" pitchFamily="34" charset="-122"/>
                <a:cs typeface="Calibri" pitchFamily="34" charset="-120"/>
              </a:rPr>
              <a:t>Assistant → Agent</a:t>
            </a:r>
            <a:endParaRPr lang="en-US" sz="1000" dirty="0"/>
          </a:p>
        </p:txBody>
      </p:sp>
      <p:sp>
        <p:nvSpPr>
          <p:cNvPr id="16" name="Shape 14"/>
          <p:cNvSpPr/>
          <p:nvPr/>
        </p:nvSpPr>
        <p:spPr>
          <a:xfrm>
            <a:off x="5029200" y="1600200"/>
            <a:ext cx="2240280" cy="548640"/>
          </a:xfrm>
          <a:prstGeom prst="chevron">
            <a:avLst/>
          </a:prstGeom>
          <a:solidFill>
            <a:srgbClr val="0B6E6B"/>
          </a:solidFill>
          <a:ln w="12700">
            <a:solidFill>
              <a:srgbClr val="FFFFFF"/>
            </a:solidFill>
            <a:prstDash val="solid"/>
          </a:ln>
        </p:spPr>
      </p:sp>
      <p:sp>
        <p:nvSpPr>
          <p:cNvPr id="17" name="Text 15"/>
          <p:cNvSpPr txBox="1"/>
          <p:nvPr/>
        </p:nvSpPr>
        <p:spPr>
          <a:xfrm>
            <a:off x="5166360" y="1600200"/>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Execute</a:t>
            </a:r>
            <a:endParaRPr lang="en-US" sz="1300" dirty="0"/>
          </a:p>
        </p:txBody>
      </p:sp>
      <p:sp>
        <p:nvSpPr>
          <p:cNvPr id="18" name="Shape 16"/>
          <p:cNvSpPr/>
          <p:nvPr/>
        </p:nvSpPr>
        <p:spPr>
          <a:xfrm>
            <a:off x="5029200" y="2240280"/>
            <a:ext cx="2103120" cy="2468880"/>
          </a:xfrm>
          <a:prstGeom prst="roundRect">
            <a:avLst>
              <a:gd name="adj" fmla="val 5217"/>
            </a:avLst>
          </a:prstGeom>
          <a:solidFill>
            <a:srgbClr val="F4F6F6"/>
          </a:solidFill>
          <a:ln w="12700">
            <a:solidFill>
              <a:srgbClr val="F4F6F6"/>
            </a:solidFill>
            <a:prstDash val="solid"/>
          </a:ln>
        </p:spPr>
      </p:sp>
      <p:sp>
        <p:nvSpPr>
          <p:cNvPr id="19" name="Text 17"/>
          <p:cNvSpPr txBox="1"/>
          <p:nvPr/>
        </p:nvSpPr>
        <p:spPr>
          <a:xfrm>
            <a:off x="5230368" y="2404872"/>
            <a:ext cx="1700784" cy="216712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Meeting → decisions and actions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Change-request summaries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Agents implementing tasks</a:t>
            </a:r>
            <a:endParaRPr lang="en-US" sz="1150" dirty="0"/>
          </a:p>
        </p:txBody>
      </p:sp>
      <p:sp>
        <p:nvSpPr>
          <p:cNvPr id="20" name="Shape 18"/>
          <p:cNvSpPr/>
          <p:nvPr/>
        </p:nvSpPr>
        <p:spPr>
          <a:xfrm>
            <a:off x="5029200" y="4800600"/>
            <a:ext cx="2103120" cy="292608"/>
          </a:xfrm>
          <a:prstGeom prst="roundRect">
            <a:avLst>
              <a:gd name="adj" fmla="val 50000"/>
            </a:avLst>
          </a:prstGeom>
          <a:solidFill>
            <a:srgbClr val="DFEDEC"/>
          </a:solidFill>
          <a:ln w="6350">
            <a:solidFill>
              <a:srgbClr val="DFEDEC"/>
            </a:solidFill>
            <a:prstDash val="solid"/>
          </a:ln>
        </p:spPr>
      </p:sp>
      <p:sp>
        <p:nvSpPr>
          <p:cNvPr id="21" name="Text 19"/>
          <p:cNvSpPr txBox="1"/>
          <p:nvPr/>
        </p:nvSpPr>
        <p:spPr>
          <a:xfrm>
            <a:off x="5029200" y="4800600"/>
            <a:ext cx="2103120"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alibri" pitchFamily="34" charset="0"/>
                <a:ea typeface="Calibri" pitchFamily="34" charset="-122"/>
                <a:cs typeface="Calibri" pitchFamily="34" charset="-120"/>
              </a:rPr>
              <a:t>Copilot → Agent</a:t>
            </a:r>
            <a:endParaRPr lang="en-US" sz="1000" dirty="0"/>
          </a:p>
        </p:txBody>
      </p:sp>
      <p:sp>
        <p:nvSpPr>
          <p:cNvPr id="22" name="Shape 20"/>
          <p:cNvSpPr/>
          <p:nvPr/>
        </p:nvSpPr>
        <p:spPr>
          <a:xfrm>
            <a:off x="7269480" y="1600200"/>
            <a:ext cx="2240280" cy="548640"/>
          </a:xfrm>
          <a:prstGeom prst="chevron">
            <a:avLst/>
          </a:prstGeom>
          <a:solidFill>
            <a:srgbClr val="0B6E6B"/>
          </a:solidFill>
          <a:ln w="12700">
            <a:solidFill>
              <a:srgbClr val="FFFFFF"/>
            </a:solidFill>
            <a:prstDash val="solid"/>
          </a:ln>
        </p:spPr>
      </p:sp>
      <p:sp>
        <p:nvSpPr>
          <p:cNvPr id="23" name="Text 21"/>
          <p:cNvSpPr txBox="1"/>
          <p:nvPr/>
        </p:nvSpPr>
        <p:spPr>
          <a:xfrm>
            <a:off x="7406640" y="1600200"/>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Monitor</a:t>
            </a:r>
            <a:endParaRPr lang="en-US" sz="1300" dirty="0"/>
          </a:p>
        </p:txBody>
      </p:sp>
      <p:sp>
        <p:nvSpPr>
          <p:cNvPr id="24" name="Shape 22"/>
          <p:cNvSpPr/>
          <p:nvPr/>
        </p:nvSpPr>
        <p:spPr>
          <a:xfrm>
            <a:off x="7269480" y="2240280"/>
            <a:ext cx="2103120" cy="2468880"/>
          </a:xfrm>
          <a:prstGeom prst="roundRect">
            <a:avLst>
              <a:gd name="adj" fmla="val 5217"/>
            </a:avLst>
          </a:prstGeom>
          <a:solidFill>
            <a:srgbClr val="F4F6F6"/>
          </a:solidFill>
          <a:ln w="12700">
            <a:solidFill>
              <a:srgbClr val="F4F6F6"/>
            </a:solidFill>
            <a:prstDash val="solid"/>
          </a:ln>
        </p:spPr>
      </p:sp>
      <p:sp>
        <p:nvSpPr>
          <p:cNvPr id="25" name="Text 23"/>
          <p:cNvSpPr txBox="1"/>
          <p:nvPr/>
        </p:nvSpPr>
        <p:spPr>
          <a:xfrm>
            <a:off x="7470648" y="2404872"/>
            <a:ext cx="1700784" cy="216712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Status from the system of record</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Forecasts and risk signals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Attention queue: what needs me</a:t>
            </a:r>
            <a:endParaRPr lang="en-US" sz="1150" dirty="0"/>
          </a:p>
        </p:txBody>
      </p:sp>
      <p:sp>
        <p:nvSpPr>
          <p:cNvPr id="26" name="Shape 24"/>
          <p:cNvSpPr/>
          <p:nvPr/>
        </p:nvSpPr>
        <p:spPr>
          <a:xfrm>
            <a:off x="7269480" y="4800600"/>
            <a:ext cx="2103120" cy="292608"/>
          </a:xfrm>
          <a:prstGeom prst="roundRect">
            <a:avLst>
              <a:gd name="adj" fmla="val 50000"/>
            </a:avLst>
          </a:prstGeom>
          <a:solidFill>
            <a:srgbClr val="DFEDEC"/>
          </a:solidFill>
          <a:ln w="6350">
            <a:solidFill>
              <a:srgbClr val="DFEDEC"/>
            </a:solidFill>
            <a:prstDash val="solid"/>
          </a:ln>
        </p:spPr>
      </p:sp>
      <p:sp>
        <p:nvSpPr>
          <p:cNvPr id="27" name="Text 25"/>
          <p:cNvSpPr txBox="1"/>
          <p:nvPr/>
        </p:nvSpPr>
        <p:spPr>
          <a:xfrm>
            <a:off x="7269480" y="4800600"/>
            <a:ext cx="2103120"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alibri" pitchFamily="34" charset="0"/>
                <a:ea typeface="Calibri" pitchFamily="34" charset="-122"/>
                <a:cs typeface="Calibri" pitchFamily="34" charset="-120"/>
              </a:rPr>
              <a:t>Copilot</a:t>
            </a:r>
            <a:endParaRPr lang="en-US" sz="1000" dirty="0"/>
          </a:p>
        </p:txBody>
      </p:sp>
      <p:sp>
        <p:nvSpPr>
          <p:cNvPr id="28" name="Shape 26"/>
          <p:cNvSpPr/>
          <p:nvPr/>
        </p:nvSpPr>
        <p:spPr>
          <a:xfrm>
            <a:off x="9509760" y="1600200"/>
            <a:ext cx="2240280" cy="548640"/>
          </a:xfrm>
          <a:prstGeom prst="chevron">
            <a:avLst/>
          </a:prstGeom>
          <a:solidFill>
            <a:srgbClr val="0B6E6B"/>
          </a:solidFill>
          <a:ln w="12700">
            <a:solidFill>
              <a:srgbClr val="FFFFFF"/>
            </a:solidFill>
            <a:prstDash val="solid"/>
          </a:ln>
        </p:spPr>
      </p:sp>
      <p:sp>
        <p:nvSpPr>
          <p:cNvPr id="29" name="Text 27"/>
          <p:cNvSpPr txBox="1"/>
          <p:nvPr/>
        </p:nvSpPr>
        <p:spPr>
          <a:xfrm>
            <a:off x="9646920" y="1600200"/>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a:t>
            </a:r>
            <a:endParaRPr lang="en-US" sz="1300" dirty="0"/>
          </a:p>
        </p:txBody>
      </p:sp>
      <p:sp>
        <p:nvSpPr>
          <p:cNvPr id="30" name="Shape 28"/>
          <p:cNvSpPr/>
          <p:nvPr/>
        </p:nvSpPr>
        <p:spPr>
          <a:xfrm>
            <a:off x="9509760" y="2240280"/>
            <a:ext cx="2103120" cy="2468880"/>
          </a:xfrm>
          <a:prstGeom prst="roundRect">
            <a:avLst>
              <a:gd name="adj" fmla="val 5217"/>
            </a:avLst>
          </a:prstGeom>
          <a:solidFill>
            <a:srgbClr val="F4F6F6"/>
          </a:solidFill>
          <a:ln w="12700">
            <a:solidFill>
              <a:srgbClr val="F4F6F6"/>
            </a:solidFill>
            <a:prstDash val="solid"/>
          </a:ln>
        </p:spPr>
      </p:sp>
      <p:sp>
        <p:nvSpPr>
          <p:cNvPr id="31" name="Text 29"/>
          <p:cNvSpPr txBox="1"/>
          <p:nvPr/>
        </p:nvSpPr>
        <p:spPr>
          <a:xfrm>
            <a:off x="9710928" y="2404872"/>
            <a:ext cx="1700784" cy="216712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Lessons learned from the record</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Archive specs, decisions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Benefits tracking narrative</a:t>
            </a:r>
            <a:endParaRPr lang="en-US" sz="1150" dirty="0"/>
          </a:p>
        </p:txBody>
      </p:sp>
      <p:sp>
        <p:nvSpPr>
          <p:cNvPr id="32" name="Shape 30"/>
          <p:cNvSpPr/>
          <p:nvPr/>
        </p:nvSpPr>
        <p:spPr>
          <a:xfrm>
            <a:off x="9509760" y="4800600"/>
            <a:ext cx="2103120" cy="292608"/>
          </a:xfrm>
          <a:prstGeom prst="roundRect">
            <a:avLst>
              <a:gd name="adj" fmla="val 50000"/>
            </a:avLst>
          </a:prstGeom>
          <a:solidFill>
            <a:srgbClr val="DFEDEC"/>
          </a:solidFill>
          <a:ln w="6350">
            <a:solidFill>
              <a:srgbClr val="DFEDEC"/>
            </a:solidFill>
            <a:prstDash val="solid"/>
          </a:ln>
        </p:spPr>
      </p:sp>
      <p:sp>
        <p:nvSpPr>
          <p:cNvPr id="33" name="Text 31"/>
          <p:cNvSpPr txBox="1"/>
          <p:nvPr/>
        </p:nvSpPr>
        <p:spPr>
          <a:xfrm>
            <a:off x="9509760" y="4800600"/>
            <a:ext cx="2103120"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alibri" pitchFamily="34" charset="0"/>
                <a:ea typeface="Calibri" pitchFamily="34" charset="-122"/>
                <a:cs typeface="Calibri" pitchFamily="34" charset="-120"/>
              </a:rPr>
              <a:t>Assistant</a:t>
            </a:r>
            <a:endParaRPr lang="en-US" sz="1000" dirty="0"/>
          </a:p>
        </p:txBody>
      </p:sp>
      <p:sp>
        <p:nvSpPr>
          <p:cNvPr id="34" name="Shape 32"/>
          <p:cNvSpPr/>
          <p:nvPr/>
        </p:nvSpPr>
        <p:spPr>
          <a:xfrm>
            <a:off x="548640" y="5303520"/>
            <a:ext cx="11064240" cy="914400"/>
          </a:xfrm>
          <a:prstGeom prst="roundRect">
            <a:avLst>
              <a:gd name="adj" fmla="val 12000"/>
            </a:avLst>
          </a:prstGeom>
          <a:solidFill>
            <a:srgbClr val="0F1A1C"/>
          </a:solidFill>
          <a:ln w="12700">
            <a:solidFill>
              <a:srgbClr val="0F1A1C"/>
            </a:solidFill>
            <a:prstDash val="solid"/>
          </a:ln>
        </p:spPr>
      </p:sp>
      <p:sp>
        <p:nvSpPr>
          <p:cNvPr id="35" name="Text 33"/>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Where it does not fit: </a:t>
            </a:r>
            <a:pPr indent="0" marL="0">
              <a:buNone/>
            </a:pPr>
            <a:r>
              <a:rPr lang="en-US" sz="1250" dirty="0">
                <a:solidFill>
                  <a:srgbClr val="DFEDEC"/>
                </a:solidFill>
                <a:latin typeface="Calibri" pitchFamily="34" charset="0"/>
                <a:ea typeface="Calibri" pitchFamily="34" charset="-122"/>
                <a:cs typeface="Calibri" pitchFamily="34" charset="-120"/>
              </a:rPr>
              <a:t>deciding scope, negotiating trade-offs, owning the relationship, and saying yes or no at a gate. The prompting rule that matters most in delivery: ask the model for its questions and assumptions before its answer.</a:t>
            </a:r>
            <a:endParaRPr lang="en-US" sz="1250" dirty="0"/>
          </a:p>
        </p:txBody>
      </p:sp>
      <p:sp>
        <p:nvSpPr>
          <p:cNvPr id="36" name="Text 34"/>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7" name="Text 35"/>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1 · MODULE 1.2 · PREDICTIVE ANALYTICS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Forecasting: from a date to a probability</a:t>
            </a:r>
            <a:endParaRPr lang="en-US" sz="3000" dirty="0"/>
          </a:p>
        </p:txBody>
      </p:sp>
      <p:graphicFrame>
        <p:nvGraphicFramePr>
          <p:cNvPr id="4" name="Chart 0" descr=""/>
          <p:cNvGraphicFramePr/>
          <p:nvPr/>
        </p:nvGraphicFramePr>
        <p:xfrm>
          <a:off x="548640" y="155448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914400" y="5532120"/>
            <a:ext cx="1330452" cy="292608"/>
          </a:xfrm>
          <a:prstGeom prst="roundRect">
            <a:avLst>
              <a:gd name="adj" fmla="val 50000"/>
            </a:avLst>
          </a:prstGeom>
          <a:solidFill>
            <a:srgbClr val="DFEDEC"/>
          </a:solidFill>
          <a:ln w="6350">
            <a:solidFill>
              <a:srgbClr val="DFEDEC"/>
            </a:solidFill>
            <a:prstDash val="solid"/>
          </a:ln>
        </p:spPr>
      </p:sp>
      <p:sp>
        <p:nvSpPr>
          <p:cNvPr id="6" name="Text 3"/>
          <p:cNvSpPr txBox="1"/>
          <p:nvPr/>
        </p:nvSpPr>
        <p:spPr>
          <a:xfrm>
            <a:off x="914400" y="5532120"/>
            <a:ext cx="1330452" cy="292608"/>
          </a:xfrm>
          <a:prstGeom prst="rect">
            <a:avLst/>
          </a:prstGeom>
          <a:noFill/>
          <a:ln/>
        </p:spPr>
        <p:txBody>
          <a:bodyPr wrap="square" lIns="0" tIns="0" rIns="0" bIns="0" rtlCol="0" anchor="ctr"/>
          <a:lstStyle/>
          <a:p>
            <a:pPr algn="ctr" indent="0" marL="0">
              <a:buNone/>
            </a:pPr>
            <a:r>
              <a:rPr lang="en-US" sz="1050" b="1" dirty="0">
                <a:solidFill>
                  <a:srgbClr val="0A3B39"/>
                </a:solidFill>
                <a:latin typeface="Calibri" pitchFamily="34" charset="0"/>
                <a:ea typeface="Calibri" pitchFamily="34" charset="-122"/>
                <a:cs typeface="Calibri" pitchFamily="34" charset="-120"/>
              </a:rPr>
              <a:t>P50 · week 12</a:t>
            </a:r>
            <a:endParaRPr lang="en-US" sz="1050" dirty="0"/>
          </a:p>
        </p:txBody>
      </p:sp>
      <p:sp>
        <p:nvSpPr>
          <p:cNvPr id="7" name="Shape 4"/>
          <p:cNvSpPr/>
          <p:nvPr/>
        </p:nvSpPr>
        <p:spPr>
          <a:xfrm>
            <a:off x="2468880" y="5532120"/>
            <a:ext cx="1330452" cy="292608"/>
          </a:xfrm>
          <a:prstGeom prst="roundRect">
            <a:avLst>
              <a:gd name="adj" fmla="val 50000"/>
            </a:avLst>
          </a:prstGeom>
          <a:solidFill>
            <a:srgbClr val="FAEDE4"/>
          </a:solidFill>
          <a:ln w="6350">
            <a:solidFill>
              <a:srgbClr val="FAEDE4"/>
            </a:solidFill>
            <a:prstDash val="solid"/>
          </a:ln>
        </p:spPr>
      </p:sp>
      <p:sp>
        <p:nvSpPr>
          <p:cNvPr id="8" name="Text 5"/>
          <p:cNvSpPr txBox="1"/>
          <p:nvPr/>
        </p:nvSpPr>
        <p:spPr>
          <a:xfrm>
            <a:off x="2468880" y="5532120"/>
            <a:ext cx="1330452" cy="292608"/>
          </a:xfrm>
          <a:prstGeom prst="rect">
            <a:avLst/>
          </a:prstGeom>
          <a:noFill/>
          <a:ln/>
        </p:spPr>
        <p:txBody>
          <a:bodyPr wrap="square" lIns="0" tIns="0" rIns="0" bIns="0" rtlCol="0" anchor="ctr"/>
          <a:lstStyle/>
          <a:p>
            <a:pPr algn="ctr" indent="0" marL="0">
              <a:buNone/>
            </a:pPr>
            <a:r>
              <a:rPr lang="en-US" sz="1050" b="1" dirty="0">
                <a:solidFill>
                  <a:srgbClr val="B24A17"/>
                </a:solidFill>
                <a:latin typeface="Calibri" pitchFamily="34" charset="0"/>
                <a:ea typeface="Calibri" pitchFamily="34" charset="-122"/>
                <a:cs typeface="Calibri" pitchFamily="34" charset="-120"/>
              </a:rPr>
              <a:t>P85 · week 14</a:t>
            </a:r>
            <a:endParaRPr lang="en-US" sz="1050" dirty="0"/>
          </a:p>
        </p:txBody>
      </p:sp>
      <p:sp>
        <p:nvSpPr>
          <p:cNvPr id="9" name="Text 6"/>
          <p:cNvSpPr txBox="1"/>
          <p:nvPr/>
        </p:nvSpPr>
        <p:spPr>
          <a:xfrm>
            <a:off x="4114800" y="5486400"/>
            <a:ext cx="3108960" cy="548640"/>
          </a:xfrm>
          <a:prstGeom prst="rect">
            <a:avLst/>
          </a:prstGeom>
          <a:noFill/>
          <a:ln/>
        </p:spPr>
        <p:txBody>
          <a:bodyPr wrap="square" lIns="0" tIns="0" rIns="0" bIns="0" rtlCol="0" anchor="ctr"/>
          <a:lstStyle/>
          <a:p>
            <a:pPr indent="0" marL="0">
              <a:buNone/>
            </a:pPr>
            <a:r>
              <a:rPr lang="en-US" sz="1050" i="1" dirty="0">
                <a:solidFill>
                  <a:srgbClr val="3A464B"/>
                </a:solidFill>
                <a:latin typeface="Calibri" pitchFamily="34" charset="0"/>
                <a:ea typeface="Calibri" pitchFamily="34" charset="-122"/>
                <a:cs typeface="Calibri" pitchFamily="34" charset="-120"/>
              </a:rPr>
              <a:t>A sponsor asked for week 11. The honest answer is 24% — and the model can say why.</a:t>
            </a:r>
            <a:endParaRPr lang="en-US" sz="1050" dirty="0"/>
          </a:p>
        </p:txBody>
      </p:sp>
      <p:sp>
        <p:nvSpPr>
          <p:cNvPr id="10" name="Text 7"/>
          <p:cNvSpPr txBox="1"/>
          <p:nvPr/>
        </p:nvSpPr>
        <p:spPr>
          <a:xfrm>
            <a:off x="7498080" y="1554480"/>
            <a:ext cx="4160520" cy="457200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0F1A1C"/>
                </a:solidFill>
                <a:latin typeface="Calibri" pitchFamily="34" charset="0"/>
                <a:ea typeface="Calibri" pitchFamily="34" charset="-122"/>
                <a:cs typeface="Calibri" pitchFamily="34" charset="-120"/>
              </a:rPr>
              <a:t>Count things, not points.  </a:t>
            </a:r>
            <a:pPr indent="0" marL="0">
              <a:spcAft>
                <a:spcPts val="1000"/>
              </a:spcAft>
              <a:buNone/>
            </a:pPr>
            <a:r>
              <a:rPr lang="en-US" sz="1200" dirty="0">
                <a:solidFill>
                  <a:srgbClr val="3A464B"/>
                </a:solidFill>
                <a:latin typeface="Calibri" pitchFamily="34" charset="0"/>
                <a:ea typeface="Calibri" pitchFamily="34" charset="-122"/>
                <a:cs typeface="Calibri" pitchFamily="34" charset="-120"/>
              </a:rPr>
              <a:t>Throughput and cycle time forecast better than estimates, and need no re-estimation.</a:t>
            </a:r>
            <a:endParaRPr lang="en-US" sz="1200" dirty="0"/>
          </a:p>
          <a:p>
            <a:pPr marL="177800" indent="-177800">
              <a:spcAft>
                <a:spcPts val="1000"/>
              </a:spcAft>
              <a:buSzPct val="100000"/>
              <a:buChar char="•"/>
            </a:pPr>
            <a:r>
              <a:rPr lang="en-US" sz="1200" b="1" dirty="0">
                <a:solidFill>
                  <a:srgbClr val="0F1A1C"/>
                </a:solidFill>
                <a:latin typeface="Calibri" pitchFamily="34" charset="0"/>
                <a:ea typeface="Calibri" pitchFamily="34" charset="-122"/>
                <a:cs typeface="Calibri" pitchFamily="34" charset="-120"/>
              </a:rPr>
              <a:t>Simulate, then explain.  </a:t>
            </a:r>
            <a:pPr indent="0" marL="0">
              <a:spcAft>
                <a:spcPts val="1000"/>
              </a:spcAft>
              <a:buNone/>
            </a:pPr>
            <a:r>
              <a:rPr lang="en-US" sz="1200" dirty="0">
                <a:solidFill>
                  <a:srgbClr val="3A464B"/>
                </a:solidFill>
                <a:latin typeface="Calibri" pitchFamily="34" charset="0"/>
                <a:ea typeface="Calibri" pitchFamily="34" charset="-122"/>
                <a:cs typeface="Calibri" pitchFamily="34" charset="-120"/>
              </a:rPr>
              <a:t>Monte Carlo in Excel or a guided notebook gives P50 / P85; the LLM turns it into the sponsor conversation.</a:t>
            </a:r>
            <a:endParaRPr lang="en-US" sz="1200" dirty="0"/>
          </a:p>
          <a:p>
            <a:pPr marL="177800" indent="-177800">
              <a:spcAft>
                <a:spcPts val="1000"/>
              </a:spcAft>
              <a:buSzPct val="100000"/>
              <a:buChar char="•"/>
            </a:pPr>
            <a:r>
              <a:rPr lang="en-US" sz="1200" b="1" dirty="0">
                <a:solidFill>
                  <a:srgbClr val="0F1A1C"/>
                </a:solidFill>
                <a:latin typeface="Calibri" pitchFamily="34" charset="0"/>
                <a:ea typeface="Calibri" pitchFamily="34" charset="-122"/>
                <a:cs typeface="Calibri" pitchFamily="34" charset="-120"/>
              </a:rPr>
              <a:t>Stress-test the inputs.  </a:t>
            </a:r>
            <a:pPr indent="0" marL="0">
              <a:spcAft>
                <a:spcPts val="1000"/>
              </a:spcAft>
              <a:buNone/>
            </a:pPr>
            <a:r>
              <a:rPr lang="en-US" sz="1200" dirty="0">
                <a:solidFill>
                  <a:srgbClr val="3A464B"/>
                </a:solidFill>
                <a:latin typeface="Calibri" pitchFamily="34" charset="0"/>
                <a:ea typeface="Calibri" pitchFamily="34" charset="-122"/>
                <a:cs typeface="Calibri" pitchFamily="34" charset="-120"/>
              </a:rPr>
              <a:t>Ask the model for the scenarios that would move the P85 by two weeks — scope churn, WIP, blocked ageing.</a:t>
            </a:r>
            <a:endParaRPr lang="en-US" sz="1200" dirty="0"/>
          </a:p>
          <a:p>
            <a:pPr marL="177800" indent="-177800">
              <a:spcAft>
                <a:spcPts val="1000"/>
              </a:spcAft>
              <a:buSzPct val="100000"/>
              <a:buChar char="•"/>
            </a:pPr>
            <a:r>
              <a:rPr lang="en-US" sz="1200" b="1" dirty="0">
                <a:solidFill>
                  <a:srgbClr val="0F1A1C"/>
                </a:solidFill>
                <a:latin typeface="Calibri" pitchFamily="34" charset="0"/>
                <a:ea typeface="Calibri" pitchFamily="34" charset="-122"/>
                <a:cs typeface="Calibri" pitchFamily="34" charset="-120"/>
              </a:rPr>
              <a:t>Factory tie-in.  </a:t>
            </a:r>
            <a:pPr indent="0" marL="0">
              <a:spcAft>
                <a:spcPts val="1000"/>
              </a:spcAft>
              <a:buNone/>
            </a:pPr>
            <a:r>
              <a:rPr lang="en-US" sz="1200" dirty="0">
                <a:solidFill>
                  <a:srgbClr val="3A464B"/>
                </a:solidFill>
                <a:latin typeface="Calibri" pitchFamily="34" charset="0"/>
                <a:ea typeface="Calibri" pitchFamily="34" charset="-122"/>
                <a:cs typeface="Calibri" pitchFamily="34" charset="-120"/>
              </a:rPr>
              <a:t>Because every stage is a label with a timestamp, the factory produces per-stage cycle-time data by itself. Forecasting an epic is a query.</a:t>
            </a:r>
            <a:endParaRPr lang="en-US" sz="1200" dirty="0"/>
          </a:p>
        </p:txBody>
      </p:sp>
      <p:sp>
        <p:nvSpPr>
          <p:cNvPr id="11" name="Text 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2" name="Text 9"/>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1 · MODULE 1.2 · RISK</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AI-driven risk management: mine it, classify it, watch for it</a:t>
            </a:r>
            <a:endParaRPr lang="en-US" sz="3000" dirty="0"/>
          </a:p>
        </p:txBody>
      </p:sp>
      <p:sp>
        <p:nvSpPr>
          <p:cNvPr id="4" name="Shape 2"/>
          <p:cNvSpPr/>
          <p:nvPr/>
        </p:nvSpPr>
        <p:spPr>
          <a:xfrm>
            <a:off x="548640" y="1600200"/>
            <a:ext cx="5212080" cy="4572000"/>
          </a:xfrm>
          <a:prstGeom prst="roundRect">
            <a:avLst>
              <a:gd name="adj" fmla="val 2400"/>
            </a:avLst>
          </a:prstGeom>
          <a:solidFill>
            <a:srgbClr val="F4F6F6"/>
          </a:solidFill>
          <a:ln w="12700">
            <a:solidFill>
              <a:srgbClr val="F4F6F6"/>
            </a:solidFill>
            <a:prstDash val="solid"/>
          </a:ln>
        </p:spPr>
      </p:sp>
      <p:sp>
        <p:nvSpPr>
          <p:cNvPr id="5" name="Text 3"/>
          <p:cNvSpPr txBox="1"/>
          <p:nvPr/>
        </p:nvSpPr>
        <p:spPr>
          <a:xfrm>
            <a:off x="749808" y="1764792"/>
            <a:ext cx="4809744" cy="411480"/>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Three moves</a:t>
            </a:r>
            <a:endParaRPr lang="en-US" sz="1500" dirty="0"/>
          </a:p>
        </p:txBody>
      </p:sp>
      <p:sp>
        <p:nvSpPr>
          <p:cNvPr id="6" name="Text 4"/>
          <p:cNvSpPr txBox="1"/>
          <p:nvPr/>
        </p:nvSpPr>
        <p:spPr>
          <a:xfrm>
            <a:off x="749808" y="2221992"/>
            <a:ext cx="4809744" cy="3813048"/>
          </a:xfrm>
          <a:prstGeom prst="rect">
            <a:avLst/>
          </a:prstGeom>
          <a:noFill/>
          <a:ln/>
        </p:spPr>
        <p:txBody>
          <a:bodyPr wrap="square" lIns="0" tIns="0" rIns="0" bIns="0" rtlCol="0" anchor="t"/>
          <a:lstStyle/>
          <a:p>
            <a:pPr indent="0" marL="0">
              <a:buNone/>
            </a:pPr>
            <a:r>
              <a:rPr lang="en-US" sz="1300" b="1" dirty="0">
                <a:solidFill>
                  <a:srgbClr val="0F1A1C"/>
                </a:solidFill>
                <a:latin typeface="Calibri" pitchFamily="34" charset="0"/>
                <a:ea typeface="Calibri" pitchFamily="34" charset="-122"/>
                <a:cs typeface="Calibri" pitchFamily="34" charset="-120"/>
              </a:rPr>
              <a:t>Mine. </a:t>
            </a:r>
            <a:pPr indent="0" marL="0">
              <a:spcAft>
                <a:spcPts val="1400"/>
              </a:spcAft>
              <a:buNone/>
            </a:pPr>
            <a:r>
              <a:rPr lang="en-US" sz="1300" dirty="0">
                <a:solidFill>
                  <a:srgbClr val="3A464B"/>
                </a:solidFill>
                <a:latin typeface="Calibri" pitchFamily="34" charset="0"/>
                <a:ea typeface="Calibri" pitchFamily="34" charset="-122"/>
                <a:cs typeface="Calibri" pitchFamily="34" charset="-120"/>
              </a:rPr>
              <a:t>Risks hide in tickets, retros, incident logs and meeting transcripts. An LLM reads all of it and proposes a register with sources cited.</a:t>
            </a:r>
            <a:endParaRPr lang="en-US" sz="1300" dirty="0"/>
          </a:p>
          <a:p>
            <a:pPr indent="0" marL="0">
              <a:buNone/>
            </a:pPr>
            <a:r>
              <a:rPr lang="en-US" sz="1300" b="1" dirty="0">
                <a:solidFill>
                  <a:srgbClr val="0F1A1C"/>
                </a:solidFill>
                <a:latin typeface="Calibri" pitchFamily="34" charset="0"/>
                <a:ea typeface="Calibri" pitchFamily="34" charset="-122"/>
                <a:cs typeface="Calibri" pitchFamily="34" charset="-120"/>
              </a:rPr>
              <a:t>Classify. </a:t>
            </a:r>
            <a:pPr indent="0" marL="0">
              <a:spcAft>
                <a:spcPts val="1400"/>
              </a:spcAft>
              <a:buNone/>
            </a:pPr>
            <a:r>
              <a:rPr lang="en-US" sz="1300" dirty="0">
                <a:solidFill>
                  <a:srgbClr val="3A464B"/>
                </a:solidFill>
                <a:latin typeface="Calibri" pitchFamily="34" charset="0"/>
                <a:ea typeface="Calibri" pitchFamily="34" charset="-122"/>
                <a:cs typeface="Calibri" pitchFamily="34" charset="-120"/>
              </a:rPr>
              <a:t>Probability × impact is still the model; the AI drafts, the PM decides. Pre-mortems generate the risks nobody wants to say aloud.</a:t>
            </a:r>
            <a:endParaRPr lang="en-US" sz="1300" dirty="0"/>
          </a:p>
          <a:p>
            <a:pPr indent="0" marL="0">
              <a:buNone/>
            </a:pPr>
            <a:r>
              <a:rPr lang="en-US" sz="1300" b="1" dirty="0">
                <a:solidFill>
                  <a:srgbClr val="0F1A1C"/>
                </a:solidFill>
                <a:latin typeface="Calibri" pitchFamily="34" charset="0"/>
                <a:ea typeface="Calibri" pitchFamily="34" charset="-122"/>
                <a:cs typeface="Calibri" pitchFamily="34" charset="-120"/>
              </a:rPr>
              <a:t>Watch. </a:t>
            </a:r>
            <a:pPr indent="0" marL="0">
              <a:spcAft>
                <a:spcPts val="1400"/>
              </a:spcAft>
              <a:buNone/>
            </a:pPr>
            <a:r>
              <a:rPr lang="en-US" sz="1300" dirty="0">
                <a:solidFill>
                  <a:srgbClr val="3A464B"/>
                </a:solidFill>
                <a:latin typeface="Calibri" pitchFamily="34" charset="0"/>
                <a:ea typeface="Calibri" pitchFamily="34" charset="-122"/>
                <a:cs typeface="Calibri" pitchFamily="34" charset="-120"/>
              </a:rPr>
              <a:t>Early-warning signals from the system of record: blocked ageing, review-queue depth, re-open rate, scope churn, cycle-time drift. Automate the watch; escalate on threshold.</a:t>
            </a:r>
            <a:endParaRPr lang="en-US" sz="1300" dirty="0"/>
          </a:p>
          <a:p>
            <a:pPr indent="0" marL="0">
              <a:buNone/>
            </a:pPr>
            <a:r>
              <a:rPr lang="en-US" sz="1300" b="1" dirty="0">
                <a:solidFill>
                  <a:srgbClr val="0A3B39"/>
                </a:solidFill>
                <a:latin typeface="Calibri" pitchFamily="34" charset="0"/>
                <a:ea typeface="Calibri" pitchFamily="34" charset="-122"/>
                <a:cs typeface="Calibri" pitchFamily="34" charset="-120"/>
              </a:rPr>
              <a:t>Factory tie-in. </a:t>
            </a:r>
            <a:pPr indent="0" marL="0">
              <a:buNone/>
            </a:pPr>
            <a:r>
              <a:rPr lang="en-US" sz="1300" dirty="0">
                <a:solidFill>
                  <a:srgbClr val="3A464B"/>
                </a:solidFill>
                <a:latin typeface="Calibri" pitchFamily="34" charset="0"/>
                <a:ea typeface="Calibri" pitchFamily="34" charset="-122"/>
                <a:cs typeface="Calibri" pitchFamily="34" charset="-120"/>
              </a:rPr>
              <a:t>The Scrum Master (right) does the first two moves on a whole release before anything starts; the state labels give you the third for free.</a:t>
            </a:r>
            <a:endParaRPr lang="en-US" sz="1300" dirty="0"/>
          </a:p>
        </p:txBody>
      </p:sp>
      <p:sp>
        <p:nvSpPr>
          <p:cNvPr id="7" name="Shape 5"/>
          <p:cNvSpPr/>
          <p:nvPr/>
        </p:nvSpPr>
        <p:spPr>
          <a:xfrm>
            <a:off x="6035040" y="1600200"/>
            <a:ext cx="5623560" cy="4572000"/>
          </a:xfrm>
          <a:prstGeom prst="roundRect">
            <a:avLst>
              <a:gd name="adj" fmla="val 2400"/>
            </a:avLst>
          </a:prstGeom>
          <a:solidFill>
            <a:srgbClr val="FFFFFF"/>
          </a:solidFill>
          <a:ln w="19050">
            <a:solidFill>
              <a:srgbClr val="DFEDEC"/>
            </a:solidFill>
            <a:prstDash val="solid"/>
          </a:ln>
          <a:effectLst>
            <a:outerShdw sx="100000" sy="100000" kx="0" ky="0" algn="bl" rotWithShape="0" blurRad="76200" dist="25400" dir="5400000">
              <a:srgbClr val="000000">
                <a:alpha val="10000"/>
              </a:srgbClr>
            </a:outerShdw>
          </a:effectLst>
        </p:spPr>
      </p:sp>
      <p:sp>
        <p:nvSpPr>
          <p:cNvPr id="8" name="Shape 6"/>
          <p:cNvSpPr/>
          <p:nvPr/>
        </p:nvSpPr>
        <p:spPr>
          <a:xfrm>
            <a:off x="6263640" y="1783080"/>
            <a:ext cx="1952244" cy="292608"/>
          </a:xfrm>
          <a:prstGeom prst="roundRect">
            <a:avLst>
              <a:gd name="adj" fmla="val 50000"/>
            </a:avLst>
          </a:prstGeom>
          <a:solidFill>
            <a:srgbClr val="DFEDEC"/>
          </a:solidFill>
          <a:ln w="6350">
            <a:solidFill>
              <a:srgbClr val="DFEDEC"/>
            </a:solidFill>
            <a:prstDash val="solid"/>
          </a:ln>
        </p:spPr>
      </p:sp>
      <p:sp>
        <p:nvSpPr>
          <p:cNvPr id="9" name="Text 7"/>
          <p:cNvSpPr txBox="1"/>
          <p:nvPr/>
        </p:nvSpPr>
        <p:spPr>
          <a:xfrm>
            <a:off x="6263640" y="1783080"/>
            <a:ext cx="1952244" cy="292608"/>
          </a:xfrm>
          <a:prstGeom prst="rect">
            <a:avLst/>
          </a:prstGeom>
          <a:noFill/>
          <a:ln/>
        </p:spPr>
        <p:txBody>
          <a:bodyPr wrap="square" lIns="0" tIns="0" rIns="0" bIns="0" rtlCol="0" anchor="ctr"/>
          <a:lstStyle/>
          <a:p>
            <a:pPr algn="ctr" indent="0" marL="0">
              <a:buNone/>
            </a:pPr>
            <a:r>
              <a:rPr lang="en-US" sz="1000" b="1" dirty="0">
                <a:solidFill>
                  <a:srgbClr val="0A3B39"/>
                </a:solidFill>
                <a:latin typeface="Courier New" pitchFamily="34" charset="0"/>
                <a:ea typeface="Courier New" pitchFamily="34" charset="-122"/>
                <a:cs typeface="Courier New" pitchFamily="34" charset="-120"/>
              </a:rPr>
              <a:t>factory:release-ready</a:t>
            </a:r>
            <a:endParaRPr lang="en-US" sz="1000" dirty="0"/>
          </a:p>
        </p:txBody>
      </p:sp>
      <p:sp>
        <p:nvSpPr>
          <p:cNvPr id="10" name="Text 8"/>
          <p:cNvSpPr txBox="1"/>
          <p:nvPr/>
        </p:nvSpPr>
        <p:spPr>
          <a:xfrm>
            <a:off x="6263640" y="2148840"/>
            <a:ext cx="5212080" cy="32004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Release plan — release(3): Policy servicing Q4</a:t>
            </a:r>
            <a:endParaRPr lang="en-US" sz="1300" dirty="0"/>
          </a:p>
        </p:txBody>
      </p:sp>
      <p:sp>
        <p:nvSpPr>
          <p:cNvPr id="11" name="Text 9"/>
          <p:cNvSpPr txBox="1"/>
          <p:nvPr/>
        </p:nvSpPr>
        <p:spPr>
          <a:xfrm>
            <a:off x="6263640" y="2450592"/>
            <a:ext cx="5212080" cy="274320"/>
          </a:xfrm>
          <a:prstGeom prst="rect">
            <a:avLst/>
          </a:prstGeom>
          <a:noFill/>
          <a:ln/>
        </p:spPr>
        <p:txBody>
          <a:bodyPr wrap="square" lIns="0" tIns="0" rIns="0" bIns="0" rtlCol="0" anchor="ctr"/>
          <a:lstStyle/>
          <a:p>
            <a:pPr indent="0" marL="0">
              <a:buNone/>
            </a:pPr>
            <a:r>
              <a:rPr lang="en-US" sz="950" i="1" dirty="0">
                <a:solidFill>
                  <a:srgbClr val="9FADB1"/>
                </a:solidFill>
                <a:latin typeface="Calibri" pitchFamily="34" charset="0"/>
                <a:ea typeface="Calibri" pitchFamily="34" charset="-122"/>
                <a:cs typeface="Calibri" pitchFamily="34" charset="-120"/>
              </a:rPr>
              <a:t>Posted by the Scrum Master role after reading every issue in the milestone</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2788920"/>
          <a:ext cx="5166360" cy="914400"/>
        </p:xfrm>
        <a:graphic>
          <a:graphicData uri="http://schemas.openxmlformats.org/drawingml/2006/table">
            <a:tbl>
              <a:tblPr/>
              <a:tblGrid>
                <a:gridCol w="548640"/>
                <a:gridCol w="2286000"/>
                <a:gridCol w="502920"/>
                <a:gridCol w="18288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Issue</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Intent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Seq</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Concern</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r>
              <a:tr h="274320">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#41</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Renewal reminders via WhatsApp</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274320">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Premium recalculation API</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950" b="1" dirty="0">
                          <a:solidFill>
                            <a:srgbClr val="B24A17"/>
                          </a:solidFill>
                          <a:latin typeface="Calibri" pitchFamily="34" charset="0"/>
                          <a:ea typeface="Calibri" pitchFamily="34" charset="-122"/>
                          <a:cs typeface="Calibri" pitchFamily="34" charset="-120"/>
                        </a:rPr>
                        <a:t>schema first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#43</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Agent dashboard</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b="1" dirty="0">
                          <a:solidFill>
                            <a:srgbClr val="B24A17"/>
                          </a:solidFill>
                          <a:latin typeface="Calibri" pitchFamily="34" charset="0"/>
                          <a:ea typeface="Calibri" pitchFamily="34" charset="-122"/>
                          <a:cs typeface="Calibri" pitchFamily="34" charset="-120"/>
                        </a:rPr>
                        <a:t>depends on #42</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274320">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Bulk import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950" b="1" dirty="0">
                          <a:solidFill>
                            <a:srgbClr val="B24A17"/>
                          </a:solidFill>
                          <a:latin typeface="Calibri" pitchFamily="34" charset="0"/>
                          <a:ea typeface="Calibri" pitchFamily="34" charset="-122"/>
                          <a:cs typeface="Calibri" pitchFamily="34" charset="-120"/>
                        </a:rPr>
                        <a:t>oversized: split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Fix date format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dirty="0">
                          <a:solidFill>
                            <a:srgbClr val="3A464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950" b="1" dirty="0">
                          <a:solidFill>
                            <a:srgbClr val="B24A17"/>
                          </a:solidFill>
                          <a:latin typeface="Calibri" pitchFamily="34" charset="0"/>
                          <a:ea typeface="Calibri" pitchFamily="34" charset="-122"/>
                          <a:cs typeface="Calibri" pitchFamily="34" charset="-120"/>
                        </a:rPr>
                        <a:t>fast-track</a:t>
                      </a:r>
                      <a:endParaRPr lang="en-US" sz="950" dirty="0">
                        <a:latin typeface="Calibri" charset="0"/>
                        <a:ea typeface="Calibri" charset="0"/>
                        <a:cs typeface="Calibri"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bl>
          </a:graphicData>
        </a:graphic>
      </p:graphicFrame>
      <p:sp>
        <p:nvSpPr>
          <p:cNvPr id="13" name="Text 10"/>
          <p:cNvSpPr txBox="1"/>
          <p:nvPr/>
        </p:nvSpPr>
        <p:spPr>
          <a:xfrm>
            <a:off x="6263640" y="4572000"/>
            <a:ext cx="5166360" cy="1051560"/>
          </a:xfrm>
          <a:prstGeom prst="rect">
            <a:avLst/>
          </a:prstGeom>
          <a:noFill/>
          <a:ln/>
        </p:spPr>
        <p:txBody>
          <a:bodyPr wrap="square" lIns="0" tIns="0" rIns="0" bIns="0" rtlCol="0" anchor="t"/>
          <a:lstStyle/>
          <a:p>
            <a:pPr indent="0" marL="0">
              <a:buNone/>
            </a:pPr>
            <a:r>
              <a:rPr lang="en-US" sz="1050" b="1" dirty="0">
                <a:solidFill>
                  <a:srgbClr val="0F1A1C"/>
                </a:solidFill>
                <a:latin typeface="Calibri" pitchFamily="34" charset="0"/>
                <a:ea typeface="Calibri" pitchFamily="34" charset="-122"/>
                <a:cs typeface="Calibri" pitchFamily="34" charset="-120"/>
              </a:rPr>
              <a:t>Risks  </a:t>
            </a:r>
            <a:pPr indent="0" marL="0">
              <a:buNone/>
            </a:pPr>
            <a:r>
              <a:rPr lang="en-US" sz="1050" dirty="0">
                <a:solidFill>
                  <a:srgbClr val="3A464B"/>
                </a:solidFill>
                <a:latin typeface="Calibri" pitchFamily="34" charset="0"/>
                <a:ea typeface="Calibri" pitchFamily="34" charset="-122"/>
                <a:cs typeface="Calibri" pitchFamily="34" charset="-120"/>
              </a:rPr>
              <a:t>1. #42 has no owner for the rate table (ask: actuarial). 2. #43 and an in-flight change overlap on the dashboard module.
</a:t>
            </a:r>
            <a:pPr indent="0" marL="0">
              <a:buNone/>
            </a:pPr>
            <a:r>
              <a:rPr lang="en-US" sz="1050" b="1" dirty="0">
                <a:solidFill>
                  <a:srgbClr val="0F1A1C"/>
                </a:solidFill>
                <a:latin typeface="Calibri" pitchFamily="34" charset="0"/>
                <a:ea typeface="Calibri" pitchFamily="34" charset="-122"/>
                <a:cs typeface="Calibri" pitchFamily="34" charset="-120"/>
              </a:rPr>
              <a:t>Verdict  </a:t>
            </a:r>
            <a:pPr indent="0" marL="0">
              <a:buNone/>
            </a:pPr>
            <a:r>
              <a:rPr lang="en-US" sz="1050" b="1" dirty="0">
                <a:solidFill>
                  <a:srgbClr val="0A3B39"/>
                </a:solidFill>
                <a:latin typeface="Calibri" pitchFamily="34" charset="0"/>
                <a:ea typeface="Calibri" pitchFamily="34" charset="-122"/>
                <a:cs typeface="Calibri" pitchFamily="34" charset="-120"/>
              </a:rPr>
              <a:t>GO once #44 is split and #45 leaves the milestone.</a:t>
            </a:r>
            <a:endParaRPr lang="en-US" sz="1050" dirty="0"/>
          </a:p>
        </p:txBody>
      </p:sp>
      <p:sp>
        <p:nvSpPr>
          <p:cNvPr id="14" name="Text 11"/>
          <p:cNvSpPr txBox="1"/>
          <p:nvPr/>
        </p:nvSpPr>
        <p:spPr>
          <a:xfrm>
            <a:off x="6263640" y="5623560"/>
            <a:ext cx="5166360" cy="502920"/>
          </a:xfrm>
          <a:prstGeom prst="rect">
            <a:avLst/>
          </a:prstGeom>
          <a:noFill/>
          <a:ln/>
        </p:spPr>
        <p:txBody>
          <a:bodyPr wrap="square" lIns="0" tIns="0" rIns="0" bIns="0" rtlCol="0" anchor="t"/>
          <a:lstStyle/>
          <a:p>
            <a:pPr indent="0" marL="0">
              <a:buNone/>
            </a:pPr>
            <a:r>
              <a:rPr lang="en-US" sz="950" i="1" dirty="0">
                <a:solidFill>
                  <a:srgbClr val="9FADB1"/>
                </a:solidFill>
                <a:latin typeface="Calibri" pitchFamily="34" charset="0"/>
                <a:ea typeface="Calibri" pitchFamily="34" charset="-122"/>
                <a:cs typeface="Calibri" pitchFamily="34" charset="-120"/>
              </a:rPr>
              <a:t>AI release planning on the set, not the item: duplicates, sequencing, size and under-specification are caught before a single agent starts. Gate G0 is the human's — or, by config, the agent's own GO.</a:t>
            </a:r>
            <a:endParaRPr lang="en-US" sz="950" dirty="0"/>
          </a:p>
        </p:txBody>
      </p:sp>
      <p:sp>
        <p:nvSpPr>
          <p:cNvPr id="15" name="Text 1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6" name="Text 13"/>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1 · HANDS-ON EXERCISE</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Lab 1: from brief to plan, then from data to a date</a:t>
            </a:r>
            <a:endParaRPr lang="en-US" sz="3000" dirty="0"/>
          </a:p>
        </p:txBody>
      </p:sp>
      <p:sp>
        <p:nvSpPr>
          <p:cNvPr id="4" name="Shape 2"/>
          <p:cNvSpPr/>
          <p:nvPr/>
        </p:nvSpPr>
        <p:spPr>
          <a:xfrm>
            <a:off x="548640" y="1600200"/>
            <a:ext cx="3566160" cy="2834640"/>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49808" y="1764792"/>
            <a:ext cx="3163824" cy="566928"/>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1A · Brief → charter, WBS, RACI, risks</a:t>
            </a:r>
            <a:endParaRPr lang="en-US" sz="1500" dirty="0"/>
          </a:p>
        </p:txBody>
      </p:sp>
      <p:sp>
        <p:nvSpPr>
          <p:cNvPr id="6" name="Text 4"/>
          <p:cNvSpPr txBox="1"/>
          <p:nvPr/>
        </p:nvSpPr>
        <p:spPr>
          <a:xfrm>
            <a:off x="749808" y="2377440"/>
            <a:ext cx="3163824" cy="19202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Take the supplied one-page product brief</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Ask the model for its questions and assumptions first</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Generate charter, WBS, RACI and a risk register</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Run a structured review pass: what is wrong, what is missing, what is invented</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Mark up corrections side by side with the AI draft</a:t>
            </a:r>
            <a:endParaRPr lang="en-US" sz="1200" dirty="0"/>
          </a:p>
        </p:txBody>
      </p:sp>
      <p:sp>
        <p:nvSpPr>
          <p:cNvPr id="7" name="Shape 5"/>
          <p:cNvSpPr/>
          <p:nvPr/>
        </p:nvSpPr>
        <p:spPr>
          <a:xfrm>
            <a:off x="4389120" y="1600200"/>
            <a:ext cx="3566160" cy="2834640"/>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90288" y="1764792"/>
            <a:ext cx="3163824" cy="566928"/>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1B · Throughput → P50 / P85</a:t>
            </a:r>
            <a:endParaRPr lang="en-US" sz="1500" dirty="0"/>
          </a:p>
        </p:txBody>
      </p:sp>
      <p:sp>
        <p:nvSpPr>
          <p:cNvPr id="9" name="Text 7"/>
          <p:cNvSpPr txBox="1"/>
          <p:nvPr/>
        </p:nvSpPr>
        <p:spPr>
          <a:xfrm>
            <a:off x="4590288" y="2377440"/>
            <a:ext cx="3163824" cy="19202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Load the 12-week throughput dataset (or your own tracker export)</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Build the Monte Carlo in Excel or the guided notebook</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Read the P50 and P85 dates; try a WIP-limit scenario</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Have the LLM draft the sponsor explanation and the two scenarios that move the date</a:t>
            </a:r>
            <a:endParaRPr lang="en-US" sz="1200" dirty="0"/>
          </a:p>
        </p:txBody>
      </p:sp>
      <p:sp>
        <p:nvSpPr>
          <p:cNvPr id="10" name="Shape 8"/>
          <p:cNvSpPr/>
          <p:nvPr/>
        </p:nvSpPr>
        <p:spPr>
          <a:xfrm>
            <a:off x="548640" y="4663440"/>
            <a:ext cx="7406640" cy="1143000"/>
          </a:xfrm>
          <a:prstGeom prst="roundRect">
            <a:avLst>
              <a:gd name="adj" fmla="val 9600"/>
            </a:avLst>
          </a:prstGeom>
          <a:solidFill>
            <a:srgbClr val="FAEDE4"/>
          </a:solidFill>
          <a:ln w="12700">
            <a:solidFill>
              <a:srgbClr val="FAEDE4"/>
            </a:solidFill>
            <a:prstDash val="solid"/>
          </a:ln>
        </p:spPr>
      </p:sp>
      <p:sp>
        <p:nvSpPr>
          <p:cNvPr id="11" name="Shape 9"/>
          <p:cNvSpPr/>
          <p:nvPr/>
        </p:nvSpPr>
        <p:spPr>
          <a:xfrm>
            <a:off x="731520" y="4864608"/>
            <a:ext cx="457200" cy="45720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841248" y="4974336"/>
            <a:ext cx="237744" cy="237744"/>
          </a:xfrm>
          <a:prstGeom prst="rect">
            <a:avLst/>
          </a:prstGeom>
        </p:spPr>
      </p:pic>
      <p:sp>
        <p:nvSpPr>
          <p:cNvPr id="13" name="Text 10"/>
          <p:cNvSpPr txBox="1"/>
          <p:nvPr/>
        </p:nvSpPr>
        <p:spPr>
          <a:xfrm>
            <a:off x="1325880" y="4754880"/>
            <a:ext cx="6492240" cy="96012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Deliverable  </a:t>
            </a:r>
            <a:pPr indent="0" marL="0">
              <a:buNone/>
            </a:pPr>
            <a:r>
              <a:rPr lang="en-US" sz="1250" dirty="0">
                <a:solidFill>
                  <a:srgbClr val="3A464B"/>
                </a:solidFill>
                <a:latin typeface="Calibri" pitchFamily="34" charset="0"/>
                <a:ea typeface="Calibri" pitchFamily="34" charset="-122"/>
                <a:cs typeface="Calibri" pitchFamily="34" charset="-120"/>
              </a:rPr>
              <a:t>A marked-up AI-drafted plan with the PM's corrections, and a probabilistic forecast with a sponsor-ready explanation.</a:t>
            </a:r>
            <a:endParaRPr lang="en-US" sz="1250" dirty="0"/>
          </a:p>
        </p:txBody>
      </p:sp>
      <p:sp>
        <p:nvSpPr>
          <p:cNvPr id="14" name="Shape 11"/>
          <p:cNvSpPr/>
          <p:nvPr/>
        </p:nvSpPr>
        <p:spPr>
          <a:xfrm>
            <a:off x="8229600" y="1600200"/>
            <a:ext cx="3429000" cy="4206240"/>
          </a:xfrm>
          <a:prstGeom prst="roundRect">
            <a:avLst>
              <a:gd name="adj" fmla="val 3200"/>
            </a:avLst>
          </a:prstGeom>
          <a:solidFill>
            <a:srgbClr val="0F1A1C"/>
          </a:solidFill>
          <a:ln w="12700">
            <a:solidFill>
              <a:srgbClr val="0F1A1C"/>
            </a:solidFill>
            <a:prstDash val="solid"/>
          </a:ln>
        </p:spPr>
      </p:sp>
      <p:sp>
        <p:nvSpPr>
          <p:cNvPr id="15" name="Shape 12"/>
          <p:cNvSpPr/>
          <p:nvPr/>
        </p:nvSpPr>
        <p:spPr>
          <a:xfrm>
            <a:off x="8503920" y="1828800"/>
            <a:ext cx="502920" cy="502920"/>
          </a:xfrm>
          <a:prstGeom prst="ellipse">
            <a:avLst/>
          </a:prstGeom>
          <a:solidFill>
            <a:srgbClr val="0B6E6B"/>
          </a:solidFill>
          <a:ln w="12700">
            <a:solidFill>
              <a:srgbClr val="0B6E6B"/>
            </a:solidFill>
            <a:prstDash val="solid"/>
          </a:ln>
        </p:spPr>
      </p:sp>
      <p:pic>
        <p:nvPicPr>
          <p:cNvPr id="16" name="Image 1" descr="preencoded.png">    </p:cNvPr>
          <p:cNvPicPr>
            <a:picLocks noChangeAspect="1"/>
          </p:cNvPicPr>
          <p:nvPr/>
        </p:nvPicPr>
        <p:blipFill>
          <a:blip r:embed="rId2"/>
          <a:stretch>
            <a:fillRect/>
          </a:stretch>
        </p:blipFill>
        <p:spPr>
          <a:xfrm>
            <a:off x="8624621" y="1949501"/>
            <a:ext cx="261518" cy="261518"/>
          </a:xfrm>
          <a:prstGeom prst="rect">
            <a:avLst/>
          </a:prstGeom>
        </p:spPr>
      </p:pic>
      <p:sp>
        <p:nvSpPr>
          <p:cNvPr id="17" name="Text 13"/>
          <p:cNvSpPr txBox="1"/>
          <p:nvPr/>
        </p:nvSpPr>
        <p:spPr>
          <a:xfrm>
            <a:off x="8503920" y="246888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Closing round</a:t>
            </a:r>
            <a:endParaRPr lang="en-US" sz="1500" dirty="0"/>
          </a:p>
        </p:txBody>
      </p:sp>
      <p:sp>
        <p:nvSpPr>
          <p:cNvPr id="18" name="Text 14"/>
          <p:cNvSpPr txBox="1"/>
          <p:nvPr/>
        </p:nvSpPr>
        <p:spPr>
          <a:xfrm>
            <a:off x="8503920" y="2880360"/>
            <a:ext cx="2926080" cy="3108960"/>
          </a:xfrm>
          <a:prstGeom prst="rect">
            <a:avLst/>
          </a:prstGeom>
          <a:noFill/>
          <a:ln/>
        </p:spPr>
        <p:txBody>
          <a:bodyPr wrap="square" lIns="0" tIns="0" rIns="0" bIns="0" rtlCol="0" anchor="t"/>
          <a:lstStyle/>
          <a:p>
            <a:pPr indent="0" marL="0">
              <a:buNone/>
            </a:pPr>
            <a:r>
              <a:rPr lang="en-US" sz="1250" i="1" dirty="0">
                <a:solidFill>
                  <a:srgbClr val="DFEDEC"/>
                </a:solidFill>
                <a:latin typeface="Calibri" pitchFamily="34" charset="0"/>
                <a:ea typeface="Calibri" pitchFamily="34" charset="-122"/>
                <a:cs typeface="Calibri" pitchFamily="34" charset="-120"/>
              </a:rPr>
              <a:t>What changed in the plan once you asked the model for its questions first?</a:t>
            </a:r>
            <a:endParaRPr lang="en-US" sz="1250" dirty="0"/>
          </a:p>
          <a:p>
            <a:pPr indent="0" marL="0">
              <a:buNone/>
            </a:pPr>
            <a:endParaRPr lang="en-US" sz="1250" dirty="0"/>
          </a:p>
          <a:p>
            <a:pPr indent="0" marL="0">
              <a:buNone/>
            </a:pPr>
            <a:r>
              <a:rPr lang="en-US" sz="1250" i="1" dirty="0">
                <a:solidFill>
                  <a:srgbClr val="DFEDEC"/>
                </a:solidFill>
                <a:latin typeface="Calibri" pitchFamily="34" charset="0"/>
                <a:ea typeface="Calibri" pitchFamily="34" charset="-122"/>
                <a:cs typeface="Calibri" pitchFamily="34" charset="-120"/>
              </a:rPr>
              <a:t>Which date would you have committed to before today, and which will you commit to now?</a:t>
            </a:r>
            <a:endParaRPr lang="en-US" sz="1250" dirty="0"/>
          </a:p>
        </p:txBody>
      </p:sp>
      <p:sp>
        <p:nvSpPr>
          <p:cNvPr id="19"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0" name="Text 16"/>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2 AGENDA · 4 HOURS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Day 2 — AI for project automation and reporting</a:t>
            </a:r>
            <a:endParaRPr lang="en-US" sz="3000" dirty="0"/>
          </a:p>
        </p:txBody>
      </p:sp>
      <p:sp>
        <p:nvSpPr>
          <p:cNvPr id="4" name="Text 2"/>
          <p:cNvSpPr txBox="1"/>
          <p:nvPr/>
        </p:nvSpPr>
        <p:spPr>
          <a:xfrm>
            <a:off x="548640" y="160020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0:00 – 1:00</a:t>
            </a:r>
            <a:endParaRPr lang="en-US" sz="1100" dirty="0"/>
          </a:p>
        </p:txBody>
      </p:sp>
      <p:sp>
        <p:nvSpPr>
          <p:cNvPr id="5" name="Shape 3"/>
          <p:cNvSpPr/>
          <p:nvPr/>
        </p:nvSpPr>
        <p:spPr>
          <a:xfrm>
            <a:off x="1645920" y="1655064"/>
            <a:ext cx="5943600" cy="457200"/>
          </a:xfrm>
          <a:prstGeom prst="roundRect">
            <a:avLst>
              <a:gd name="adj" fmla="val 20000"/>
            </a:avLst>
          </a:prstGeom>
          <a:solidFill>
            <a:srgbClr val="F4F6F6"/>
          </a:solidFill>
          <a:ln w="12700">
            <a:solidFill>
              <a:srgbClr val="F4F6F6"/>
            </a:solidFill>
            <a:prstDash val="solid"/>
          </a:ln>
        </p:spPr>
      </p:sp>
      <p:sp>
        <p:nvSpPr>
          <p:cNvPr id="6" name="Text 4"/>
          <p:cNvSpPr txBox="1"/>
          <p:nvPr/>
        </p:nvSpPr>
        <p:spPr>
          <a:xfrm>
            <a:off x="1810512" y="165506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Using AI for project automation</a:t>
            </a:r>
            <a:pPr indent="0" marL="0">
              <a:buNone/>
            </a:pPr>
            <a:r>
              <a:rPr lang="en-US" sz="1100" dirty="0">
                <a:solidFill>
                  <a:srgbClr val="3A464B"/>
                </a:solidFill>
                <a:latin typeface="Calibri" pitchFamily="34" charset="0"/>
                <a:ea typeface="Calibri" pitchFamily="34" charset="-122"/>
                <a:cs typeface="Calibri" pitchFamily="34" charset="-120"/>
              </a:rPr>
              <a:t>   Triggers, workflow tools, the LLM step, human-in-the-loop design</a:t>
            </a:r>
            <a:endParaRPr lang="en-US" sz="1250" dirty="0"/>
          </a:p>
        </p:txBody>
      </p:sp>
      <p:sp>
        <p:nvSpPr>
          <p:cNvPr id="7" name="Text 5"/>
          <p:cNvSpPr txBox="1"/>
          <p:nvPr/>
        </p:nvSpPr>
        <p:spPr>
          <a:xfrm>
            <a:off x="548640" y="2203704"/>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1:00 – 1:10</a:t>
            </a:r>
            <a:endParaRPr lang="en-US" sz="1100" dirty="0"/>
          </a:p>
        </p:txBody>
      </p:sp>
      <p:sp>
        <p:nvSpPr>
          <p:cNvPr id="8" name="Shape 6"/>
          <p:cNvSpPr/>
          <p:nvPr/>
        </p:nvSpPr>
        <p:spPr>
          <a:xfrm>
            <a:off x="1645920" y="2258568"/>
            <a:ext cx="5943600" cy="457200"/>
          </a:xfrm>
          <a:prstGeom prst="roundRect">
            <a:avLst>
              <a:gd name="adj" fmla="val 20000"/>
            </a:avLst>
          </a:prstGeom>
          <a:solidFill>
            <a:srgbClr val="F4F6F6"/>
          </a:solidFill>
          <a:ln w="12700">
            <a:solidFill>
              <a:srgbClr val="F4F6F6"/>
            </a:solidFill>
            <a:prstDash val="solid"/>
          </a:ln>
        </p:spPr>
      </p:sp>
      <p:sp>
        <p:nvSpPr>
          <p:cNvPr id="9" name="Text 7"/>
          <p:cNvSpPr txBox="1"/>
          <p:nvPr/>
        </p:nvSpPr>
        <p:spPr>
          <a:xfrm>
            <a:off x="1810512" y="2258568"/>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0" name="Text 8"/>
          <p:cNvSpPr txBox="1"/>
          <p:nvPr/>
        </p:nvSpPr>
        <p:spPr>
          <a:xfrm>
            <a:off x="548640" y="2807208"/>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1:10 – 2:10</a:t>
            </a:r>
            <a:endParaRPr lang="en-US" sz="1100" dirty="0"/>
          </a:p>
        </p:txBody>
      </p:sp>
      <p:sp>
        <p:nvSpPr>
          <p:cNvPr id="11" name="Shape 9"/>
          <p:cNvSpPr/>
          <p:nvPr/>
        </p:nvSpPr>
        <p:spPr>
          <a:xfrm>
            <a:off x="1645920" y="2862072"/>
            <a:ext cx="5943600" cy="457200"/>
          </a:xfrm>
          <a:prstGeom prst="roundRect">
            <a:avLst>
              <a:gd name="adj" fmla="val 20000"/>
            </a:avLst>
          </a:prstGeom>
          <a:solidFill>
            <a:srgbClr val="F4F6F6"/>
          </a:solidFill>
          <a:ln w="12700">
            <a:solidFill>
              <a:srgbClr val="F4F6F6"/>
            </a:solidFill>
            <a:prstDash val="solid"/>
          </a:ln>
        </p:spPr>
      </p:sp>
      <p:sp>
        <p:nvSpPr>
          <p:cNvPr id="12" name="Text 10"/>
          <p:cNvSpPr txBox="1"/>
          <p:nvPr/>
        </p:nvSpPr>
        <p:spPr>
          <a:xfrm>
            <a:off x="1810512" y="2862072"/>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AI-driven reporting and stakeholder communication</a:t>
            </a:r>
            <a:pPr indent="0" marL="0">
              <a:buNone/>
            </a:pPr>
            <a:r>
              <a:rPr lang="en-US" sz="1100" dirty="0">
                <a:solidFill>
                  <a:srgbClr val="3A464B"/>
                </a:solidFill>
                <a:latin typeface="Calibri" pitchFamily="34" charset="0"/>
                <a:ea typeface="Calibri" pitchFamily="34" charset="-122"/>
                <a:cs typeface="Calibri" pitchFamily="34" charset="-120"/>
              </a:rPr>
              <a:t>   Reports from the system of record · meeting intelligence · citations</a:t>
            </a:r>
            <a:endParaRPr lang="en-US" sz="1250" dirty="0"/>
          </a:p>
        </p:txBody>
      </p:sp>
      <p:sp>
        <p:nvSpPr>
          <p:cNvPr id="13" name="Text 11"/>
          <p:cNvSpPr txBox="1"/>
          <p:nvPr/>
        </p:nvSpPr>
        <p:spPr>
          <a:xfrm>
            <a:off x="548640" y="3410712"/>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2:10 – 2:20</a:t>
            </a:r>
            <a:endParaRPr lang="en-US" sz="1100" dirty="0"/>
          </a:p>
        </p:txBody>
      </p:sp>
      <p:sp>
        <p:nvSpPr>
          <p:cNvPr id="14" name="Shape 12"/>
          <p:cNvSpPr/>
          <p:nvPr/>
        </p:nvSpPr>
        <p:spPr>
          <a:xfrm>
            <a:off x="1645920" y="3465576"/>
            <a:ext cx="5943600" cy="457200"/>
          </a:xfrm>
          <a:prstGeom prst="roundRect">
            <a:avLst>
              <a:gd name="adj" fmla="val 20000"/>
            </a:avLst>
          </a:prstGeom>
          <a:solidFill>
            <a:srgbClr val="F4F6F6"/>
          </a:solidFill>
          <a:ln w="12700">
            <a:solidFill>
              <a:srgbClr val="F4F6F6"/>
            </a:solidFill>
            <a:prstDash val="solid"/>
          </a:ln>
        </p:spPr>
      </p:sp>
      <p:sp>
        <p:nvSpPr>
          <p:cNvPr id="15" name="Text 13"/>
          <p:cNvSpPr txBox="1"/>
          <p:nvPr/>
        </p:nvSpPr>
        <p:spPr>
          <a:xfrm>
            <a:off x="1810512" y="3465576"/>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6" name="Text 14"/>
          <p:cNvSpPr txBox="1"/>
          <p:nvPr/>
        </p:nvSpPr>
        <p:spPr>
          <a:xfrm>
            <a:off x="548640" y="4014216"/>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2:20 – 3:50</a:t>
            </a:r>
            <a:endParaRPr lang="en-US" sz="1100" dirty="0"/>
          </a:p>
        </p:txBody>
      </p:sp>
      <p:sp>
        <p:nvSpPr>
          <p:cNvPr id="17" name="Shape 15"/>
          <p:cNvSpPr/>
          <p:nvPr/>
        </p:nvSpPr>
        <p:spPr>
          <a:xfrm>
            <a:off x="1645920" y="4069080"/>
            <a:ext cx="5943600" cy="457200"/>
          </a:xfrm>
          <a:prstGeom prst="roundRect">
            <a:avLst>
              <a:gd name="adj" fmla="val 20000"/>
            </a:avLst>
          </a:prstGeom>
          <a:solidFill>
            <a:srgbClr val="FAEDE4"/>
          </a:solidFill>
          <a:ln w="12700">
            <a:solidFill>
              <a:srgbClr val="FAEDE4"/>
            </a:solidFill>
            <a:prstDash val="solid"/>
          </a:ln>
        </p:spPr>
      </p:sp>
      <p:sp>
        <p:nvSpPr>
          <p:cNvPr id="18" name="Text 16"/>
          <p:cNvSpPr txBox="1"/>
          <p:nvPr/>
        </p:nvSpPr>
        <p:spPr>
          <a:xfrm>
            <a:off x="1810512" y="4069080"/>
            <a:ext cx="5669280" cy="45720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Hands-on: automated status; meeting to decisions</a:t>
            </a:r>
            <a:pPr indent="0" marL="0">
              <a:buNone/>
            </a:pPr>
            <a:r>
              <a:rPr lang="en-US" sz="1100" dirty="0">
                <a:solidFill>
                  <a:srgbClr val="3A464B"/>
                </a:solidFill>
                <a:latin typeface="Calibri" pitchFamily="34" charset="0"/>
                <a:ea typeface="Calibri" pitchFamily="34" charset="-122"/>
                <a:cs typeface="Calibri" pitchFamily="34" charset="-120"/>
              </a:rPr>
              <a:t>   Lab 2A weekly status to Teams / Slack · Lab 2B decision log</a:t>
            </a:r>
            <a:endParaRPr lang="en-US" sz="1250" dirty="0"/>
          </a:p>
        </p:txBody>
      </p:sp>
      <p:sp>
        <p:nvSpPr>
          <p:cNvPr id="19" name="Text 17"/>
          <p:cNvSpPr txBox="1"/>
          <p:nvPr/>
        </p:nvSpPr>
        <p:spPr>
          <a:xfrm>
            <a:off x="548640" y="461772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3:50 – 4:00</a:t>
            </a:r>
            <a:endParaRPr lang="en-US" sz="1100" dirty="0"/>
          </a:p>
        </p:txBody>
      </p:sp>
      <p:sp>
        <p:nvSpPr>
          <p:cNvPr id="20" name="Shape 18"/>
          <p:cNvSpPr/>
          <p:nvPr/>
        </p:nvSpPr>
        <p:spPr>
          <a:xfrm>
            <a:off x="1645920" y="4672584"/>
            <a:ext cx="5943600" cy="457200"/>
          </a:xfrm>
          <a:prstGeom prst="roundRect">
            <a:avLst>
              <a:gd name="adj" fmla="val 20000"/>
            </a:avLst>
          </a:prstGeom>
          <a:solidFill>
            <a:srgbClr val="F4F6F6"/>
          </a:solidFill>
          <a:ln w="12700">
            <a:solidFill>
              <a:srgbClr val="F4F6F6"/>
            </a:solidFill>
            <a:prstDash val="solid"/>
          </a:ln>
        </p:spPr>
      </p:sp>
      <p:sp>
        <p:nvSpPr>
          <p:cNvPr id="21" name="Text 19"/>
          <p:cNvSpPr txBox="1"/>
          <p:nvPr/>
        </p:nvSpPr>
        <p:spPr>
          <a:xfrm>
            <a:off x="1810512" y="467258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Closing round</a:t>
            </a:r>
            <a:pPr indent="0" marL="0">
              <a:buNone/>
            </a:pPr>
            <a:endParaRPr lang="en-US" sz="1250" dirty="0"/>
          </a:p>
        </p:txBody>
      </p:sp>
      <p:sp>
        <p:nvSpPr>
          <p:cNvPr id="22" name="Shape 20"/>
          <p:cNvSpPr/>
          <p:nvPr/>
        </p:nvSpPr>
        <p:spPr>
          <a:xfrm>
            <a:off x="7955280" y="1600200"/>
            <a:ext cx="3703320" cy="2011680"/>
          </a:xfrm>
          <a:prstGeom prst="roundRect">
            <a:avLst>
              <a:gd name="adj" fmla="val 5455"/>
            </a:avLst>
          </a:prstGeom>
          <a:solidFill>
            <a:srgbClr val="F4F6F6"/>
          </a:solidFill>
          <a:ln w="12700">
            <a:solidFill>
              <a:srgbClr val="F4F6F6"/>
            </a:solidFill>
            <a:prstDash val="solid"/>
          </a:ln>
        </p:spPr>
      </p:sp>
      <p:sp>
        <p:nvSpPr>
          <p:cNvPr id="23" name="Text 21"/>
          <p:cNvSpPr txBox="1"/>
          <p:nvPr/>
        </p:nvSpPr>
        <p:spPr>
          <a:xfrm>
            <a:off x="8156448" y="1764792"/>
            <a:ext cx="330098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Client ToC modules covered</a:t>
            </a:r>
            <a:endParaRPr lang="en-US" sz="1300" dirty="0"/>
          </a:p>
        </p:txBody>
      </p:sp>
      <p:sp>
        <p:nvSpPr>
          <p:cNvPr id="24" name="Text 22"/>
          <p:cNvSpPr txBox="1"/>
          <p:nvPr/>
        </p:nvSpPr>
        <p:spPr>
          <a:xfrm>
            <a:off x="8156448" y="2176272"/>
            <a:ext cx="3300984" cy="129844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Using AI for Project Automation and Reporting</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Hands-On Exercise</a:t>
            </a:r>
            <a:endParaRPr lang="en-US" sz="1100" dirty="0"/>
          </a:p>
        </p:txBody>
      </p:sp>
      <p:sp>
        <p:nvSpPr>
          <p:cNvPr id="25" name="Shape 23"/>
          <p:cNvSpPr/>
          <p:nvPr/>
        </p:nvSpPr>
        <p:spPr>
          <a:xfrm>
            <a:off x="7955280" y="3794760"/>
            <a:ext cx="3703320" cy="2331720"/>
          </a:xfrm>
          <a:prstGeom prst="roundRect">
            <a:avLst>
              <a:gd name="adj" fmla="val 4706"/>
            </a:avLst>
          </a:prstGeom>
          <a:solidFill>
            <a:srgbClr val="DFEDEC"/>
          </a:solidFill>
          <a:ln w="12700">
            <a:solidFill>
              <a:srgbClr val="DFEDEC"/>
            </a:solidFill>
            <a:prstDash val="solid"/>
          </a:ln>
        </p:spPr>
      </p:sp>
      <p:sp>
        <p:nvSpPr>
          <p:cNvPr id="26" name="Text 24"/>
          <p:cNvSpPr txBox="1"/>
          <p:nvPr/>
        </p:nvSpPr>
        <p:spPr>
          <a:xfrm>
            <a:off x="8156448" y="3959352"/>
            <a:ext cx="3300984" cy="365760"/>
          </a:xfrm>
          <a:prstGeom prst="rect">
            <a:avLst/>
          </a:prstGeom>
          <a:noFill/>
          <a:ln/>
        </p:spPr>
        <p:txBody>
          <a:bodyPr wrap="square" lIns="0" tIns="0" rIns="0" bIns="0" rtlCol="0" anchor="t"/>
          <a:lstStyle/>
          <a:p>
            <a:pPr indent="0" marL="0">
              <a:buNone/>
            </a:pPr>
            <a:r>
              <a:rPr lang="en-US" sz="1300" b="1" dirty="0">
                <a:solidFill>
                  <a:srgbClr val="0A3B39"/>
                </a:solidFill>
                <a:latin typeface="Cambria" pitchFamily="34" charset="0"/>
                <a:ea typeface="Cambria" pitchFamily="34" charset="-122"/>
                <a:cs typeface="Cambria" pitchFamily="34" charset="-120"/>
              </a:rPr>
              <a:t>Software Factory thread</a:t>
            </a:r>
            <a:endParaRPr lang="en-US" sz="1300" dirty="0"/>
          </a:p>
        </p:txBody>
      </p:sp>
      <p:sp>
        <p:nvSpPr>
          <p:cNvPr id="27" name="Text 25"/>
          <p:cNvSpPr txBox="1"/>
          <p:nvPr/>
        </p:nvSpPr>
        <p:spPr>
          <a:xfrm>
            <a:off x="8156448" y="4370832"/>
            <a:ext cx="3300984" cy="161848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label state machine: one state per issue, labels trigger agents, agent comments never self-trigger</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Every run ends by saying what is expected of the next actor</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Factory Console: a lens, never a second source of truth — attention queue, decision log, cited Q&amp;A</a:t>
            </a:r>
            <a:endParaRPr lang="en-US" sz="1100" dirty="0"/>
          </a:p>
        </p:txBody>
      </p:sp>
      <p:sp>
        <p:nvSpPr>
          <p:cNvPr id="28" name="Text 2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9" name="Text 2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2 · MODULE 2.1</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The automation stack a PM can own</a:t>
            </a:r>
            <a:endParaRPr lang="en-US" sz="3000" dirty="0"/>
          </a:p>
        </p:txBody>
      </p:sp>
      <p:sp>
        <p:nvSpPr>
          <p:cNvPr id="4" name="Shape 2"/>
          <p:cNvSpPr/>
          <p:nvPr/>
        </p:nvSpPr>
        <p:spPr>
          <a:xfrm>
            <a:off x="548640" y="1600200"/>
            <a:ext cx="1965960" cy="2011680"/>
          </a:xfrm>
          <a:prstGeom prst="roundRect">
            <a:avLst>
              <a:gd name="adj" fmla="val 5581"/>
            </a:avLst>
          </a:prstGeom>
          <a:solidFill>
            <a:srgbClr val="F4F6F6"/>
          </a:solidFill>
          <a:ln w="12700">
            <a:solidFill>
              <a:srgbClr val="F4F6F6"/>
            </a:solidFill>
            <a:prstDash val="solid"/>
          </a:ln>
        </p:spPr>
      </p:sp>
      <p:sp>
        <p:nvSpPr>
          <p:cNvPr id="5" name="Shape 3"/>
          <p:cNvSpPr/>
          <p:nvPr/>
        </p:nvSpPr>
        <p:spPr>
          <a:xfrm>
            <a:off x="731520" y="178308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63194" y="1914754"/>
            <a:ext cx="285293" cy="285293"/>
          </a:xfrm>
          <a:prstGeom prst="rect">
            <a:avLst/>
          </a:prstGeom>
        </p:spPr>
      </p:pic>
      <p:sp>
        <p:nvSpPr>
          <p:cNvPr id="7" name="Text 4"/>
          <p:cNvSpPr txBox="1"/>
          <p:nvPr/>
        </p:nvSpPr>
        <p:spPr>
          <a:xfrm>
            <a:off x="731520" y="2423160"/>
            <a:ext cx="1645920" cy="32004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Trigger</a:t>
            </a:r>
            <a:endParaRPr lang="en-US" sz="1400" dirty="0"/>
          </a:p>
        </p:txBody>
      </p:sp>
      <p:sp>
        <p:nvSpPr>
          <p:cNvPr id="8" name="Text 5"/>
          <p:cNvSpPr txBox="1"/>
          <p:nvPr/>
        </p:nvSpPr>
        <p:spPr>
          <a:xfrm>
            <a:off x="731520" y="2743200"/>
            <a:ext cx="1645920" cy="8229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Webhook, schedule, label change, new message</a:t>
            </a:r>
            <a:endParaRPr lang="en-US" sz="1100" dirty="0"/>
          </a:p>
        </p:txBody>
      </p:sp>
      <p:sp>
        <p:nvSpPr>
          <p:cNvPr id="9" name="Shape 6"/>
          <p:cNvSpPr/>
          <p:nvPr/>
        </p:nvSpPr>
        <p:spPr>
          <a:xfrm>
            <a:off x="2542032" y="2514600"/>
            <a:ext cx="274320" cy="201168"/>
          </a:xfrm>
          <a:prstGeom prst="rightArrow">
            <a:avLst/>
          </a:prstGeom>
          <a:solidFill>
            <a:srgbClr val="9FADB1"/>
          </a:solidFill>
          <a:ln w="12700">
            <a:solidFill>
              <a:srgbClr val="9FADB1"/>
            </a:solidFill>
            <a:prstDash val="solid"/>
          </a:ln>
        </p:spPr>
      </p:sp>
      <p:sp>
        <p:nvSpPr>
          <p:cNvPr id="10" name="Shape 7"/>
          <p:cNvSpPr/>
          <p:nvPr/>
        </p:nvSpPr>
        <p:spPr>
          <a:xfrm>
            <a:off x="2788920" y="1600200"/>
            <a:ext cx="1965960" cy="2011680"/>
          </a:xfrm>
          <a:prstGeom prst="roundRect">
            <a:avLst>
              <a:gd name="adj" fmla="val 5581"/>
            </a:avLst>
          </a:prstGeom>
          <a:solidFill>
            <a:srgbClr val="F4F6F6"/>
          </a:solidFill>
          <a:ln w="12700">
            <a:solidFill>
              <a:srgbClr val="F4F6F6"/>
            </a:solidFill>
            <a:prstDash val="solid"/>
          </a:ln>
        </p:spPr>
      </p:sp>
      <p:sp>
        <p:nvSpPr>
          <p:cNvPr id="11" name="Shape 8"/>
          <p:cNvSpPr/>
          <p:nvPr/>
        </p:nvSpPr>
        <p:spPr>
          <a:xfrm>
            <a:off x="2971800" y="1783080"/>
            <a:ext cx="548640" cy="54864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3103474" y="1914754"/>
            <a:ext cx="285293" cy="285293"/>
          </a:xfrm>
          <a:prstGeom prst="rect">
            <a:avLst/>
          </a:prstGeom>
        </p:spPr>
      </p:pic>
      <p:sp>
        <p:nvSpPr>
          <p:cNvPr id="13" name="Text 9"/>
          <p:cNvSpPr txBox="1"/>
          <p:nvPr/>
        </p:nvSpPr>
        <p:spPr>
          <a:xfrm>
            <a:off x="2971800" y="2423160"/>
            <a:ext cx="1645920" cy="32004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Workflow</a:t>
            </a:r>
            <a:endParaRPr lang="en-US" sz="1400" dirty="0"/>
          </a:p>
        </p:txBody>
      </p:sp>
      <p:sp>
        <p:nvSpPr>
          <p:cNvPr id="14" name="Text 10"/>
          <p:cNvSpPr txBox="1"/>
          <p:nvPr/>
        </p:nvSpPr>
        <p:spPr>
          <a:xfrm>
            <a:off x="2971800" y="2743200"/>
            <a:ext cx="1645920" cy="8229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Power Automate, n8n, Zapier, GitHub Actions</a:t>
            </a:r>
            <a:endParaRPr lang="en-US" sz="1100" dirty="0"/>
          </a:p>
        </p:txBody>
      </p:sp>
      <p:sp>
        <p:nvSpPr>
          <p:cNvPr id="15" name="Shape 11"/>
          <p:cNvSpPr/>
          <p:nvPr/>
        </p:nvSpPr>
        <p:spPr>
          <a:xfrm>
            <a:off x="4782312" y="2514600"/>
            <a:ext cx="274320" cy="201168"/>
          </a:xfrm>
          <a:prstGeom prst="rightArrow">
            <a:avLst/>
          </a:prstGeom>
          <a:solidFill>
            <a:srgbClr val="9FADB1"/>
          </a:solidFill>
          <a:ln w="12700">
            <a:solidFill>
              <a:srgbClr val="9FADB1"/>
            </a:solidFill>
            <a:prstDash val="solid"/>
          </a:ln>
        </p:spPr>
      </p:sp>
      <p:sp>
        <p:nvSpPr>
          <p:cNvPr id="16" name="Shape 12"/>
          <p:cNvSpPr/>
          <p:nvPr/>
        </p:nvSpPr>
        <p:spPr>
          <a:xfrm>
            <a:off x="5029200" y="1600200"/>
            <a:ext cx="1965960" cy="2011680"/>
          </a:xfrm>
          <a:prstGeom prst="roundRect">
            <a:avLst>
              <a:gd name="adj" fmla="val 5581"/>
            </a:avLst>
          </a:prstGeom>
          <a:solidFill>
            <a:srgbClr val="F4F6F6"/>
          </a:solidFill>
          <a:ln w="12700">
            <a:solidFill>
              <a:srgbClr val="F4F6F6"/>
            </a:solidFill>
            <a:prstDash val="solid"/>
          </a:ln>
        </p:spPr>
      </p:sp>
      <p:sp>
        <p:nvSpPr>
          <p:cNvPr id="17" name="Shape 13"/>
          <p:cNvSpPr/>
          <p:nvPr/>
        </p:nvSpPr>
        <p:spPr>
          <a:xfrm>
            <a:off x="5212080" y="1783080"/>
            <a:ext cx="548640" cy="54864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343754" y="1914754"/>
            <a:ext cx="285293" cy="285293"/>
          </a:xfrm>
          <a:prstGeom prst="rect">
            <a:avLst/>
          </a:prstGeom>
        </p:spPr>
      </p:pic>
      <p:sp>
        <p:nvSpPr>
          <p:cNvPr id="19" name="Text 14"/>
          <p:cNvSpPr txBox="1"/>
          <p:nvPr/>
        </p:nvSpPr>
        <p:spPr>
          <a:xfrm>
            <a:off x="5212080" y="2423160"/>
            <a:ext cx="1645920" cy="32004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LLM step</a:t>
            </a:r>
            <a:endParaRPr lang="en-US" sz="1400" dirty="0"/>
          </a:p>
        </p:txBody>
      </p:sp>
      <p:sp>
        <p:nvSpPr>
          <p:cNvPr id="20" name="Text 15"/>
          <p:cNvSpPr txBox="1"/>
          <p:nvPr/>
        </p:nvSpPr>
        <p:spPr>
          <a:xfrm>
            <a:off x="5212080" y="2743200"/>
            <a:ext cx="1645920" cy="8229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Summarise, classify, draft, extract, route</a:t>
            </a:r>
            <a:endParaRPr lang="en-US" sz="1100" dirty="0"/>
          </a:p>
        </p:txBody>
      </p:sp>
      <p:sp>
        <p:nvSpPr>
          <p:cNvPr id="21" name="Shape 16"/>
          <p:cNvSpPr/>
          <p:nvPr/>
        </p:nvSpPr>
        <p:spPr>
          <a:xfrm>
            <a:off x="7022592" y="2514600"/>
            <a:ext cx="274320" cy="201168"/>
          </a:xfrm>
          <a:prstGeom prst="rightArrow">
            <a:avLst/>
          </a:prstGeom>
          <a:solidFill>
            <a:srgbClr val="9FADB1"/>
          </a:solidFill>
          <a:ln w="12700">
            <a:solidFill>
              <a:srgbClr val="9FADB1"/>
            </a:solidFill>
            <a:prstDash val="solid"/>
          </a:ln>
        </p:spPr>
      </p:sp>
      <p:sp>
        <p:nvSpPr>
          <p:cNvPr id="22" name="Shape 17"/>
          <p:cNvSpPr/>
          <p:nvPr/>
        </p:nvSpPr>
        <p:spPr>
          <a:xfrm>
            <a:off x="7269480" y="1600200"/>
            <a:ext cx="1965960" cy="2011680"/>
          </a:xfrm>
          <a:prstGeom prst="roundRect">
            <a:avLst>
              <a:gd name="adj" fmla="val 5581"/>
            </a:avLst>
          </a:prstGeom>
          <a:solidFill>
            <a:srgbClr val="F4F6F6"/>
          </a:solidFill>
          <a:ln w="12700">
            <a:solidFill>
              <a:srgbClr val="F4F6F6"/>
            </a:solidFill>
            <a:prstDash val="solid"/>
          </a:ln>
        </p:spPr>
      </p:sp>
      <p:sp>
        <p:nvSpPr>
          <p:cNvPr id="23" name="Shape 18"/>
          <p:cNvSpPr/>
          <p:nvPr/>
        </p:nvSpPr>
        <p:spPr>
          <a:xfrm>
            <a:off x="7452360" y="1783080"/>
            <a:ext cx="548640" cy="54864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584034" y="1914754"/>
            <a:ext cx="285293" cy="285293"/>
          </a:xfrm>
          <a:prstGeom prst="rect">
            <a:avLst/>
          </a:prstGeom>
        </p:spPr>
      </p:pic>
      <p:sp>
        <p:nvSpPr>
          <p:cNvPr id="25" name="Text 19"/>
          <p:cNvSpPr txBox="1"/>
          <p:nvPr/>
        </p:nvSpPr>
        <p:spPr>
          <a:xfrm>
            <a:off x="7452360" y="2423160"/>
            <a:ext cx="1645920" cy="32004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Destination</a:t>
            </a:r>
            <a:endParaRPr lang="en-US" sz="1400" dirty="0"/>
          </a:p>
        </p:txBody>
      </p:sp>
      <p:sp>
        <p:nvSpPr>
          <p:cNvPr id="26" name="Text 20"/>
          <p:cNvSpPr txBox="1"/>
          <p:nvPr/>
        </p:nvSpPr>
        <p:spPr>
          <a:xfrm>
            <a:off x="7452360" y="2743200"/>
            <a:ext cx="1645920" cy="8229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Teams, Slack, email, Confluence, the tracker</a:t>
            </a:r>
            <a:endParaRPr lang="en-US" sz="1100" dirty="0"/>
          </a:p>
        </p:txBody>
      </p:sp>
      <p:sp>
        <p:nvSpPr>
          <p:cNvPr id="27" name="Shape 21"/>
          <p:cNvSpPr/>
          <p:nvPr/>
        </p:nvSpPr>
        <p:spPr>
          <a:xfrm>
            <a:off x="9262872" y="2514600"/>
            <a:ext cx="274320" cy="201168"/>
          </a:xfrm>
          <a:prstGeom prst="rightArrow">
            <a:avLst/>
          </a:prstGeom>
          <a:solidFill>
            <a:srgbClr val="9FADB1"/>
          </a:solidFill>
          <a:ln w="12700">
            <a:solidFill>
              <a:srgbClr val="9FADB1"/>
            </a:solidFill>
            <a:prstDash val="solid"/>
          </a:ln>
        </p:spPr>
      </p:sp>
      <p:sp>
        <p:nvSpPr>
          <p:cNvPr id="28" name="Shape 22"/>
          <p:cNvSpPr/>
          <p:nvPr/>
        </p:nvSpPr>
        <p:spPr>
          <a:xfrm>
            <a:off x="9509760" y="1600200"/>
            <a:ext cx="1965960" cy="2011680"/>
          </a:xfrm>
          <a:prstGeom prst="roundRect">
            <a:avLst>
              <a:gd name="adj" fmla="val 5581"/>
            </a:avLst>
          </a:prstGeom>
          <a:solidFill>
            <a:srgbClr val="FAEDE4"/>
          </a:solidFill>
          <a:ln w="12700">
            <a:solidFill>
              <a:srgbClr val="FAEDE4"/>
            </a:solidFill>
            <a:prstDash val="solid"/>
          </a:ln>
        </p:spPr>
      </p:sp>
      <p:sp>
        <p:nvSpPr>
          <p:cNvPr id="29" name="Shape 23"/>
          <p:cNvSpPr/>
          <p:nvPr/>
        </p:nvSpPr>
        <p:spPr>
          <a:xfrm>
            <a:off x="9692640" y="1783080"/>
            <a:ext cx="548640" cy="54864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9824314" y="1914754"/>
            <a:ext cx="285293" cy="285293"/>
          </a:xfrm>
          <a:prstGeom prst="rect">
            <a:avLst/>
          </a:prstGeom>
        </p:spPr>
      </p:pic>
      <p:sp>
        <p:nvSpPr>
          <p:cNvPr id="31" name="Text 24"/>
          <p:cNvSpPr txBox="1"/>
          <p:nvPr/>
        </p:nvSpPr>
        <p:spPr>
          <a:xfrm>
            <a:off x="9692640" y="2423160"/>
            <a:ext cx="1645920" cy="320040"/>
          </a:xfrm>
          <a:prstGeom prst="rect">
            <a:avLst/>
          </a:prstGeom>
          <a:noFill/>
          <a:ln/>
        </p:spPr>
        <p:txBody>
          <a:bodyPr wrap="square" lIns="0" tIns="0" rIns="0" bIns="0" rtlCol="0" anchor="ctr"/>
          <a:lstStyle/>
          <a:p>
            <a:pPr indent="0" marL="0">
              <a:buNone/>
            </a:pPr>
            <a:r>
              <a:rPr lang="en-US" sz="1400" b="1" dirty="0">
                <a:solidFill>
                  <a:srgbClr val="B24A17"/>
                </a:solidFill>
                <a:latin typeface="Cambria" pitchFamily="34" charset="0"/>
                <a:ea typeface="Cambria" pitchFamily="34" charset="-122"/>
                <a:cs typeface="Cambria" pitchFamily="34" charset="-120"/>
              </a:rPr>
              <a:t>Human review</a:t>
            </a:r>
            <a:endParaRPr lang="en-US" sz="1400" dirty="0"/>
          </a:p>
        </p:txBody>
      </p:sp>
      <p:sp>
        <p:nvSpPr>
          <p:cNvPr id="32" name="Text 25"/>
          <p:cNvSpPr txBox="1"/>
          <p:nvPr/>
        </p:nvSpPr>
        <p:spPr>
          <a:xfrm>
            <a:off x="9692640" y="2743200"/>
            <a:ext cx="1645920" cy="8229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Approve, edit, or let it through by policy</a:t>
            </a:r>
            <a:endParaRPr lang="en-US" sz="1100" dirty="0"/>
          </a:p>
        </p:txBody>
      </p:sp>
      <p:sp>
        <p:nvSpPr>
          <p:cNvPr id="33" name="Shape 26"/>
          <p:cNvSpPr/>
          <p:nvPr/>
        </p:nvSpPr>
        <p:spPr>
          <a:xfrm>
            <a:off x="548640" y="3886200"/>
            <a:ext cx="3566160" cy="2286000"/>
          </a:xfrm>
          <a:prstGeom prst="roundRect">
            <a:avLst>
              <a:gd name="adj" fmla="val 4800"/>
            </a:avLst>
          </a:prstGeom>
          <a:solidFill>
            <a:srgbClr val="DFEDEC"/>
          </a:solidFill>
          <a:ln w="12700">
            <a:solidFill>
              <a:srgbClr val="DFEDEC"/>
            </a:solidFill>
            <a:prstDash val="solid"/>
          </a:ln>
        </p:spPr>
      </p:sp>
      <p:sp>
        <p:nvSpPr>
          <p:cNvPr id="34" name="Text 27"/>
          <p:cNvSpPr txBox="1"/>
          <p:nvPr/>
        </p:nvSpPr>
        <p:spPr>
          <a:xfrm>
            <a:off x="749808" y="4050792"/>
            <a:ext cx="3163824" cy="365760"/>
          </a:xfrm>
          <a:prstGeom prst="rect">
            <a:avLst/>
          </a:prstGeom>
          <a:noFill/>
          <a:ln/>
        </p:spPr>
        <p:txBody>
          <a:bodyPr wrap="square" lIns="0" tIns="0" rIns="0" bIns="0" rtlCol="0" anchor="t"/>
          <a:lstStyle/>
          <a:p>
            <a:pPr indent="0" marL="0">
              <a:buNone/>
            </a:pPr>
            <a:r>
              <a:rPr lang="en-US" sz="1500" b="1" dirty="0">
                <a:solidFill>
                  <a:srgbClr val="0A3B39"/>
                </a:solidFill>
                <a:latin typeface="Cambria" pitchFamily="34" charset="0"/>
                <a:ea typeface="Cambria" pitchFamily="34" charset="-122"/>
                <a:cs typeface="Cambria" pitchFamily="34" charset="-120"/>
              </a:rPr>
              <a:t>May do alone</a:t>
            </a:r>
            <a:endParaRPr lang="en-US" sz="1500" dirty="0"/>
          </a:p>
        </p:txBody>
      </p:sp>
      <p:sp>
        <p:nvSpPr>
          <p:cNvPr id="35" name="Text 28"/>
          <p:cNvSpPr txBox="1"/>
          <p:nvPr/>
        </p:nvSpPr>
        <p:spPr>
          <a:xfrm>
            <a:off x="749808" y="4462272"/>
            <a:ext cx="3163824" cy="15727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Post a status draft to a channel</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Label and route new intake</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Remind owners of ageing items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Extract actions from a transcript</a:t>
            </a:r>
            <a:endParaRPr lang="en-US" sz="1150" dirty="0"/>
          </a:p>
        </p:txBody>
      </p:sp>
      <p:sp>
        <p:nvSpPr>
          <p:cNvPr id="36" name="Shape 29"/>
          <p:cNvSpPr/>
          <p:nvPr/>
        </p:nvSpPr>
        <p:spPr>
          <a:xfrm>
            <a:off x="4297680" y="3886200"/>
            <a:ext cx="3566160" cy="2286000"/>
          </a:xfrm>
          <a:prstGeom prst="roundRect">
            <a:avLst>
              <a:gd name="adj" fmla="val 4800"/>
            </a:avLst>
          </a:prstGeom>
          <a:solidFill>
            <a:srgbClr val="F4F6F6"/>
          </a:solidFill>
          <a:ln w="12700">
            <a:solidFill>
              <a:srgbClr val="F4F6F6"/>
            </a:solidFill>
            <a:prstDash val="solid"/>
          </a:ln>
        </p:spPr>
      </p:sp>
      <p:sp>
        <p:nvSpPr>
          <p:cNvPr id="37" name="Text 30"/>
          <p:cNvSpPr txBox="1"/>
          <p:nvPr/>
        </p:nvSpPr>
        <p:spPr>
          <a:xfrm>
            <a:off x="4498848" y="4050792"/>
            <a:ext cx="3163824" cy="365760"/>
          </a:xfrm>
          <a:prstGeom prst="rect">
            <a:avLst/>
          </a:prstGeom>
          <a:noFill/>
          <a:ln/>
        </p:spPr>
        <p:txBody>
          <a:bodyPr wrap="square" lIns="0" tIns="0" rIns="0" bIns="0" rtlCol="0" anchor="t"/>
          <a:lstStyle/>
          <a:p>
            <a:pPr indent="0" marL="0">
              <a:buNone/>
            </a:pPr>
            <a:r>
              <a:rPr lang="en-US" sz="1500" b="1" dirty="0">
                <a:solidFill>
                  <a:srgbClr val="0F1A1C"/>
                </a:solidFill>
                <a:latin typeface="Cambria" pitchFamily="34" charset="0"/>
                <a:ea typeface="Cambria" pitchFamily="34" charset="-122"/>
                <a:cs typeface="Cambria" pitchFamily="34" charset="-120"/>
              </a:rPr>
              <a:t>Must draft for approval</a:t>
            </a:r>
            <a:endParaRPr lang="en-US" sz="1500" dirty="0"/>
          </a:p>
        </p:txBody>
      </p:sp>
      <p:sp>
        <p:nvSpPr>
          <p:cNvPr id="38" name="Text 31"/>
          <p:cNvSpPr txBox="1"/>
          <p:nvPr/>
        </p:nvSpPr>
        <p:spPr>
          <a:xfrm>
            <a:off x="4498848" y="4462272"/>
            <a:ext cx="3163824" cy="15727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Client-facing communications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Scope or date changes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Escalations to a sponsor</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Anything that names a person's performance</a:t>
            </a:r>
            <a:endParaRPr lang="en-US" sz="1150" dirty="0"/>
          </a:p>
        </p:txBody>
      </p:sp>
      <p:sp>
        <p:nvSpPr>
          <p:cNvPr id="39" name="Shape 32"/>
          <p:cNvSpPr/>
          <p:nvPr/>
        </p:nvSpPr>
        <p:spPr>
          <a:xfrm>
            <a:off x="8046720" y="3886200"/>
            <a:ext cx="3566160" cy="2286000"/>
          </a:xfrm>
          <a:prstGeom prst="roundRect">
            <a:avLst>
              <a:gd name="adj" fmla="val 4800"/>
            </a:avLst>
          </a:prstGeom>
          <a:solidFill>
            <a:srgbClr val="F5E6E3"/>
          </a:solidFill>
          <a:ln w="12700">
            <a:solidFill>
              <a:srgbClr val="F5E6E3"/>
            </a:solidFill>
            <a:prstDash val="solid"/>
          </a:ln>
        </p:spPr>
      </p:sp>
      <p:sp>
        <p:nvSpPr>
          <p:cNvPr id="40" name="Text 33"/>
          <p:cNvSpPr txBox="1"/>
          <p:nvPr/>
        </p:nvSpPr>
        <p:spPr>
          <a:xfrm>
            <a:off x="8247888" y="4050792"/>
            <a:ext cx="3163824" cy="365760"/>
          </a:xfrm>
          <a:prstGeom prst="rect">
            <a:avLst/>
          </a:prstGeom>
          <a:noFill/>
          <a:ln/>
        </p:spPr>
        <p:txBody>
          <a:bodyPr wrap="square" lIns="0" tIns="0" rIns="0" bIns="0" rtlCol="0" anchor="t"/>
          <a:lstStyle/>
          <a:p>
            <a:pPr indent="0" marL="0">
              <a:buNone/>
            </a:pPr>
            <a:r>
              <a:rPr lang="en-US" sz="1500" b="1" dirty="0">
                <a:solidFill>
                  <a:srgbClr val="A33526"/>
                </a:solidFill>
                <a:latin typeface="Cambria" pitchFamily="34" charset="0"/>
                <a:ea typeface="Cambria" pitchFamily="34" charset="-122"/>
                <a:cs typeface="Cambria" pitchFamily="34" charset="-120"/>
              </a:rPr>
              <a:t>Must never touch</a:t>
            </a:r>
            <a:endParaRPr lang="en-US" sz="1500" dirty="0"/>
          </a:p>
        </p:txBody>
      </p:sp>
      <p:sp>
        <p:nvSpPr>
          <p:cNvPr id="41" name="Text 34"/>
          <p:cNvSpPr txBox="1"/>
          <p:nvPr/>
        </p:nvSpPr>
        <p:spPr>
          <a:xfrm>
            <a:off x="8247888" y="4462272"/>
            <a:ext cx="3163824" cy="15727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A33526"/>
                </a:solidFill>
                <a:latin typeface="Calibri" pitchFamily="34" charset="0"/>
                <a:ea typeface="Calibri" pitchFamily="34" charset="-122"/>
                <a:cs typeface="Calibri" pitchFamily="34" charset="-120"/>
              </a:rPr>
              <a:t>Merging to production</a:t>
            </a:r>
            <a:endParaRPr lang="en-US" sz="1150" dirty="0"/>
          </a:p>
          <a:p>
            <a:pPr marL="152400" indent="-152400">
              <a:spcAft>
                <a:spcPts val="400"/>
              </a:spcAft>
              <a:buSzPct val="100000"/>
              <a:buChar char="•"/>
            </a:pPr>
            <a:r>
              <a:rPr lang="en-US" sz="1150" dirty="0">
                <a:solidFill>
                  <a:srgbClr val="A33526"/>
                </a:solidFill>
                <a:latin typeface="Calibri" pitchFamily="34" charset="0"/>
                <a:ea typeface="Calibri" pitchFamily="34" charset="-122"/>
                <a:cs typeface="Calibri" pitchFamily="34" charset="-120"/>
              </a:rPr>
              <a:t>Approving a gate on a human's behalf</a:t>
            </a:r>
            <a:endParaRPr lang="en-US" sz="1150" dirty="0"/>
          </a:p>
          <a:p>
            <a:pPr marL="152400" indent="-152400">
              <a:spcAft>
                <a:spcPts val="400"/>
              </a:spcAft>
              <a:buSzPct val="100000"/>
              <a:buChar char="•"/>
            </a:pPr>
            <a:r>
              <a:rPr lang="en-US" sz="1150" dirty="0">
                <a:solidFill>
                  <a:srgbClr val="A33526"/>
                </a:solidFill>
                <a:latin typeface="Calibri" pitchFamily="34" charset="0"/>
                <a:ea typeface="Calibri" pitchFamily="34" charset="-122"/>
                <a:cs typeface="Calibri" pitchFamily="34" charset="-120"/>
              </a:rPr>
              <a:t>Deleting records</a:t>
            </a:r>
            <a:endParaRPr lang="en-US" sz="1150" dirty="0"/>
          </a:p>
          <a:p>
            <a:pPr marL="152400" indent="-152400">
              <a:spcAft>
                <a:spcPts val="400"/>
              </a:spcAft>
              <a:buSzPct val="100000"/>
              <a:buChar char="•"/>
            </a:pPr>
            <a:r>
              <a:rPr lang="en-US" sz="1150" dirty="0">
                <a:solidFill>
                  <a:srgbClr val="A33526"/>
                </a:solidFill>
                <a:latin typeface="Calibri" pitchFamily="34" charset="0"/>
                <a:ea typeface="Calibri" pitchFamily="34" charset="-122"/>
                <a:cs typeface="Calibri" pitchFamily="34" charset="-120"/>
              </a:rPr>
              <a:t>Sending data outside the client's policy</a:t>
            </a:r>
            <a:endParaRPr lang="en-US" sz="1150" dirty="0"/>
          </a:p>
        </p:txBody>
      </p:sp>
      <p:sp>
        <p:nvSpPr>
          <p:cNvPr id="42" name="Text 3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43" name="Text 36"/>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2 · MODULE 2.2 · THE LABEL STATE MACHINE AS DATA</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Report from the system of record, not from people</a:t>
            </a:r>
            <a:endParaRPr lang="en-US" sz="3000" dirty="0"/>
          </a:p>
        </p:txBody>
      </p:sp>
      <p:sp>
        <p:nvSpPr>
          <p:cNvPr id="4" name="Shape 2"/>
          <p:cNvSpPr/>
          <p:nvPr/>
        </p:nvSpPr>
        <p:spPr>
          <a:xfrm>
            <a:off x="548640" y="1645920"/>
            <a:ext cx="1485900" cy="292608"/>
          </a:xfrm>
          <a:prstGeom prst="roundRect">
            <a:avLst>
              <a:gd name="adj" fmla="val 50000"/>
            </a:avLst>
          </a:prstGeom>
          <a:solidFill>
            <a:srgbClr val="FAEDE4"/>
          </a:solidFill>
          <a:ln w="6350">
            <a:solidFill>
              <a:srgbClr val="FAEDE4"/>
            </a:solidFill>
            <a:prstDash val="solid"/>
          </a:ln>
        </p:spPr>
      </p:sp>
      <p:sp>
        <p:nvSpPr>
          <p:cNvPr id="5" name="Text 3"/>
          <p:cNvSpPr txBox="1"/>
          <p:nvPr/>
        </p:nvSpPr>
        <p:spPr>
          <a:xfrm>
            <a:off x="548640" y="1645920"/>
            <a:ext cx="1485900" cy="292608"/>
          </a:xfrm>
          <a:prstGeom prst="rect">
            <a:avLst/>
          </a:prstGeom>
          <a:noFill/>
          <a:ln/>
        </p:spPr>
        <p:txBody>
          <a:bodyPr wrap="square" lIns="0" tIns="0" rIns="0" bIns="0" rtlCol="0" anchor="ctr"/>
          <a:lstStyle/>
          <a:p>
            <a:pPr algn="ctr" indent="0" marL="0">
              <a:buNone/>
            </a:pPr>
            <a:r>
              <a:rPr lang="en-US" sz="950" b="1" dirty="0">
                <a:solidFill>
                  <a:srgbClr val="B24A17"/>
                </a:solidFill>
                <a:latin typeface="Courier New" pitchFamily="34" charset="0"/>
                <a:ea typeface="Courier New" pitchFamily="34" charset="-122"/>
                <a:cs typeface="Courier New" pitchFamily="34" charset="-120"/>
              </a:rPr>
              <a:t>factory:backlog</a:t>
            </a:r>
            <a:endParaRPr lang="en-US" sz="950" dirty="0"/>
          </a:p>
        </p:txBody>
      </p:sp>
      <p:sp>
        <p:nvSpPr>
          <p:cNvPr id="6" name="Shape 4"/>
          <p:cNvSpPr/>
          <p:nvPr/>
        </p:nvSpPr>
        <p:spPr>
          <a:xfrm>
            <a:off x="2071116" y="1691640"/>
            <a:ext cx="182880" cy="201168"/>
          </a:xfrm>
          <a:prstGeom prst="rightArrow">
            <a:avLst/>
          </a:prstGeom>
          <a:solidFill>
            <a:srgbClr val="9FADB1"/>
          </a:solidFill>
          <a:ln w="12700">
            <a:solidFill>
              <a:srgbClr val="9FADB1"/>
            </a:solidFill>
            <a:prstDash val="solid"/>
          </a:ln>
        </p:spPr>
      </p:sp>
      <p:sp>
        <p:nvSpPr>
          <p:cNvPr id="7" name="Shape 5"/>
          <p:cNvSpPr/>
          <p:nvPr/>
        </p:nvSpPr>
        <p:spPr>
          <a:xfrm>
            <a:off x="2327148" y="1645920"/>
            <a:ext cx="1408176" cy="292608"/>
          </a:xfrm>
          <a:prstGeom prst="roundRect">
            <a:avLst>
              <a:gd name="adj" fmla="val 50000"/>
            </a:avLst>
          </a:prstGeom>
          <a:solidFill>
            <a:srgbClr val="DFEDEC"/>
          </a:solidFill>
          <a:ln w="6350">
            <a:solidFill>
              <a:srgbClr val="DFEDEC"/>
            </a:solidFill>
            <a:prstDash val="solid"/>
          </a:ln>
        </p:spPr>
      </p:sp>
      <p:sp>
        <p:nvSpPr>
          <p:cNvPr id="8" name="Text 6"/>
          <p:cNvSpPr txBox="1"/>
          <p:nvPr/>
        </p:nvSpPr>
        <p:spPr>
          <a:xfrm>
            <a:off x="2327148" y="1645920"/>
            <a:ext cx="1408176"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factory:intake</a:t>
            </a:r>
            <a:endParaRPr lang="en-US" sz="950" dirty="0"/>
          </a:p>
        </p:txBody>
      </p:sp>
      <p:sp>
        <p:nvSpPr>
          <p:cNvPr id="9" name="Shape 7"/>
          <p:cNvSpPr/>
          <p:nvPr/>
        </p:nvSpPr>
        <p:spPr>
          <a:xfrm>
            <a:off x="3771900" y="1691640"/>
            <a:ext cx="182880" cy="201168"/>
          </a:xfrm>
          <a:prstGeom prst="rightArrow">
            <a:avLst/>
          </a:prstGeom>
          <a:solidFill>
            <a:srgbClr val="9FADB1"/>
          </a:solidFill>
          <a:ln w="12700">
            <a:solidFill>
              <a:srgbClr val="9FADB1"/>
            </a:solidFill>
            <a:prstDash val="solid"/>
          </a:ln>
        </p:spPr>
      </p:sp>
      <p:sp>
        <p:nvSpPr>
          <p:cNvPr id="10" name="Shape 8"/>
          <p:cNvSpPr/>
          <p:nvPr/>
        </p:nvSpPr>
        <p:spPr>
          <a:xfrm>
            <a:off x="4027932" y="1645920"/>
            <a:ext cx="1719072" cy="292608"/>
          </a:xfrm>
          <a:prstGeom prst="roundRect">
            <a:avLst>
              <a:gd name="adj" fmla="val 50000"/>
            </a:avLst>
          </a:prstGeom>
          <a:solidFill>
            <a:srgbClr val="FAEDE4"/>
          </a:solidFill>
          <a:ln w="6350">
            <a:solidFill>
              <a:srgbClr val="FAEDE4"/>
            </a:solidFill>
            <a:prstDash val="solid"/>
          </a:ln>
        </p:spPr>
      </p:sp>
      <p:sp>
        <p:nvSpPr>
          <p:cNvPr id="11" name="Text 9"/>
          <p:cNvSpPr txBox="1"/>
          <p:nvPr/>
        </p:nvSpPr>
        <p:spPr>
          <a:xfrm>
            <a:off x="4027932" y="1645920"/>
            <a:ext cx="1719072" cy="292608"/>
          </a:xfrm>
          <a:prstGeom prst="rect">
            <a:avLst/>
          </a:prstGeom>
          <a:noFill/>
          <a:ln/>
        </p:spPr>
        <p:txBody>
          <a:bodyPr wrap="square" lIns="0" tIns="0" rIns="0" bIns="0" rtlCol="0" anchor="ctr"/>
          <a:lstStyle/>
          <a:p>
            <a:pPr algn="ctr" indent="0" marL="0">
              <a:buNone/>
            </a:pPr>
            <a:r>
              <a:rPr lang="en-US" sz="950" b="1" dirty="0">
                <a:solidFill>
                  <a:srgbClr val="B24A17"/>
                </a:solidFill>
                <a:latin typeface="Courier New" pitchFamily="34" charset="0"/>
                <a:ea typeface="Courier New" pitchFamily="34" charset="-122"/>
                <a:cs typeface="Courier New" pitchFamily="34" charset="-120"/>
              </a:rPr>
              <a:t>factory:spec-ready</a:t>
            </a:r>
            <a:endParaRPr lang="en-US" sz="950" dirty="0"/>
          </a:p>
        </p:txBody>
      </p:sp>
      <p:sp>
        <p:nvSpPr>
          <p:cNvPr id="12" name="Shape 10"/>
          <p:cNvSpPr/>
          <p:nvPr/>
        </p:nvSpPr>
        <p:spPr>
          <a:xfrm>
            <a:off x="5783580" y="1691640"/>
            <a:ext cx="182880" cy="201168"/>
          </a:xfrm>
          <a:prstGeom prst="rightArrow">
            <a:avLst/>
          </a:prstGeom>
          <a:solidFill>
            <a:srgbClr val="9FADB1"/>
          </a:solidFill>
          <a:ln w="12700">
            <a:solidFill>
              <a:srgbClr val="9FADB1"/>
            </a:solidFill>
            <a:prstDash val="solid"/>
          </a:ln>
        </p:spPr>
      </p:sp>
      <p:sp>
        <p:nvSpPr>
          <p:cNvPr id="13" name="Shape 11"/>
          <p:cNvSpPr/>
          <p:nvPr/>
        </p:nvSpPr>
        <p:spPr>
          <a:xfrm>
            <a:off x="6039612" y="1645920"/>
            <a:ext cx="1952244" cy="292608"/>
          </a:xfrm>
          <a:prstGeom prst="roundRect">
            <a:avLst>
              <a:gd name="adj" fmla="val 50000"/>
            </a:avLst>
          </a:prstGeom>
          <a:solidFill>
            <a:srgbClr val="DFEDEC"/>
          </a:solidFill>
          <a:ln w="6350">
            <a:solidFill>
              <a:srgbClr val="DFEDEC"/>
            </a:solidFill>
            <a:prstDash val="solid"/>
          </a:ln>
        </p:spPr>
      </p:sp>
      <p:sp>
        <p:nvSpPr>
          <p:cNvPr id="14" name="Text 12"/>
          <p:cNvSpPr txBox="1"/>
          <p:nvPr/>
        </p:nvSpPr>
        <p:spPr>
          <a:xfrm>
            <a:off x="6039612" y="1645920"/>
            <a:ext cx="1952244"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factory:spec-approved</a:t>
            </a:r>
            <a:endParaRPr lang="en-US" sz="950" dirty="0"/>
          </a:p>
        </p:txBody>
      </p:sp>
      <p:sp>
        <p:nvSpPr>
          <p:cNvPr id="15" name="Shape 13"/>
          <p:cNvSpPr/>
          <p:nvPr/>
        </p:nvSpPr>
        <p:spPr>
          <a:xfrm>
            <a:off x="8028432" y="1691640"/>
            <a:ext cx="182880" cy="201168"/>
          </a:xfrm>
          <a:prstGeom prst="rightArrow">
            <a:avLst/>
          </a:prstGeom>
          <a:solidFill>
            <a:srgbClr val="9FADB1"/>
          </a:solidFill>
          <a:ln w="12700">
            <a:solidFill>
              <a:srgbClr val="9FADB1"/>
            </a:solidFill>
            <a:prstDash val="solid"/>
          </a:ln>
        </p:spPr>
      </p:sp>
      <p:sp>
        <p:nvSpPr>
          <p:cNvPr id="16" name="Shape 14"/>
          <p:cNvSpPr/>
          <p:nvPr/>
        </p:nvSpPr>
        <p:spPr>
          <a:xfrm>
            <a:off x="8284464" y="1645920"/>
            <a:ext cx="1485900" cy="292608"/>
          </a:xfrm>
          <a:prstGeom prst="roundRect">
            <a:avLst>
              <a:gd name="adj" fmla="val 50000"/>
            </a:avLst>
          </a:prstGeom>
          <a:solidFill>
            <a:srgbClr val="DFEDEC"/>
          </a:solidFill>
          <a:ln w="6350">
            <a:solidFill>
              <a:srgbClr val="DFEDEC"/>
            </a:solidFill>
            <a:prstDash val="solid"/>
          </a:ln>
        </p:spPr>
      </p:sp>
      <p:sp>
        <p:nvSpPr>
          <p:cNvPr id="17" name="Text 15"/>
          <p:cNvSpPr txBox="1"/>
          <p:nvPr/>
        </p:nvSpPr>
        <p:spPr>
          <a:xfrm>
            <a:off x="8284464" y="1645920"/>
            <a:ext cx="1485900"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factory:planned</a:t>
            </a:r>
            <a:endParaRPr lang="en-US" sz="950" dirty="0"/>
          </a:p>
        </p:txBody>
      </p:sp>
      <p:sp>
        <p:nvSpPr>
          <p:cNvPr id="18" name="Shape 16"/>
          <p:cNvSpPr/>
          <p:nvPr/>
        </p:nvSpPr>
        <p:spPr>
          <a:xfrm>
            <a:off x="9806940" y="1691640"/>
            <a:ext cx="182880" cy="201168"/>
          </a:xfrm>
          <a:prstGeom prst="rightArrow">
            <a:avLst/>
          </a:prstGeom>
          <a:solidFill>
            <a:srgbClr val="9FADB1"/>
          </a:solidFill>
          <a:ln w="12700">
            <a:solidFill>
              <a:srgbClr val="9FADB1"/>
            </a:solidFill>
            <a:prstDash val="solid"/>
          </a:ln>
        </p:spPr>
      </p:sp>
      <p:sp>
        <p:nvSpPr>
          <p:cNvPr id="19" name="Shape 17"/>
          <p:cNvSpPr/>
          <p:nvPr/>
        </p:nvSpPr>
        <p:spPr>
          <a:xfrm>
            <a:off x="10062972" y="1645920"/>
            <a:ext cx="1874520" cy="292608"/>
          </a:xfrm>
          <a:prstGeom prst="roundRect">
            <a:avLst>
              <a:gd name="adj" fmla="val 50000"/>
            </a:avLst>
          </a:prstGeom>
          <a:solidFill>
            <a:srgbClr val="FAEDE4"/>
          </a:solidFill>
          <a:ln w="6350">
            <a:solidFill>
              <a:srgbClr val="FAEDE4"/>
            </a:solidFill>
            <a:prstDash val="solid"/>
          </a:ln>
        </p:spPr>
      </p:sp>
      <p:sp>
        <p:nvSpPr>
          <p:cNvPr id="20" name="Text 18"/>
          <p:cNvSpPr txBox="1"/>
          <p:nvPr/>
        </p:nvSpPr>
        <p:spPr>
          <a:xfrm>
            <a:off x="10062972" y="1645920"/>
            <a:ext cx="1874520" cy="292608"/>
          </a:xfrm>
          <a:prstGeom prst="rect">
            <a:avLst/>
          </a:prstGeom>
          <a:noFill/>
          <a:ln/>
        </p:spPr>
        <p:txBody>
          <a:bodyPr wrap="square" lIns="0" tIns="0" rIns="0" bIns="0" rtlCol="0" anchor="ctr"/>
          <a:lstStyle/>
          <a:p>
            <a:pPr algn="ctr" indent="0" marL="0">
              <a:buNone/>
            </a:pPr>
            <a:r>
              <a:rPr lang="en-US" sz="950" b="1" dirty="0">
                <a:solidFill>
                  <a:srgbClr val="B24A17"/>
                </a:solidFill>
                <a:latin typeface="Courier New" pitchFamily="34" charset="0"/>
                <a:ea typeface="Courier New" pitchFamily="34" charset="-122"/>
                <a:cs typeface="Courier New" pitchFamily="34" charset="-120"/>
              </a:rPr>
              <a:t>factory:design-ready</a:t>
            </a:r>
            <a:endParaRPr lang="en-US" sz="950" dirty="0"/>
          </a:p>
        </p:txBody>
      </p:sp>
      <p:sp>
        <p:nvSpPr>
          <p:cNvPr id="21" name="Shape 19"/>
          <p:cNvSpPr/>
          <p:nvPr/>
        </p:nvSpPr>
        <p:spPr>
          <a:xfrm>
            <a:off x="548640" y="2148840"/>
            <a:ext cx="2107692" cy="292608"/>
          </a:xfrm>
          <a:prstGeom prst="roundRect">
            <a:avLst>
              <a:gd name="adj" fmla="val 50000"/>
            </a:avLst>
          </a:prstGeom>
          <a:solidFill>
            <a:srgbClr val="DFEDEC"/>
          </a:solidFill>
          <a:ln w="6350">
            <a:solidFill>
              <a:srgbClr val="DFEDEC"/>
            </a:solidFill>
            <a:prstDash val="solid"/>
          </a:ln>
        </p:spPr>
      </p:sp>
      <p:sp>
        <p:nvSpPr>
          <p:cNvPr id="22" name="Text 20"/>
          <p:cNvSpPr txBox="1"/>
          <p:nvPr/>
        </p:nvSpPr>
        <p:spPr>
          <a:xfrm>
            <a:off x="548640" y="2148840"/>
            <a:ext cx="2107692"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factory:design-approved</a:t>
            </a:r>
            <a:endParaRPr lang="en-US" sz="950" dirty="0"/>
          </a:p>
        </p:txBody>
      </p:sp>
      <p:sp>
        <p:nvSpPr>
          <p:cNvPr id="23" name="Shape 21"/>
          <p:cNvSpPr/>
          <p:nvPr/>
        </p:nvSpPr>
        <p:spPr>
          <a:xfrm>
            <a:off x="2692908" y="2194560"/>
            <a:ext cx="182880" cy="201168"/>
          </a:xfrm>
          <a:prstGeom prst="rightArrow">
            <a:avLst/>
          </a:prstGeom>
          <a:solidFill>
            <a:srgbClr val="9FADB1"/>
          </a:solidFill>
          <a:ln w="12700">
            <a:solidFill>
              <a:srgbClr val="9FADB1"/>
            </a:solidFill>
            <a:prstDash val="solid"/>
          </a:ln>
        </p:spPr>
      </p:sp>
      <p:sp>
        <p:nvSpPr>
          <p:cNvPr id="24" name="Shape 22"/>
          <p:cNvSpPr/>
          <p:nvPr/>
        </p:nvSpPr>
        <p:spPr>
          <a:xfrm>
            <a:off x="2948940" y="2148840"/>
            <a:ext cx="1330452" cy="292608"/>
          </a:xfrm>
          <a:prstGeom prst="roundRect">
            <a:avLst>
              <a:gd name="adj" fmla="val 50000"/>
            </a:avLst>
          </a:prstGeom>
          <a:solidFill>
            <a:srgbClr val="DFEDEC"/>
          </a:solidFill>
          <a:ln w="6350">
            <a:solidFill>
              <a:srgbClr val="DFEDEC"/>
            </a:solidFill>
            <a:prstDash val="solid"/>
          </a:ln>
        </p:spPr>
      </p:sp>
      <p:sp>
        <p:nvSpPr>
          <p:cNvPr id="25" name="Text 23"/>
          <p:cNvSpPr txBox="1"/>
          <p:nvPr/>
        </p:nvSpPr>
        <p:spPr>
          <a:xfrm>
            <a:off x="2948940" y="2148840"/>
            <a:ext cx="1330452"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factory:ready</a:t>
            </a:r>
            <a:endParaRPr lang="en-US" sz="950" dirty="0"/>
          </a:p>
        </p:txBody>
      </p:sp>
      <p:sp>
        <p:nvSpPr>
          <p:cNvPr id="26" name="Shape 24"/>
          <p:cNvSpPr/>
          <p:nvPr/>
        </p:nvSpPr>
        <p:spPr>
          <a:xfrm>
            <a:off x="4315968" y="2194560"/>
            <a:ext cx="182880" cy="201168"/>
          </a:xfrm>
          <a:prstGeom prst="rightArrow">
            <a:avLst/>
          </a:prstGeom>
          <a:solidFill>
            <a:srgbClr val="9FADB1"/>
          </a:solidFill>
          <a:ln w="12700">
            <a:solidFill>
              <a:srgbClr val="9FADB1"/>
            </a:solidFill>
            <a:prstDash val="solid"/>
          </a:ln>
        </p:spPr>
      </p:sp>
      <p:sp>
        <p:nvSpPr>
          <p:cNvPr id="27" name="Shape 25"/>
          <p:cNvSpPr/>
          <p:nvPr/>
        </p:nvSpPr>
        <p:spPr>
          <a:xfrm>
            <a:off x="4572000" y="2148840"/>
            <a:ext cx="1641348" cy="292608"/>
          </a:xfrm>
          <a:prstGeom prst="roundRect">
            <a:avLst>
              <a:gd name="adj" fmla="val 50000"/>
            </a:avLst>
          </a:prstGeom>
          <a:solidFill>
            <a:srgbClr val="DFEDEC"/>
          </a:solidFill>
          <a:ln w="6350">
            <a:solidFill>
              <a:srgbClr val="DFEDEC"/>
            </a:solidFill>
            <a:prstDash val="solid"/>
          </a:ln>
        </p:spPr>
      </p:sp>
      <p:sp>
        <p:nvSpPr>
          <p:cNvPr id="28" name="Text 26"/>
          <p:cNvSpPr txBox="1"/>
          <p:nvPr/>
        </p:nvSpPr>
        <p:spPr>
          <a:xfrm>
            <a:off x="4572000" y="2148840"/>
            <a:ext cx="1641348"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factory:in-review</a:t>
            </a:r>
            <a:endParaRPr lang="en-US" sz="950" dirty="0"/>
          </a:p>
        </p:txBody>
      </p:sp>
      <p:sp>
        <p:nvSpPr>
          <p:cNvPr id="29" name="Shape 27"/>
          <p:cNvSpPr/>
          <p:nvPr/>
        </p:nvSpPr>
        <p:spPr>
          <a:xfrm>
            <a:off x="6249924" y="2194560"/>
            <a:ext cx="182880" cy="201168"/>
          </a:xfrm>
          <a:prstGeom prst="rightArrow">
            <a:avLst/>
          </a:prstGeom>
          <a:solidFill>
            <a:srgbClr val="9FADB1"/>
          </a:solidFill>
          <a:ln w="12700">
            <a:solidFill>
              <a:srgbClr val="9FADB1"/>
            </a:solidFill>
            <a:prstDash val="solid"/>
          </a:ln>
        </p:spPr>
      </p:sp>
      <p:sp>
        <p:nvSpPr>
          <p:cNvPr id="30" name="Shape 28"/>
          <p:cNvSpPr/>
          <p:nvPr/>
        </p:nvSpPr>
        <p:spPr>
          <a:xfrm>
            <a:off x="6505956" y="2148840"/>
            <a:ext cx="1485900" cy="292608"/>
          </a:xfrm>
          <a:prstGeom prst="roundRect">
            <a:avLst>
              <a:gd name="adj" fmla="val 50000"/>
            </a:avLst>
          </a:prstGeom>
          <a:solidFill>
            <a:srgbClr val="DFEDEC"/>
          </a:solidFill>
          <a:ln w="6350">
            <a:solidFill>
              <a:srgbClr val="DFEDEC"/>
            </a:solidFill>
            <a:prstDash val="solid"/>
          </a:ln>
        </p:spPr>
      </p:sp>
      <p:sp>
        <p:nvSpPr>
          <p:cNvPr id="31" name="Text 29"/>
          <p:cNvSpPr txBox="1"/>
          <p:nvPr/>
        </p:nvSpPr>
        <p:spPr>
          <a:xfrm>
            <a:off x="6505956" y="2148840"/>
            <a:ext cx="1485900"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factory:in-test</a:t>
            </a:r>
            <a:endParaRPr lang="en-US" sz="950" dirty="0"/>
          </a:p>
        </p:txBody>
      </p:sp>
      <p:sp>
        <p:nvSpPr>
          <p:cNvPr id="32" name="Shape 30"/>
          <p:cNvSpPr/>
          <p:nvPr/>
        </p:nvSpPr>
        <p:spPr>
          <a:xfrm>
            <a:off x="8028432" y="2194560"/>
            <a:ext cx="182880" cy="201168"/>
          </a:xfrm>
          <a:prstGeom prst="rightArrow">
            <a:avLst/>
          </a:prstGeom>
          <a:solidFill>
            <a:srgbClr val="9FADB1"/>
          </a:solidFill>
          <a:ln w="12700">
            <a:solidFill>
              <a:srgbClr val="9FADB1"/>
            </a:solidFill>
            <a:prstDash val="solid"/>
          </a:ln>
        </p:spPr>
      </p:sp>
      <p:sp>
        <p:nvSpPr>
          <p:cNvPr id="33" name="Shape 31"/>
          <p:cNvSpPr/>
          <p:nvPr/>
        </p:nvSpPr>
        <p:spPr>
          <a:xfrm>
            <a:off x="8284464" y="2148840"/>
            <a:ext cx="1952244" cy="292608"/>
          </a:xfrm>
          <a:prstGeom prst="roundRect">
            <a:avLst>
              <a:gd name="adj" fmla="val 50000"/>
            </a:avLst>
          </a:prstGeom>
          <a:solidFill>
            <a:srgbClr val="DFEDEC"/>
          </a:solidFill>
          <a:ln w="6350">
            <a:solidFill>
              <a:srgbClr val="DFEDEC"/>
            </a:solidFill>
            <a:prstDash val="solid"/>
          </a:ln>
        </p:spPr>
      </p:sp>
      <p:sp>
        <p:nvSpPr>
          <p:cNvPr id="34" name="Text 32"/>
          <p:cNvSpPr txBox="1"/>
          <p:nvPr/>
        </p:nvSpPr>
        <p:spPr>
          <a:xfrm>
            <a:off x="8284464" y="2148840"/>
            <a:ext cx="1952244"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factory:ready-to-ship</a:t>
            </a:r>
            <a:endParaRPr lang="en-US" sz="950" dirty="0"/>
          </a:p>
        </p:txBody>
      </p:sp>
      <p:sp>
        <p:nvSpPr>
          <p:cNvPr id="35" name="Shape 33"/>
          <p:cNvSpPr/>
          <p:nvPr/>
        </p:nvSpPr>
        <p:spPr>
          <a:xfrm>
            <a:off x="548640" y="2651760"/>
            <a:ext cx="1719072" cy="292608"/>
          </a:xfrm>
          <a:prstGeom prst="roundRect">
            <a:avLst>
              <a:gd name="adj" fmla="val 50000"/>
            </a:avLst>
          </a:prstGeom>
          <a:solidFill>
            <a:srgbClr val="FAEDE4"/>
          </a:solidFill>
          <a:ln w="6350">
            <a:solidFill>
              <a:srgbClr val="FAEDE4"/>
            </a:solidFill>
            <a:prstDash val="solid"/>
          </a:ln>
        </p:spPr>
      </p:sp>
      <p:sp>
        <p:nvSpPr>
          <p:cNvPr id="36" name="Text 34"/>
          <p:cNvSpPr txBox="1"/>
          <p:nvPr/>
        </p:nvSpPr>
        <p:spPr>
          <a:xfrm>
            <a:off x="548640" y="2651760"/>
            <a:ext cx="1719072" cy="292608"/>
          </a:xfrm>
          <a:prstGeom prst="rect">
            <a:avLst/>
          </a:prstGeom>
          <a:noFill/>
          <a:ln/>
        </p:spPr>
        <p:txBody>
          <a:bodyPr wrap="square" lIns="0" tIns="0" rIns="0" bIns="0" rtlCol="0" anchor="ctr"/>
          <a:lstStyle/>
          <a:p>
            <a:pPr algn="ctr" indent="0" marL="0">
              <a:buNone/>
            </a:pPr>
            <a:r>
              <a:rPr lang="en-US" sz="950" b="1" dirty="0">
                <a:solidFill>
                  <a:srgbClr val="B24A17"/>
                </a:solidFill>
                <a:latin typeface="Courier New" pitchFamily="34" charset="0"/>
                <a:ea typeface="Courier New" pitchFamily="34" charset="-122"/>
                <a:cs typeface="Courier New" pitchFamily="34" charset="-120"/>
              </a:rPr>
              <a:t>factory:in-staging</a:t>
            </a:r>
            <a:endParaRPr lang="en-US" sz="950" dirty="0"/>
          </a:p>
        </p:txBody>
      </p:sp>
      <p:sp>
        <p:nvSpPr>
          <p:cNvPr id="37" name="Shape 35"/>
          <p:cNvSpPr/>
          <p:nvPr/>
        </p:nvSpPr>
        <p:spPr>
          <a:xfrm>
            <a:off x="2304288" y="2697480"/>
            <a:ext cx="182880" cy="201168"/>
          </a:xfrm>
          <a:prstGeom prst="rightArrow">
            <a:avLst/>
          </a:prstGeom>
          <a:solidFill>
            <a:srgbClr val="9FADB1"/>
          </a:solidFill>
          <a:ln w="12700">
            <a:solidFill>
              <a:srgbClr val="9FADB1"/>
            </a:solidFill>
            <a:prstDash val="solid"/>
          </a:ln>
        </p:spPr>
      </p:sp>
      <p:sp>
        <p:nvSpPr>
          <p:cNvPr id="38" name="Shape 36"/>
          <p:cNvSpPr/>
          <p:nvPr/>
        </p:nvSpPr>
        <p:spPr>
          <a:xfrm>
            <a:off x="2560320" y="2651760"/>
            <a:ext cx="1563624" cy="292608"/>
          </a:xfrm>
          <a:prstGeom prst="roundRect">
            <a:avLst>
              <a:gd name="adj" fmla="val 50000"/>
            </a:avLst>
          </a:prstGeom>
          <a:solidFill>
            <a:srgbClr val="DFEDEC"/>
          </a:solidFill>
          <a:ln w="6350">
            <a:solidFill>
              <a:srgbClr val="DFEDEC"/>
            </a:solidFill>
            <a:prstDash val="solid"/>
          </a:ln>
        </p:spPr>
      </p:sp>
      <p:sp>
        <p:nvSpPr>
          <p:cNvPr id="39" name="Text 37"/>
          <p:cNvSpPr txBox="1"/>
          <p:nvPr/>
        </p:nvSpPr>
        <p:spPr>
          <a:xfrm>
            <a:off x="2560320" y="2651760"/>
            <a:ext cx="1563624" cy="292608"/>
          </a:xfrm>
          <a:prstGeom prst="rect">
            <a:avLst/>
          </a:prstGeom>
          <a:noFill/>
          <a:ln/>
        </p:spPr>
        <p:txBody>
          <a:bodyPr wrap="square" lIns="0" tIns="0" rIns="0" bIns="0" rtlCol="0" anchor="ctr"/>
          <a:lstStyle/>
          <a:p>
            <a:pPr algn="ctr" indent="0" marL="0">
              <a:buNone/>
            </a:pPr>
            <a:r>
              <a:rPr lang="en-US" sz="950" b="1" dirty="0">
                <a:solidFill>
                  <a:srgbClr val="0A3B39"/>
                </a:solidFill>
                <a:latin typeface="Courier New" pitchFamily="34" charset="0"/>
                <a:ea typeface="Courier New" pitchFamily="34" charset="-122"/>
                <a:cs typeface="Courier New" pitchFamily="34" charset="-120"/>
              </a:rPr>
              <a:t>factory:deployed</a:t>
            </a:r>
            <a:endParaRPr lang="en-US" sz="950" dirty="0"/>
          </a:p>
        </p:txBody>
      </p:sp>
      <p:sp>
        <p:nvSpPr>
          <p:cNvPr id="40" name="Text 38"/>
          <p:cNvSpPr txBox="1"/>
          <p:nvPr/>
        </p:nvSpPr>
        <p:spPr>
          <a:xfrm>
            <a:off x="548640" y="3017520"/>
            <a:ext cx="11064240" cy="365760"/>
          </a:xfrm>
          <a:prstGeom prst="rect">
            <a:avLst/>
          </a:prstGeom>
          <a:noFill/>
          <a:ln/>
        </p:spPr>
        <p:txBody>
          <a:bodyPr wrap="square" lIns="0" tIns="0" rIns="0" bIns="0" rtlCol="0" anchor="ctr"/>
          <a:lstStyle/>
          <a:p>
            <a:pPr indent="0" marL="0">
              <a:buNone/>
            </a:pPr>
            <a:r>
              <a:rPr lang="en-US" sz="1100" i="1" dirty="0">
                <a:solidFill>
                  <a:srgbClr val="3A464B"/>
                </a:solidFill>
                <a:latin typeface="Calibri" pitchFamily="34" charset="0"/>
                <a:ea typeface="Calibri" pitchFamily="34" charset="-122"/>
                <a:cs typeface="Calibri" pitchFamily="34" charset="-120"/>
              </a:rPr>
              <a:t>Exactly one state label per issue. Orange states wait on a human. Every transition has a timestamp, an actor and a comment — so status, cycle time, WIP and blocked ageing are queries.</a:t>
            </a:r>
            <a:endParaRPr lang="en-US" sz="1100" dirty="0"/>
          </a:p>
        </p:txBody>
      </p:sp>
      <p:sp>
        <p:nvSpPr>
          <p:cNvPr id="41" name="Shape 39"/>
          <p:cNvSpPr/>
          <p:nvPr/>
        </p:nvSpPr>
        <p:spPr>
          <a:xfrm>
            <a:off x="548640" y="3520440"/>
            <a:ext cx="3566160" cy="2697480"/>
          </a:xfrm>
          <a:prstGeom prst="roundRect">
            <a:avLst>
              <a:gd name="adj" fmla="val 4068"/>
            </a:avLst>
          </a:prstGeom>
          <a:solidFill>
            <a:srgbClr val="F4F6F6"/>
          </a:solidFill>
          <a:ln w="12700">
            <a:solidFill>
              <a:srgbClr val="F4F6F6"/>
            </a:solidFill>
            <a:prstDash val="solid"/>
          </a:ln>
        </p:spPr>
      </p:sp>
      <p:sp>
        <p:nvSpPr>
          <p:cNvPr id="42" name="Text 40"/>
          <p:cNvSpPr txBox="1"/>
          <p:nvPr/>
        </p:nvSpPr>
        <p:spPr>
          <a:xfrm>
            <a:off x="749808" y="3685032"/>
            <a:ext cx="3163824" cy="548640"/>
          </a:xfrm>
          <a:prstGeom prst="rect">
            <a:avLst/>
          </a:prstGeom>
          <a:noFill/>
          <a:ln/>
        </p:spPr>
        <p:txBody>
          <a:bodyPr wrap="square" lIns="0" tIns="0" rIns="0" bIns="0" rtlCol="0" anchor="t"/>
          <a:lstStyle/>
          <a:p>
            <a:pPr indent="0" marL="0">
              <a:buNone/>
            </a:pPr>
            <a:r>
              <a:rPr lang="en-US" sz="1350" b="1" dirty="0">
                <a:solidFill>
                  <a:srgbClr val="0B6E6B"/>
                </a:solidFill>
                <a:latin typeface="Cambria" pitchFamily="34" charset="0"/>
                <a:ea typeface="Cambria" pitchFamily="34" charset="-122"/>
                <a:cs typeface="Cambria" pitchFamily="34" charset="-120"/>
              </a:rPr>
              <a:t>Inputs</a:t>
            </a:r>
            <a:endParaRPr lang="en-US" sz="1350" dirty="0"/>
          </a:p>
        </p:txBody>
      </p:sp>
      <p:sp>
        <p:nvSpPr>
          <p:cNvPr id="43" name="Text 41"/>
          <p:cNvSpPr txBox="1"/>
          <p:nvPr/>
        </p:nvSpPr>
        <p:spPr>
          <a:xfrm>
            <a:off x="749808" y="4279392"/>
            <a:ext cx="3163824" cy="18013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Issues, sub-issues, labels, milestones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Pull requests and reviews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CI runs and deployments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Calendar and meeting transcripts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Never: a status meeting</a:t>
            </a:r>
            <a:endParaRPr lang="en-US" sz="1150" dirty="0"/>
          </a:p>
        </p:txBody>
      </p:sp>
      <p:sp>
        <p:nvSpPr>
          <p:cNvPr id="44" name="Shape 42"/>
          <p:cNvSpPr/>
          <p:nvPr/>
        </p:nvSpPr>
        <p:spPr>
          <a:xfrm>
            <a:off x="4297680" y="3520440"/>
            <a:ext cx="3566160" cy="2697480"/>
          </a:xfrm>
          <a:prstGeom prst="roundRect">
            <a:avLst>
              <a:gd name="adj" fmla="val 4068"/>
            </a:avLst>
          </a:prstGeom>
          <a:solidFill>
            <a:srgbClr val="F4F6F6"/>
          </a:solidFill>
          <a:ln w="12700">
            <a:solidFill>
              <a:srgbClr val="F4F6F6"/>
            </a:solidFill>
            <a:prstDash val="solid"/>
          </a:ln>
        </p:spPr>
      </p:sp>
      <p:sp>
        <p:nvSpPr>
          <p:cNvPr id="45" name="Text 43"/>
          <p:cNvSpPr txBox="1"/>
          <p:nvPr/>
        </p:nvSpPr>
        <p:spPr>
          <a:xfrm>
            <a:off x="4498848" y="3685032"/>
            <a:ext cx="3163824" cy="548640"/>
          </a:xfrm>
          <a:prstGeom prst="rect">
            <a:avLst/>
          </a:prstGeom>
          <a:noFill/>
          <a:ln/>
        </p:spPr>
        <p:txBody>
          <a:bodyPr wrap="square" lIns="0" tIns="0" rIns="0" bIns="0" rtlCol="0" anchor="t"/>
          <a:lstStyle/>
          <a:p>
            <a:pPr indent="0" marL="0">
              <a:buNone/>
            </a:pPr>
            <a:r>
              <a:rPr lang="en-US" sz="1350" b="1" dirty="0">
                <a:solidFill>
                  <a:srgbClr val="0B6E6B"/>
                </a:solidFill>
                <a:latin typeface="Cambria" pitchFamily="34" charset="0"/>
                <a:ea typeface="Cambria" pitchFamily="34" charset="-122"/>
                <a:cs typeface="Cambria" pitchFamily="34" charset="-120"/>
              </a:rPr>
              <a:t>The LLM is the narrator, not the source</a:t>
            </a:r>
            <a:endParaRPr lang="en-US" sz="1350" dirty="0"/>
          </a:p>
        </p:txBody>
      </p:sp>
      <p:sp>
        <p:nvSpPr>
          <p:cNvPr id="46" name="Text 44"/>
          <p:cNvSpPr txBox="1"/>
          <p:nvPr/>
        </p:nvSpPr>
        <p:spPr>
          <a:xfrm>
            <a:off x="4498848" y="4279392"/>
            <a:ext cx="3163824" cy="18013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One dataset, three audiences: sponsor, steering committee, team</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Each claim cites the object it came from</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As-of timestamps on every number</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A review step that costs less than the mistake</a:t>
            </a:r>
            <a:endParaRPr lang="en-US" sz="1150" dirty="0"/>
          </a:p>
        </p:txBody>
      </p:sp>
      <p:sp>
        <p:nvSpPr>
          <p:cNvPr id="47" name="Shape 45"/>
          <p:cNvSpPr/>
          <p:nvPr/>
        </p:nvSpPr>
        <p:spPr>
          <a:xfrm>
            <a:off x="8046720" y="3520440"/>
            <a:ext cx="3566160" cy="2697480"/>
          </a:xfrm>
          <a:prstGeom prst="roundRect">
            <a:avLst>
              <a:gd name="adj" fmla="val 4068"/>
            </a:avLst>
          </a:prstGeom>
          <a:solidFill>
            <a:srgbClr val="F4F6F6"/>
          </a:solidFill>
          <a:ln w="12700">
            <a:solidFill>
              <a:srgbClr val="F4F6F6"/>
            </a:solidFill>
            <a:prstDash val="solid"/>
          </a:ln>
        </p:spPr>
      </p:sp>
      <p:sp>
        <p:nvSpPr>
          <p:cNvPr id="48" name="Text 46"/>
          <p:cNvSpPr txBox="1"/>
          <p:nvPr/>
        </p:nvSpPr>
        <p:spPr>
          <a:xfrm>
            <a:off x="8247888" y="3685032"/>
            <a:ext cx="3163824" cy="548640"/>
          </a:xfrm>
          <a:prstGeom prst="rect">
            <a:avLst/>
          </a:prstGeom>
          <a:noFill/>
          <a:ln/>
        </p:spPr>
        <p:txBody>
          <a:bodyPr wrap="square" lIns="0" tIns="0" rIns="0" bIns="0" rtlCol="0" anchor="t"/>
          <a:lstStyle/>
          <a:p>
            <a:pPr indent="0" marL="0">
              <a:buNone/>
            </a:pPr>
            <a:r>
              <a:rPr lang="en-US" sz="1350" b="1" dirty="0">
                <a:solidFill>
                  <a:srgbClr val="0B6E6B"/>
                </a:solidFill>
                <a:latin typeface="Cambria" pitchFamily="34" charset="0"/>
                <a:ea typeface="Cambria" pitchFamily="34" charset="-122"/>
                <a:cs typeface="Cambria" pitchFamily="34" charset="-120"/>
              </a:rPr>
              <a:t>Meeting intelligence</a:t>
            </a:r>
            <a:endParaRPr lang="en-US" sz="1350" dirty="0"/>
          </a:p>
        </p:txBody>
      </p:sp>
      <p:sp>
        <p:nvSpPr>
          <p:cNvPr id="49" name="Text 47"/>
          <p:cNvSpPr txBox="1"/>
          <p:nvPr/>
        </p:nvSpPr>
        <p:spPr>
          <a:xfrm>
            <a:off x="8247888" y="4279392"/>
            <a:ext cx="3163824" cy="18013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Transcript → decisions, actions, new risks</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Decision log kept current automatically</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In the factory: decisions are posted as ordinary GitHub comments with hidden markers — readable anywhere, indexed by the Console</a:t>
            </a:r>
            <a:endParaRPr lang="en-US" sz="1150" dirty="0"/>
          </a:p>
        </p:txBody>
      </p:sp>
      <p:sp>
        <p:nvSpPr>
          <p:cNvPr id="50" name="Text 4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51" name="Text 49"/>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2 · MODULE 2.2 · THE FACTORY CONSOLE</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What an AI-era PMO dashboard looks like: the attention queue</a:t>
            </a:r>
            <a:endParaRPr lang="en-US" sz="3000" dirty="0"/>
          </a:p>
        </p:txBody>
      </p:sp>
      <p:sp>
        <p:nvSpPr>
          <p:cNvPr id="4" name="Text 2"/>
          <p:cNvSpPr txBox="1"/>
          <p:nvPr/>
        </p:nvSpPr>
        <p:spPr>
          <a:xfrm>
            <a:off x="548640" y="1508760"/>
            <a:ext cx="11064240" cy="457200"/>
          </a:xfrm>
          <a:prstGeom prst="rect">
            <a:avLst/>
          </a:prstGeom>
          <a:noFill/>
          <a:ln/>
        </p:spPr>
        <p:txBody>
          <a:bodyPr wrap="square" lIns="0" tIns="0" rIns="0" bIns="0" rtlCol="0" anchor="ctr"/>
          <a:lstStyle/>
          <a:p>
            <a:pPr indent="0" marL="0">
              <a:buNone/>
            </a:pPr>
            <a:r>
              <a:rPr lang="en-US" sz="1400" i="1" dirty="0">
                <a:solidFill>
                  <a:srgbClr val="0A3B39"/>
                </a:solidFill>
                <a:latin typeface="Cambria" pitchFamily="34" charset="0"/>
                <a:ea typeface="Cambria" pitchFamily="34" charset="-122"/>
                <a:cs typeface="Cambria" pitchFamily="34" charset="-120"/>
              </a:rPr>
              <a:t>"What needs me, and why" — a lens over GitHub, never a second source of truth. Drop its tables, replay the events, and it is whole again.</a:t>
            </a:r>
            <a:endParaRPr lang="en-US" sz="1400" dirty="0"/>
          </a:p>
        </p:txBody>
      </p:sp>
      <p:sp>
        <p:nvSpPr>
          <p:cNvPr id="5" name="Shape 3"/>
          <p:cNvSpPr/>
          <p:nvPr/>
        </p:nvSpPr>
        <p:spPr>
          <a:xfrm>
            <a:off x="548640" y="2103120"/>
            <a:ext cx="6675120" cy="4069080"/>
          </a:xfrm>
          <a:prstGeom prst="roundRect">
            <a:avLst>
              <a:gd name="adj" fmla="val 2697"/>
            </a:avLst>
          </a:prstGeom>
          <a:solidFill>
            <a:srgbClr val="FFFFFF"/>
          </a:solidFill>
          <a:ln w="19050">
            <a:solidFill>
              <a:srgbClr val="DFEDEC"/>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777240" y="2240280"/>
            <a:ext cx="3657600" cy="32004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Attention queue · 4 items</a:t>
            </a:r>
            <a:endParaRPr lang="en-US" sz="1300" dirty="0"/>
          </a:p>
        </p:txBody>
      </p:sp>
      <p:sp>
        <p:nvSpPr>
          <p:cNvPr id="7" name="Shape 5"/>
          <p:cNvSpPr/>
          <p:nvPr/>
        </p:nvSpPr>
        <p:spPr>
          <a:xfrm>
            <a:off x="777240" y="2651760"/>
            <a:ext cx="6217920" cy="777240"/>
          </a:xfrm>
          <a:prstGeom prst="roundRect">
            <a:avLst>
              <a:gd name="adj" fmla="val 9412"/>
            </a:avLst>
          </a:prstGeom>
          <a:solidFill>
            <a:srgbClr val="F4F6F6"/>
          </a:solidFill>
          <a:ln w="12700">
            <a:solidFill>
              <a:srgbClr val="F4F6F6"/>
            </a:solidFill>
            <a:prstDash val="solid"/>
          </a:ln>
        </p:spPr>
      </p:sp>
      <p:sp>
        <p:nvSpPr>
          <p:cNvPr id="8" name="Shape 6"/>
          <p:cNvSpPr/>
          <p:nvPr/>
        </p:nvSpPr>
        <p:spPr>
          <a:xfrm>
            <a:off x="914400" y="2834640"/>
            <a:ext cx="411480" cy="411480"/>
          </a:xfrm>
          <a:prstGeom prst="ellipse">
            <a:avLst/>
          </a:prstGeom>
          <a:solidFill>
            <a:srgbClr val="B24A17"/>
          </a:solidFill>
          <a:ln w="12700">
            <a:solidFill>
              <a:srgbClr val="B24A17"/>
            </a:solidFill>
            <a:prstDash val="solid"/>
          </a:ln>
        </p:spPr>
      </p:sp>
      <p:sp>
        <p:nvSpPr>
          <p:cNvPr id="9" name="Text 7"/>
          <p:cNvSpPr txBox="1"/>
          <p:nvPr/>
        </p:nvSpPr>
        <p:spPr>
          <a:xfrm>
            <a:off x="914400" y="2834640"/>
            <a:ext cx="4114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G1</a:t>
            </a:r>
            <a:endParaRPr lang="en-US" sz="1000" dirty="0"/>
          </a:p>
        </p:txBody>
      </p:sp>
      <p:sp>
        <p:nvSpPr>
          <p:cNvPr id="10" name="Text 8"/>
          <p:cNvSpPr txBox="1"/>
          <p:nvPr/>
        </p:nvSpPr>
        <p:spPr>
          <a:xfrm>
            <a:off x="1463040" y="2724912"/>
            <a:ext cx="5440680" cy="658368"/>
          </a:xfrm>
          <a:prstGeom prst="rect">
            <a:avLst/>
          </a:prstGeom>
          <a:noFill/>
          <a:ln/>
        </p:spPr>
        <p:txBody>
          <a:bodyPr wrap="square" lIns="0" tIns="0" rIns="0" bIns="0" rtlCol="0" anchor="ctr"/>
          <a:lstStyle/>
          <a:p>
            <a:pPr indent="0" marL="0">
              <a:buNone/>
            </a:pPr>
            <a:r>
              <a:rPr lang="en-US" sz="1100" b="1" dirty="0">
                <a:solidFill>
                  <a:srgbClr val="0F1A1C"/>
                </a:solidFill>
                <a:latin typeface="Calibri" pitchFamily="34" charset="0"/>
                <a:ea typeface="Calibri" pitchFamily="34" charset="-122"/>
                <a:cs typeface="Calibri" pitchFamily="34" charset="-120"/>
              </a:rPr>
              <a:t>#42 Premium recalculation API — spec PR ready</a:t>
            </a:r>
            <a:endParaRPr lang="en-US" sz="1100" dirty="0"/>
          </a:p>
          <a:p>
            <a:pPr indent="0" marL="0">
              <a:buNone/>
            </a:pPr>
            <a:r>
              <a:rPr lang="en-US" sz="950" dirty="0">
                <a:solidFill>
                  <a:srgbClr val="3A464B"/>
                </a:solidFill>
                <a:latin typeface="Calibri" pitchFamily="34" charset="0"/>
                <a:ea typeface="Calibri" pitchFamily="34" charset="-122"/>
                <a:cs typeface="Calibri" pitchFamily="34" charset="-120"/>
              </a:rPr>
              <a:t>Why you: spec approver · Waiting 2 days · 2 open questions the analyst could not answer</a:t>
            </a:r>
            <a:endParaRPr lang="en-US" sz="1100" dirty="0"/>
          </a:p>
        </p:txBody>
      </p:sp>
      <p:sp>
        <p:nvSpPr>
          <p:cNvPr id="11" name="Shape 9"/>
          <p:cNvSpPr/>
          <p:nvPr/>
        </p:nvSpPr>
        <p:spPr>
          <a:xfrm>
            <a:off x="777240" y="3520440"/>
            <a:ext cx="6217920" cy="777240"/>
          </a:xfrm>
          <a:prstGeom prst="roundRect">
            <a:avLst>
              <a:gd name="adj" fmla="val 9412"/>
            </a:avLst>
          </a:prstGeom>
          <a:solidFill>
            <a:srgbClr val="F4F6F6"/>
          </a:solidFill>
          <a:ln w="12700">
            <a:solidFill>
              <a:srgbClr val="F4F6F6"/>
            </a:solidFill>
            <a:prstDash val="solid"/>
          </a:ln>
        </p:spPr>
      </p:sp>
      <p:sp>
        <p:nvSpPr>
          <p:cNvPr id="12" name="Shape 10"/>
          <p:cNvSpPr/>
          <p:nvPr/>
        </p:nvSpPr>
        <p:spPr>
          <a:xfrm>
            <a:off x="914400" y="3703320"/>
            <a:ext cx="411480" cy="411480"/>
          </a:xfrm>
          <a:prstGeom prst="ellipse">
            <a:avLst/>
          </a:prstGeom>
          <a:solidFill>
            <a:srgbClr val="B24A17"/>
          </a:solidFill>
          <a:ln w="12700">
            <a:solidFill>
              <a:srgbClr val="B24A17"/>
            </a:solidFill>
            <a:prstDash val="solid"/>
          </a:ln>
        </p:spPr>
      </p:sp>
      <p:sp>
        <p:nvSpPr>
          <p:cNvPr id="13" name="Text 11"/>
          <p:cNvSpPr txBox="1"/>
          <p:nvPr/>
        </p:nvSpPr>
        <p:spPr>
          <a:xfrm>
            <a:off x="914400" y="3703320"/>
            <a:ext cx="4114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G2</a:t>
            </a:r>
            <a:endParaRPr lang="en-US" sz="1000" dirty="0"/>
          </a:p>
        </p:txBody>
      </p:sp>
      <p:sp>
        <p:nvSpPr>
          <p:cNvPr id="14" name="Text 12"/>
          <p:cNvSpPr txBox="1"/>
          <p:nvPr/>
        </p:nvSpPr>
        <p:spPr>
          <a:xfrm>
            <a:off x="1463040" y="3593592"/>
            <a:ext cx="5440680" cy="658368"/>
          </a:xfrm>
          <a:prstGeom prst="rect">
            <a:avLst/>
          </a:prstGeom>
          <a:noFill/>
          <a:ln/>
        </p:spPr>
        <p:txBody>
          <a:bodyPr wrap="square" lIns="0" tIns="0" rIns="0" bIns="0" rtlCol="0" anchor="ctr"/>
          <a:lstStyle/>
          <a:p>
            <a:pPr indent="0" marL="0">
              <a:buNone/>
            </a:pPr>
            <a:r>
              <a:rPr lang="en-US" sz="1100" b="1" dirty="0">
                <a:solidFill>
                  <a:srgbClr val="0F1A1C"/>
                </a:solidFill>
                <a:latin typeface="Calibri" pitchFamily="34" charset="0"/>
                <a:ea typeface="Calibri" pitchFamily="34" charset="-122"/>
                <a:cs typeface="Calibri" pitchFamily="34" charset="-120"/>
              </a:rPr>
              <a:t>#41 Renewal reminders — design + tasks PR ready</a:t>
            </a:r>
            <a:endParaRPr lang="en-US" sz="1100" dirty="0"/>
          </a:p>
          <a:p>
            <a:pPr indent="0" marL="0">
              <a:buNone/>
            </a:pPr>
            <a:r>
              <a:rPr lang="en-US" sz="950" dirty="0">
                <a:solidFill>
                  <a:srgbClr val="3A464B"/>
                </a:solidFill>
                <a:latin typeface="Calibri" pitchFamily="34" charset="0"/>
                <a:ea typeface="Calibri" pitchFamily="34" charset="-122"/>
                <a:cs typeface="Calibri" pitchFamily="34" charset="-120"/>
              </a:rPr>
              <a:t>Why you: design approver · Changed since you looked: migration plan added</a:t>
            </a:r>
            <a:endParaRPr lang="en-US" sz="1100" dirty="0"/>
          </a:p>
        </p:txBody>
      </p:sp>
      <p:sp>
        <p:nvSpPr>
          <p:cNvPr id="15" name="Shape 13"/>
          <p:cNvSpPr/>
          <p:nvPr/>
        </p:nvSpPr>
        <p:spPr>
          <a:xfrm>
            <a:off x="777240" y="4389120"/>
            <a:ext cx="6217920" cy="777240"/>
          </a:xfrm>
          <a:prstGeom prst="roundRect">
            <a:avLst>
              <a:gd name="adj" fmla="val 9412"/>
            </a:avLst>
          </a:prstGeom>
          <a:solidFill>
            <a:srgbClr val="F4F6F6"/>
          </a:solidFill>
          <a:ln w="12700">
            <a:solidFill>
              <a:srgbClr val="F4F6F6"/>
            </a:solidFill>
            <a:prstDash val="solid"/>
          </a:ln>
        </p:spPr>
      </p:sp>
      <p:sp>
        <p:nvSpPr>
          <p:cNvPr id="16" name="Shape 14"/>
          <p:cNvSpPr/>
          <p:nvPr/>
        </p:nvSpPr>
        <p:spPr>
          <a:xfrm>
            <a:off x="914400" y="4572000"/>
            <a:ext cx="411480" cy="411480"/>
          </a:xfrm>
          <a:prstGeom prst="ellipse">
            <a:avLst/>
          </a:prstGeom>
          <a:solidFill>
            <a:srgbClr val="A33526"/>
          </a:solidFill>
          <a:ln w="12700">
            <a:solidFill>
              <a:srgbClr val="A33526"/>
            </a:solidFill>
            <a:prstDash val="solid"/>
          </a:ln>
        </p:spPr>
      </p:sp>
      <p:sp>
        <p:nvSpPr>
          <p:cNvPr id="17" name="Text 15"/>
          <p:cNvSpPr txBox="1"/>
          <p:nvPr/>
        </p:nvSpPr>
        <p:spPr>
          <a:xfrm>
            <a:off x="914400" y="4572000"/>
            <a:ext cx="4114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8" name="Text 16"/>
          <p:cNvSpPr txBox="1"/>
          <p:nvPr/>
        </p:nvSpPr>
        <p:spPr>
          <a:xfrm>
            <a:off x="1463040" y="4462272"/>
            <a:ext cx="5440680" cy="658368"/>
          </a:xfrm>
          <a:prstGeom prst="rect">
            <a:avLst/>
          </a:prstGeom>
          <a:noFill/>
          <a:ln/>
        </p:spPr>
        <p:txBody>
          <a:bodyPr wrap="square" lIns="0" tIns="0" rIns="0" bIns="0" rtlCol="0" anchor="ctr"/>
          <a:lstStyle/>
          <a:p>
            <a:pPr indent="0" marL="0">
              <a:buNone/>
            </a:pPr>
            <a:r>
              <a:rPr lang="en-US" sz="1100" b="1" dirty="0">
                <a:solidFill>
                  <a:srgbClr val="0F1A1C"/>
                </a:solidFill>
                <a:latin typeface="Calibri" pitchFamily="34" charset="0"/>
                <a:ea typeface="Calibri" pitchFamily="34" charset="-122"/>
                <a:cs typeface="Calibri" pitchFamily="34" charset="-120"/>
              </a:rPr>
              <a:t>#43 Agent dashboard — factory:blocked</a:t>
            </a:r>
            <a:endParaRPr lang="en-US" sz="1100" dirty="0"/>
          </a:p>
          <a:p>
            <a:pPr indent="0" marL="0">
              <a:buNone/>
            </a:pPr>
            <a:r>
              <a:rPr lang="en-US" sz="950" dirty="0">
                <a:solidFill>
                  <a:srgbClr val="3A464B"/>
                </a:solidFill>
                <a:latin typeface="Calibri" pitchFamily="34" charset="0"/>
                <a:ea typeface="Calibri" pitchFamily="34" charset="-122"/>
                <a:cs typeface="Calibri" pitchFamily="34" charset="-120"/>
              </a:rPr>
              <a:t>Why you: epic owner · Implementer asks: which auth scope does the widget use?</a:t>
            </a:r>
            <a:endParaRPr lang="en-US" sz="1100" dirty="0"/>
          </a:p>
        </p:txBody>
      </p:sp>
      <p:sp>
        <p:nvSpPr>
          <p:cNvPr id="19" name="Shape 17"/>
          <p:cNvSpPr/>
          <p:nvPr/>
        </p:nvSpPr>
        <p:spPr>
          <a:xfrm>
            <a:off x="777240" y="5257800"/>
            <a:ext cx="6217920" cy="777240"/>
          </a:xfrm>
          <a:prstGeom prst="roundRect">
            <a:avLst>
              <a:gd name="adj" fmla="val 9412"/>
            </a:avLst>
          </a:prstGeom>
          <a:solidFill>
            <a:srgbClr val="F4F6F6"/>
          </a:solidFill>
          <a:ln w="12700">
            <a:solidFill>
              <a:srgbClr val="F4F6F6"/>
            </a:solidFill>
            <a:prstDash val="solid"/>
          </a:ln>
        </p:spPr>
      </p:sp>
      <p:sp>
        <p:nvSpPr>
          <p:cNvPr id="20" name="Shape 18"/>
          <p:cNvSpPr/>
          <p:nvPr/>
        </p:nvSpPr>
        <p:spPr>
          <a:xfrm>
            <a:off x="914400" y="5440680"/>
            <a:ext cx="411480" cy="411480"/>
          </a:xfrm>
          <a:prstGeom prst="ellipse">
            <a:avLst/>
          </a:prstGeom>
          <a:solidFill>
            <a:srgbClr val="0B6E6B"/>
          </a:solidFill>
          <a:ln w="12700">
            <a:solidFill>
              <a:srgbClr val="0B6E6B"/>
            </a:solidFill>
            <a:prstDash val="solid"/>
          </a:ln>
        </p:spPr>
      </p:sp>
      <p:sp>
        <p:nvSpPr>
          <p:cNvPr id="21" name="Text 19"/>
          <p:cNvSpPr txBox="1"/>
          <p:nvPr/>
        </p:nvSpPr>
        <p:spPr>
          <a:xfrm>
            <a:off x="914400" y="5440680"/>
            <a:ext cx="4114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GS</a:t>
            </a:r>
            <a:endParaRPr lang="en-US" sz="1000" dirty="0"/>
          </a:p>
        </p:txBody>
      </p:sp>
      <p:sp>
        <p:nvSpPr>
          <p:cNvPr id="22" name="Text 20"/>
          <p:cNvSpPr txBox="1"/>
          <p:nvPr/>
        </p:nvSpPr>
        <p:spPr>
          <a:xfrm>
            <a:off x="1463040" y="5330952"/>
            <a:ext cx="5440680" cy="658368"/>
          </a:xfrm>
          <a:prstGeom prst="rect">
            <a:avLst/>
          </a:prstGeom>
          <a:noFill/>
          <a:ln/>
        </p:spPr>
        <p:txBody>
          <a:bodyPr wrap="square" lIns="0" tIns="0" rIns="0" bIns="0" rtlCol="0" anchor="ctr"/>
          <a:lstStyle/>
          <a:p>
            <a:pPr indent="0" marL="0">
              <a:buNone/>
            </a:pPr>
            <a:r>
              <a:rPr lang="en-US" sz="1100" b="1" dirty="0">
                <a:solidFill>
                  <a:srgbClr val="0F1A1C"/>
                </a:solidFill>
                <a:latin typeface="Calibri" pitchFamily="34" charset="0"/>
                <a:ea typeface="Calibri" pitchFamily="34" charset="-122"/>
                <a:cs typeface="Calibri" pitchFamily="34" charset="-120"/>
              </a:rPr>
              <a:t>#38 Claims export — epic assembled and green</a:t>
            </a:r>
            <a:endParaRPr lang="en-US" sz="1100" dirty="0"/>
          </a:p>
          <a:p>
            <a:pPr indent="0" marL="0">
              <a:buNone/>
            </a:pPr>
            <a:r>
              <a:rPr lang="en-US" sz="950" dirty="0">
                <a:solidFill>
                  <a:srgbClr val="3A464B"/>
                </a:solidFill>
                <a:latin typeface="Calibri" pitchFamily="34" charset="0"/>
                <a:ea typeface="Calibri" pitchFamily="34" charset="-122"/>
                <a:cs typeface="Calibri" pitchFamily="34" charset="-120"/>
              </a:rPr>
              <a:t>Why you: staging approver · 6 tasks merged in order, system tests 5/5 passed</a:t>
            </a:r>
            <a:endParaRPr lang="en-US" sz="1100" dirty="0"/>
          </a:p>
        </p:txBody>
      </p:sp>
      <p:sp>
        <p:nvSpPr>
          <p:cNvPr id="23" name="Text 21"/>
          <p:cNvSpPr txBox="1"/>
          <p:nvPr/>
        </p:nvSpPr>
        <p:spPr>
          <a:xfrm>
            <a:off x="7498080" y="2103120"/>
            <a:ext cx="4160520" cy="4114800"/>
          </a:xfrm>
          <a:prstGeom prst="rect">
            <a:avLst/>
          </a:prstGeom>
          <a:noFill/>
          <a:ln/>
        </p:spPr>
        <p:txBody>
          <a:bodyPr wrap="square" lIns="0" tIns="0" rIns="0" bIns="0" rtlCol="0" anchor="t"/>
          <a:lstStyle/>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Attention, not activity.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The queue lists decisions waiting on you, each with the reason it is yours and how long it has waited.</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What changed since you looked.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As-proposed ⇄ as-approved diffs of the spec and design, so a re-review is minutes.</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Decision log.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Every gate approval is a recorded decision; every recorded decision is searchable.</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Ask the Factory.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Cited Q&amp;A that answers only from the epic's own artifacts, threads, PRs and runs — with a token budget per organisation.</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Lesson for any dashboard: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show the person what needs them, cite the source object, and never become the place the truth lives.</a:t>
            </a:r>
            <a:endParaRPr lang="en-US" sz="1150" dirty="0"/>
          </a:p>
        </p:txBody>
      </p:sp>
      <p:sp>
        <p:nvSpPr>
          <p:cNvPr id="24" name="Text 2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5" name="Text 23"/>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2 · HANDS-ON EXERCISE</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Lab 2: a status report nobody has to write</a:t>
            </a:r>
            <a:endParaRPr lang="en-US" sz="3000" dirty="0"/>
          </a:p>
        </p:txBody>
      </p:sp>
      <p:sp>
        <p:nvSpPr>
          <p:cNvPr id="4" name="Shape 2"/>
          <p:cNvSpPr/>
          <p:nvPr/>
        </p:nvSpPr>
        <p:spPr>
          <a:xfrm>
            <a:off x="548640" y="1600200"/>
            <a:ext cx="3566160" cy="2834640"/>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49808" y="1764792"/>
            <a:ext cx="3163824" cy="566928"/>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2A · Automated weekly status</a:t>
            </a:r>
            <a:endParaRPr lang="en-US" sz="1500" dirty="0"/>
          </a:p>
        </p:txBody>
      </p:sp>
      <p:sp>
        <p:nvSpPr>
          <p:cNvPr id="6" name="Text 4"/>
          <p:cNvSpPr txBox="1"/>
          <p:nvPr/>
        </p:nvSpPr>
        <p:spPr>
          <a:xfrm>
            <a:off x="749808" y="2377440"/>
            <a:ext cx="3163824" cy="19202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Connect the sandbox repo (or your tracker export) to the workflow tool</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Pull open issues, PRs, blocked items and deployments</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LLM step: sponsor-grade and team-grade versions from the same data, every claim cited</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Post both to a Teams / Slack channel; add a human-review branch for the sponsor version</a:t>
            </a:r>
            <a:endParaRPr lang="en-US" sz="1200" dirty="0"/>
          </a:p>
        </p:txBody>
      </p:sp>
      <p:sp>
        <p:nvSpPr>
          <p:cNvPr id="7" name="Shape 5"/>
          <p:cNvSpPr/>
          <p:nvPr/>
        </p:nvSpPr>
        <p:spPr>
          <a:xfrm>
            <a:off x="4389120" y="1600200"/>
            <a:ext cx="3566160" cy="2834640"/>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90288" y="1764792"/>
            <a:ext cx="3163824" cy="566928"/>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2B · Meeting → decisions</a:t>
            </a:r>
            <a:endParaRPr lang="en-US" sz="1500" dirty="0"/>
          </a:p>
        </p:txBody>
      </p:sp>
      <p:sp>
        <p:nvSpPr>
          <p:cNvPr id="9" name="Text 7"/>
          <p:cNvSpPr txBox="1"/>
          <p:nvPr/>
        </p:nvSpPr>
        <p:spPr>
          <a:xfrm>
            <a:off x="4590288" y="2377440"/>
            <a:ext cx="3163824" cy="19202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Take a supplied 40-minute transcript</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Extract decisions, actions and new risks, each with a timestamp</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Post the decisions as structured comments on the epic</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Compare with the human minutes: what did each miss?</a:t>
            </a:r>
            <a:endParaRPr lang="en-US" sz="1200" dirty="0"/>
          </a:p>
        </p:txBody>
      </p:sp>
      <p:sp>
        <p:nvSpPr>
          <p:cNvPr id="10" name="Shape 8"/>
          <p:cNvSpPr/>
          <p:nvPr/>
        </p:nvSpPr>
        <p:spPr>
          <a:xfrm>
            <a:off x="548640" y="4663440"/>
            <a:ext cx="7406640" cy="1143000"/>
          </a:xfrm>
          <a:prstGeom prst="roundRect">
            <a:avLst>
              <a:gd name="adj" fmla="val 9600"/>
            </a:avLst>
          </a:prstGeom>
          <a:solidFill>
            <a:srgbClr val="FAEDE4"/>
          </a:solidFill>
          <a:ln w="12700">
            <a:solidFill>
              <a:srgbClr val="FAEDE4"/>
            </a:solidFill>
            <a:prstDash val="solid"/>
          </a:ln>
        </p:spPr>
      </p:sp>
      <p:sp>
        <p:nvSpPr>
          <p:cNvPr id="11" name="Shape 9"/>
          <p:cNvSpPr/>
          <p:nvPr/>
        </p:nvSpPr>
        <p:spPr>
          <a:xfrm>
            <a:off x="731520" y="4864608"/>
            <a:ext cx="457200" cy="45720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841248" y="4974336"/>
            <a:ext cx="237744" cy="237744"/>
          </a:xfrm>
          <a:prstGeom prst="rect">
            <a:avLst/>
          </a:prstGeom>
        </p:spPr>
      </p:pic>
      <p:sp>
        <p:nvSpPr>
          <p:cNvPr id="13" name="Text 10"/>
          <p:cNvSpPr txBox="1"/>
          <p:nvPr/>
        </p:nvSpPr>
        <p:spPr>
          <a:xfrm>
            <a:off x="1325880" y="4754880"/>
            <a:ext cx="6492240" cy="96012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Deliverable  </a:t>
            </a:r>
            <a:pPr indent="0" marL="0">
              <a:buNone/>
            </a:pPr>
            <a:r>
              <a:rPr lang="en-US" sz="1250" dirty="0">
                <a:solidFill>
                  <a:srgbClr val="3A464B"/>
                </a:solidFill>
                <a:latin typeface="Calibri" pitchFamily="34" charset="0"/>
                <a:ea typeface="Calibri" pitchFamily="34" charset="-122"/>
                <a:cs typeface="Calibri" pitchFamily="34" charset="-120"/>
              </a:rPr>
              <a:t>A working automated status pipeline posting to a channel, and a decision log generated from a transcript with citations.</a:t>
            </a:r>
            <a:endParaRPr lang="en-US" sz="1250" dirty="0"/>
          </a:p>
        </p:txBody>
      </p:sp>
      <p:sp>
        <p:nvSpPr>
          <p:cNvPr id="14" name="Shape 11"/>
          <p:cNvSpPr/>
          <p:nvPr/>
        </p:nvSpPr>
        <p:spPr>
          <a:xfrm>
            <a:off x="8229600" y="1600200"/>
            <a:ext cx="3429000" cy="4206240"/>
          </a:xfrm>
          <a:prstGeom prst="roundRect">
            <a:avLst>
              <a:gd name="adj" fmla="val 3200"/>
            </a:avLst>
          </a:prstGeom>
          <a:solidFill>
            <a:srgbClr val="0F1A1C"/>
          </a:solidFill>
          <a:ln w="12700">
            <a:solidFill>
              <a:srgbClr val="0F1A1C"/>
            </a:solidFill>
            <a:prstDash val="solid"/>
          </a:ln>
        </p:spPr>
      </p:sp>
      <p:sp>
        <p:nvSpPr>
          <p:cNvPr id="15" name="Shape 12"/>
          <p:cNvSpPr/>
          <p:nvPr/>
        </p:nvSpPr>
        <p:spPr>
          <a:xfrm>
            <a:off x="8503920" y="1828800"/>
            <a:ext cx="502920" cy="502920"/>
          </a:xfrm>
          <a:prstGeom prst="ellipse">
            <a:avLst/>
          </a:prstGeom>
          <a:solidFill>
            <a:srgbClr val="0B6E6B"/>
          </a:solidFill>
          <a:ln w="12700">
            <a:solidFill>
              <a:srgbClr val="0B6E6B"/>
            </a:solidFill>
            <a:prstDash val="solid"/>
          </a:ln>
        </p:spPr>
      </p:sp>
      <p:pic>
        <p:nvPicPr>
          <p:cNvPr id="16" name="Image 1" descr="preencoded.png">    </p:cNvPr>
          <p:cNvPicPr>
            <a:picLocks noChangeAspect="1"/>
          </p:cNvPicPr>
          <p:nvPr/>
        </p:nvPicPr>
        <p:blipFill>
          <a:blip r:embed="rId2"/>
          <a:stretch>
            <a:fillRect/>
          </a:stretch>
        </p:blipFill>
        <p:spPr>
          <a:xfrm>
            <a:off x="8624621" y="1949501"/>
            <a:ext cx="261518" cy="261518"/>
          </a:xfrm>
          <a:prstGeom prst="rect">
            <a:avLst/>
          </a:prstGeom>
        </p:spPr>
      </p:pic>
      <p:sp>
        <p:nvSpPr>
          <p:cNvPr id="17" name="Text 13"/>
          <p:cNvSpPr txBox="1"/>
          <p:nvPr/>
        </p:nvSpPr>
        <p:spPr>
          <a:xfrm>
            <a:off x="8503920" y="246888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Closing round</a:t>
            </a:r>
            <a:endParaRPr lang="en-US" sz="1500" dirty="0"/>
          </a:p>
        </p:txBody>
      </p:sp>
      <p:sp>
        <p:nvSpPr>
          <p:cNvPr id="18" name="Text 14"/>
          <p:cNvSpPr txBox="1"/>
          <p:nvPr/>
        </p:nvSpPr>
        <p:spPr>
          <a:xfrm>
            <a:off x="8503920" y="2880360"/>
            <a:ext cx="2926080" cy="3108960"/>
          </a:xfrm>
          <a:prstGeom prst="rect">
            <a:avLst/>
          </a:prstGeom>
          <a:noFill/>
          <a:ln/>
        </p:spPr>
        <p:txBody>
          <a:bodyPr wrap="square" lIns="0" tIns="0" rIns="0" bIns="0" rtlCol="0" anchor="t"/>
          <a:lstStyle/>
          <a:p>
            <a:pPr indent="0" marL="0">
              <a:buNone/>
            </a:pPr>
            <a:r>
              <a:rPr lang="en-US" sz="1250" i="1" dirty="0">
                <a:solidFill>
                  <a:srgbClr val="DFEDEC"/>
                </a:solidFill>
                <a:latin typeface="Calibri" pitchFamily="34" charset="0"/>
                <a:ea typeface="Calibri" pitchFamily="34" charset="-122"/>
                <a:cs typeface="Calibri" pitchFamily="34" charset="-120"/>
              </a:rPr>
              <a:t>Which of your current reports could disappear next month?</a:t>
            </a:r>
            <a:endParaRPr lang="en-US" sz="1250" dirty="0"/>
          </a:p>
          <a:p>
            <a:pPr indent="0" marL="0">
              <a:buNone/>
            </a:pPr>
            <a:endParaRPr lang="en-US" sz="1250" dirty="0"/>
          </a:p>
          <a:p>
            <a:pPr indent="0" marL="0">
              <a:buNone/>
            </a:pPr>
            <a:r>
              <a:rPr lang="en-US" sz="1250" i="1" dirty="0">
                <a:solidFill>
                  <a:srgbClr val="DFEDEC"/>
                </a:solidFill>
                <a:latin typeface="Calibri" pitchFamily="34" charset="0"/>
                <a:ea typeface="Calibri" pitchFamily="34" charset="-122"/>
                <a:cs typeface="Calibri" pitchFamily="34" charset="-120"/>
              </a:rPr>
              <a:t>What would you need to trust before the sponsor version goes out unreviewed?</a:t>
            </a:r>
            <a:endParaRPr lang="en-US" sz="1250" dirty="0"/>
          </a:p>
        </p:txBody>
      </p:sp>
      <p:sp>
        <p:nvSpPr>
          <p:cNvPr id="19"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0" name="Text 16"/>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3 AGENDA · 4 HOURS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Day 3 — Technology and tools for modern project management</a:t>
            </a:r>
            <a:endParaRPr lang="en-US" sz="3000" dirty="0"/>
          </a:p>
        </p:txBody>
      </p:sp>
      <p:sp>
        <p:nvSpPr>
          <p:cNvPr id="4" name="Text 2"/>
          <p:cNvSpPr txBox="1"/>
          <p:nvPr/>
        </p:nvSpPr>
        <p:spPr>
          <a:xfrm>
            <a:off x="548640" y="160020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0:00 – 0:50</a:t>
            </a:r>
            <a:endParaRPr lang="en-US" sz="1100" dirty="0"/>
          </a:p>
        </p:txBody>
      </p:sp>
      <p:sp>
        <p:nvSpPr>
          <p:cNvPr id="5" name="Shape 3"/>
          <p:cNvSpPr/>
          <p:nvPr/>
        </p:nvSpPr>
        <p:spPr>
          <a:xfrm>
            <a:off x="1645920" y="1655064"/>
            <a:ext cx="5943600" cy="457200"/>
          </a:xfrm>
          <a:prstGeom prst="roundRect">
            <a:avLst>
              <a:gd name="adj" fmla="val 20000"/>
            </a:avLst>
          </a:prstGeom>
          <a:solidFill>
            <a:srgbClr val="F4F6F6"/>
          </a:solidFill>
          <a:ln w="12700">
            <a:solidFill>
              <a:srgbClr val="F4F6F6"/>
            </a:solidFill>
            <a:prstDash val="solid"/>
          </a:ln>
        </p:spPr>
      </p:sp>
      <p:sp>
        <p:nvSpPr>
          <p:cNvPr id="6" name="Text 4"/>
          <p:cNvSpPr txBox="1"/>
          <p:nvPr/>
        </p:nvSpPr>
        <p:spPr>
          <a:xfrm>
            <a:off x="1810512" y="165506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Overview of modern PM tools</a:t>
            </a:r>
            <a:pPr indent="0" marL="0">
              <a:buNone/>
            </a:pPr>
            <a:r>
              <a:rPr lang="en-US" sz="1100" dirty="0">
                <a:solidFill>
                  <a:srgbClr val="3A464B"/>
                </a:solidFill>
                <a:latin typeface="Calibri" pitchFamily="34" charset="0"/>
                <a:ea typeface="Calibri" pitchFamily="34" charset="-122"/>
                <a:cs typeface="Calibri" pitchFamily="34" charset="-120"/>
              </a:rPr>
              <a:t>   Jira, ADO, GitHub, Asana, Linear, Notion, MS Project — and where the AI is</a:t>
            </a:r>
            <a:endParaRPr lang="en-US" sz="1250" dirty="0"/>
          </a:p>
        </p:txBody>
      </p:sp>
      <p:sp>
        <p:nvSpPr>
          <p:cNvPr id="7" name="Text 5"/>
          <p:cNvSpPr txBox="1"/>
          <p:nvPr/>
        </p:nvSpPr>
        <p:spPr>
          <a:xfrm>
            <a:off x="548640" y="2203704"/>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0:50 – 1:40</a:t>
            </a:r>
            <a:endParaRPr lang="en-US" sz="1100" dirty="0"/>
          </a:p>
        </p:txBody>
      </p:sp>
      <p:sp>
        <p:nvSpPr>
          <p:cNvPr id="8" name="Shape 6"/>
          <p:cNvSpPr/>
          <p:nvPr/>
        </p:nvSpPr>
        <p:spPr>
          <a:xfrm>
            <a:off x="1645920" y="2258568"/>
            <a:ext cx="5943600" cy="457200"/>
          </a:xfrm>
          <a:prstGeom prst="roundRect">
            <a:avLst>
              <a:gd name="adj" fmla="val 20000"/>
            </a:avLst>
          </a:prstGeom>
          <a:solidFill>
            <a:srgbClr val="FAEDE4"/>
          </a:solidFill>
          <a:ln w="12700">
            <a:solidFill>
              <a:srgbClr val="FAEDE4"/>
            </a:solidFill>
            <a:prstDash val="solid"/>
          </a:ln>
        </p:spPr>
      </p:sp>
      <p:sp>
        <p:nvSpPr>
          <p:cNvPr id="9" name="Text 7"/>
          <p:cNvSpPr txBox="1"/>
          <p:nvPr/>
        </p:nvSpPr>
        <p:spPr>
          <a:xfrm>
            <a:off x="1810512" y="2258568"/>
            <a:ext cx="5669280" cy="45720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Integrating collaboration and communication tools</a:t>
            </a:r>
            <a:pPr indent="0" marL="0">
              <a:buNone/>
            </a:pPr>
            <a:r>
              <a:rPr lang="en-US" sz="1100" dirty="0">
                <a:solidFill>
                  <a:srgbClr val="3A464B"/>
                </a:solidFill>
                <a:latin typeface="Calibri" pitchFamily="34" charset="0"/>
                <a:ea typeface="Calibri" pitchFamily="34" charset="-122"/>
                <a:cs typeface="Calibri" pitchFamily="34" charset="-120"/>
              </a:rPr>
              <a:t>   Webhooks, APIs, bots, MCP · identity and permissions</a:t>
            </a:r>
            <a:endParaRPr lang="en-US" sz="1250" dirty="0"/>
          </a:p>
        </p:txBody>
      </p:sp>
      <p:sp>
        <p:nvSpPr>
          <p:cNvPr id="10" name="Text 8"/>
          <p:cNvSpPr txBox="1"/>
          <p:nvPr/>
        </p:nvSpPr>
        <p:spPr>
          <a:xfrm>
            <a:off x="548640" y="2807208"/>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1:40 – 1:50</a:t>
            </a:r>
            <a:endParaRPr lang="en-US" sz="1100" dirty="0"/>
          </a:p>
        </p:txBody>
      </p:sp>
      <p:sp>
        <p:nvSpPr>
          <p:cNvPr id="11" name="Shape 9"/>
          <p:cNvSpPr/>
          <p:nvPr/>
        </p:nvSpPr>
        <p:spPr>
          <a:xfrm>
            <a:off x="1645920" y="2862072"/>
            <a:ext cx="5943600" cy="457200"/>
          </a:xfrm>
          <a:prstGeom prst="roundRect">
            <a:avLst>
              <a:gd name="adj" fmla="val 20000"/>
            </a:avLst>
          </a:prstGeom>
          <a:solidFill>
            <a:srgbClr val="F4F6F6"/>
          </a:solidFill>
          <a:ln w="12700">
            <a:solidFill>
              <a:srgbClr val="F4F6F6"/>
            </a:solidFill>
            <a:prstDash val="solid"/>
          </a:ln>
        </p:spPr>
      </p:sp>
      <p:sp>
        <p:nvSpPr>
          <p:cNvPr id="12" name="Text 10"/>
          <p:cNvSpPr txBox="1"/>
          <p:nvPr/>
        </p:nvSpPr>
        <p:spPr>
          <a:xfrm>
            <a:off x="1810512" y="2862072"/>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3" name="Text 11"/>
          <p:cNvSpPr txBox="1"/>
          <p:nvPr/>
        </p:nvSpPr>
        <p:spPr>
          <a:xfrm>
            <a:off x="548640" y="3410712"/>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1:50 – 2:40</a:t>
            </a:r>
            <a:endParaRPr lang="en-US" sz="1100" dirty="0"/>
          </a:p>
        </p:txBody>
      </p:sp>
      <p:sp>
        <p:nvSpPr>
          <p:cNvPr id="14" name="Shape 12"/>
          <p:cNvSpPr/>
          <p:nvPr/>
        </p:nvSpPr>
        <p:spPr>
          <a:xfrm>
            <a:off x="1645920" y="3465576"/>
            <a:ext cx="5943600" cy="457200"/>
          </a:xfrm>
          <a:prstGeom prst="roundRect">
            <a:avLst>
              <a:gd name="adj" fmla="val 20000"/>
            </a:avLst>
          </a:prstGeom>
          <a:solidFill>
            <a:srgbClr val="F4F6F6"/>
          </a:solidFill>
          <a:ln w="12700">
            <a:solidFill>
              <a:srgbClr val="F4F6F6"/>
            </a:solidFill>
            <a:prstDash val="solid"/>
          </a:ln>
        </p:spPr>
      </p:sp>
      <p:sp>
        <p:nvSpPr>
          <p:cNvPr id="15" name="Text 13"/>
          <p:cNvSpPr txBox="1"/>
          <p:nvPr/>
        </p:nvSpPr>
        <p:spPr>
          <a:xfrm>
            <a:off x="1810512" y="3465576"/>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Advanced techniques for project monitoring</a:t>
            </a:r>
            <a:pPr indent="0" marL="0">
              <a:buNone/>
            </a:pPr>
            <a:r>
              <a:rPr lang="en-US" sz="1100" dirty="0">
                <a:solidFill>
                  <a:srgbClr val="3A464B"/>
                </a:solidFill>
                <a:latin typeface="Calibri" pitchFamily="34" charset="0"/>
                <a:ea typeface="Calibri" pitchFamily="34" charset="-122"/>
                <a:cs typeface="Calibri" pitchFamily="34" charset="-120"/>
              </a:rPr>
              <a:t>   Flow metrics, DORA, dashboards, anomaly detection, attention vs alerts</a:t>
            </a:r>
            <a:endParaRPr lang="en-US" sz="1250" dirty="0"/>
          </a:p>
        </p:txBody>
      </p:sp>
      <p:sp>
        <p:nvSpPr>
          <p:cNvPr id="16" name="Text 14"/>
          <p:cNvSpPr txBox="1"/>
          <p:nvPr/>
        </p:nvSpPr>
        <p:spPr>
          <a:xfrm>
            <a:off x="548640" y="4014216"/>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2:40 – 2:50</a:t>
            </a:r>
            <a:endParaRPr lang="en-US" sz="1100" dirty="0"/>
          </a:p>
        </p:txBody>
      </p:sp>
      <p:sp>
        <p:nvSpPr>
          <p:cNvPr id="17" name="Shape 15"/>
          <p:cNvSpPr/>
          <p:nvPr/>
        </p:nvSpPr>
        <p:spPr>
          <a:xfrm>
            <a:off x="1645920" y="4069080"/>
            <a:ext cx="5943600" cy="457200"/>
          </a:xfrm>
          <a:prstGeom prst="roundRect">
            <a:avLst>
              <a:gd name="adj" fmla="val 20000"/>
            </a:avLst>
          </a:prstGeom>
          <a:solidFill>
            <a:srgbClr val="F4F6F6"/>
          </a:solidFill>
          <a:ln w="12700">
            <a:solidFill>
              <a:srgbClr val="F4F6F6"/>
            </a:solidFill>
            <a:prstDash val="solid"/>
          </a:ln>
        </p:spPr>
      </p:sp>
      <p:sp>
        <p:nvSpPr>
          <p:cNvPr id="18" name="Text 16"/>
          <p:cNvSpPr txBox="1"/>
          <p:nvPr/>
        </p:nvSpPr>
        <p:spPr>
          <a:xfrm>
            <a:off x="1810512" y="4069080"/>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9" name="Text 17"/>
          <p:cNvSpPr txBox="1"/>
          <p:nvPr/>
        </p:nvSpPr>
        <p:spPr>
          <a:xfrm>
            <a:off x="548640" y="461772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2:50 – 4:00</a:t>
            </a:r>
            <a:endParaRPr lang="en-US" sz="1100" dirty="0"/>
          </a:p>
        </p:txBody>
      </p:sp>
      <p:sp>
        <p:nvSpPr>
          <p:cNvPr id="20" name="Shape 18"/>
          <p:cNvSpPr/>
          <p:nvPr/>
        </p:nvSpPr>
        <p:spPr>
          <a:xfrm>
            <a:off x="1645920" y="4672584"/>
            <a:ext cx="5943600" cy="457200"/>
          </a:xfrm>
          <a:prstGeom prst="roundRect">
            <a:avLst>
              <a:gd name="adj" fmla="val 20000"/>
            </a:avLst>
          </a:prstGeom>
          <a:solidFill>
            <a:srgbClr val="FAEDE4"/>
          </a:solidFill>
          <a:ln w="12700">
            <a:solidFill>
              <a:srgbClr val="FAEDE4"/>
            </a:solidFill>
            <a:prstDash val="solid"/>
          </a:ln>
        </p:spPr>
      </p:sp>
      <p:sp>
        <p:nvSpPr>
          <p:cNvPr id="21" name="Text 19"/>
          <p:cNvSpPr txBox="1"/>
          <p:nvPr/>
        </p:nvSpPr>
        <p:spPr>
          <a:xfrm>
            <a:off x="1810512" y="4672584"/>
            <a:ext cx="5669280" cy="45720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Hands-on: tool integration</a:t>
            </a:r>
            <a:pPr indent="0" marL="0">
              <a:buNone/>
            </a:pPr>
            <a:r>
              <a:rPr lang="en-US" sz="1100" dirty="0">
                <a:solidFill>
                  <a:srgbClr val="3A464B"/>
                </a:solidFill>
                <a:latin typeface="Calibri" pitchFamily="34" charset="0"/>
                <a:ea typeface="Calibri" pitchFamily="34" charset="-122"/>
                <a:cs typeface="Calibri" pitchFamily="34" charset="-120"/>
              </a:rPr>
              <a:t>   Lab 3: repo → chat → LLM summary → flow dashboard</a:t>
            </a:r>
            <a:endParaRPr lang="en-US" sz="1250" dirty="0"/>
          </a:p>
        </p:txBody>
      </p:sp>
      <p:sp>
        <p:nvSpPr>
          <p:cNvPr id="22" name="Shape 20"/>
          <p:cNvSpPr/>
          <p:nvPr/>
        </p:nvSpPr>
        <p:spPr>
          <a:xfrm>
            <a:off x="7955280" y="1600200"/>
            <a:ext cx="3703320" cy="2011680"/>
          </a:xfrm>
          <a:prstGeom prst="roundRect">
            <a:avLst>
              <a:gd name="adj" fmla="val 5455"/>
            </a:avLst>
          </a:prstGeom>
          <a:solidFill>
            <a:srgbClr val="F4F6F6"/>
          </a:solidFill>
          <a:ln w="12700">
            <a:solidFill>
              <a:srgbClr val="F4F6F6"/>
            </a:solidFill>
            <a:prstDash val="solid"/>
          </a:ln>
        </p:spPr>
      </p:sp>
      <p:sp>
        <p:nvSpPr>
          <p:cNvPr id="23" name="Text 21"/>
          <p:cNvSpPr txBox="1"/>
          <p:nvPr/>
        </p:nvSpPr>
        <p:spPr>
          <a:xfrm>
            <a:off x="8156448" y="1764792"/>
            <a:ext cx="330098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Client ToC modules covered</a:t>
            </a:r>
            <a:endParaRPr lang="en-US" sz="1300" dirty="0"/>
          </a:p>
        </p:txBody>
      </p:sp>
      <p:sp>
        <p:nvSpPr>
          <p:cNvPr id="24" name="Text 22"/>
          <p:cNvSpPr txBox="1"/>
          <p:nvPr/>
        </p:nvSpPr>
        <p:spPr>
          <a:xfrm>
            <a:off x="8156448" y="2176272"/>
            <a:ext cx="3300984" cy="129844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Overview of Modern Project Management Tools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Integrating Collaboration and Communication Tools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Advanced Techniques for Project Monitoring</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Hands-On Exercise: Tool Integration</a:t>
            </a:r>
            <a:endParaRPr lang="en-US" sz="1100" dirty="0"/>
          </a:p>
        </p:txBody>
      </p:sp>
      <p:sp>
        <p:nvSpPr>
          <p:cNvPr id="25" name="Shape 23"/>
          <p:cNvSpPr/>
          <p:nvPr/>
        </p:nvSpPr>
        <p:spPr>
          <a:xfrm>
            <a:off x="7955280" y="3794760"/>
            <a:ext cx="3703320" cy="2331720"/>
          </a:xfrm>
          <a:prstGeom prst="roundRect">
            <a:avLst>
              <a:gd name="adj" fmla="val 4706"/>
            </a:avLst>
          </a:prstGeom>
          <a:solidFill>
            <a:srgbClr val="DFEDEC"/>
          </a:solidFill>
          <a:ln w="12700">
            <a:solidFill>
              <a:srgbClr val="DFEDEC"/>
            </a:solidFill>
            <a:prstDash val="solid"/>
          </a:ln>
        </p:spPr>
      </p:sp>
      <p:sp>
        <p:nvSpPr>
          <p:cNvPr id="26" name="Text 24"/>
          <p:cNvSpPr txBox="1"/>
          <p:nvPr/>
        </p:nvSpPr>
        <p:spPr>
          <a:xfrm>
            <a:off x="8156448" y="3959352"/>
            <a:ext cx="3300984" cy="365760"/>
          </a:xfrm>
          <a:prstGeom prst="rect">
            <a:avLst/>
          </a:prstGeom>
          <a:noFill/>
          <a:ln/>
        </p:spPr>
        <p:txBody>
          <a:bodyPr wrap="square" lIns="0" tIns="0" rIns="0" bIns="0" rtlCol="0" anchor="t"/>
          <a:lstStyle/>
          <a:p>
            <a:pPr indent="0" marL="0">
              <a:buNone/>
            </a:pPr>
            <a:r>
              <a:rPr lang="en-US" sz="1300" b="1" dirty="0">
                <a:solidFill>
                  <a:srgbClr val="0A3B39"/>
                </a:solidFill>
                <a:latin typeface="Cambria" pitchFamily="34" charset="0"/>
                <a:ea typeface="Cambria" pitchFamily="34" charset="-122"/>
                <a:cs typeface="Cambria" pitchFamily="34" charset="-120"/>
              </a:rPr>
              <a:t>Software Factory thread</a:t>
            </a:r>
            <a:endParaRPr lang="en-US" sz="1300" dirty="0"/>
          </a:p>
        </p:txBody>
      </p:sp>
      <p:sp>
        <p:nvSpPr>
          <p:cNvPr id="27" name="Text 25"/>
          <p:cNvSpPr txBox="1"/>
          <p:nvPr/>
        </p:nvSpPr>
        <p:spPr>
          <a:xfrm>
            <a:off x="8156448" y="4370832"/>
            <a:ext cx="3300984" cy="161848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Plain GitHub objects as the whole state; OpenSpec folders as the content — vendor-neutral and resumable</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control path: event → caller stub → router → role → label moves</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Approvers named in config; GitHub's own notifications do the work</a:t>
            </a:r>
            <a:endParaRPr lang="en-US" sz="1100" dirty="0"/>
          </a:p>
        </p:txBody>
      </p:sp>
      <p:sp>
        <p:nvSpPr>
          <p:cNvPr id="28" name="Text 2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9" name="Text 2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3 · MODULE 3.1</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The tool landscape — choose by delivery model, not feature list</a:t>
            </a:r>
            <a:endParaRPr lang="en-US" sz="3000" dirty="0"/>
          </a:p>
        </p:txBody>
      </p:sp>
      <p:sp>
        <p:nvSpPr>
          <p:cNvPr id="4" name="Shape 2"/>
          <p:cNvSpPr/>
          <p:nvPr/>
        </p:nvSpPr>
        <p:spPr>
          <a:xfrm>
            <a:off x="548640" y="1600200"/>
            <a:ext cx="3566160" cy="1874520"/>
          </a:xfrm>
          <a:prstGeom prst="roundRect">
            <a:avLst>
              <a:gd name="adj" fmla="val 5854"/>
            </a:avLst>
          </a:prstGeom>
          <a:solidFill>
            <a:srgbClr val="F4F6F6"/>
          </a:solidFill>
          <a:ln w="12700">
            <a:solidFill>
              <a:srgbClr val="F4F6F6"/>
            </a:solidFill>
            <a:prstDash val="solid"/>
          </a:ln>
        </p:spPr>
      </p:sp>
      <p:sp>
        <p:nvSpPr>
          <p:cNvPr id="5" name="Shape 3"/>
          <p:cNvSpPr/>
          <p:nvPr/>
        </p:nvSpPr>
        <p:spPr>
          <a:xfrm>
            <a:off x="731520" y="178308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52221" y="1903781"/>
            <a:ext cx="261518" cy="261518"/>
          </a:xfrm>
          <a:prstGeom prst="rect">
            <a:avLst/>
          </a:prstGeom>
        </p:spPr>
      </p:pic>
      <p:sp>
        <p:nvSpPr>
          <p:cNvPr id="7" name="Text 4"/>
          <p:cNvSpPr txBox="1"/>
          <p:nvPr/>
        </p:nvSpPr>
        <p:spPr>
          <a:xfrm>
            <a:off x="1371600" y="18288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Work tracking</a:t>
            </a:r>
            <a:endParaRPr lang="en-US" sz="1400" dirty="0"/>
          </a:p>
        </p:txBody>
      </p:sp>
      <p:sp>
        <p:nvSpPr>
          <p:cNvPr id="8" name="Text 5"/>
          <p:cNvSpPr txBox="1"/>
          <p:nvPr/>
        </p:nvSpPr>
        <p:spPr>
          <a:xfrm>
            <a:off x="731520" y="2377440"/>
            <a:ext cx="32004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Jira + Atlassian Intelligence / Rovo · Azure DevOps + Copilot · GitHub Projects + Copilot · Linear · Asana AI · Monday · ClickUp Brain</a:t>
            </a:r>
            <a:endParaRPr lang="en-US" sz="1050" dirty="0"/>
          </a:p>
        </p:txBody>
      </p:sp>
      <p:sp>
        <p:nvSpPr>
          <p:cNvPr id="9" name="Shape 6"/>
          <p:cNvSpPr/>
          <p:nvPr/>
        </p:nvSpPr>
        <p:spPr>
          <a:xfrm>
            <a:off x="4297680" y="1600200"/>
            <a:ext cx="3566160" cy="1874520"/>
          </a:xfrm>
          <a:prstGeom prst="roundRect">
            <a:avLst>
              <a:gd name="adj" fmla="val 5854"/>
            </a:avLst>
          </a:prstGeom>
          <a:solidFill>
            <a:srgbClr val="F4F6F6"/>
          </a:solidFill>
          <a:ln w="12700">
            <a:solidFill>
              <a:srgbClr val="F4F6F6"/>
            </a:solidFill>
            <a:prstDash val="solid"/>
          </a:ln>
        </p:spPr>
      </p:sp>
      <p:sp>
        <p:nvSpPr>
          <p:cNvPr id="10" name="Shape 7"/>
          <p:cNvSpPr/>
          <p:nvPr/>
        </p:nvSpPr>
        <p:spPr>
          <a:xfrm>
            <a:off x="4480560" y="1783080"/>
            <a:ext cx="502920" cy="50292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01261" y="1903781"/>
            <a:ext cx="261518" cy="261518"/>
          </a:xfrm>
          <a:prstGeom prst="rect">
            <a:avLst/>
          </a:prstGeom>
        </p:spPr>
      </p:pic>
      <p:sp>
        <p:nvSpPr>
          <p:cNvPr id="12" name="Text 8"/>
          <p:cNvSpPr txBox="1"/>
          <p:nvPr/>
        </p:nvSpPr>
        <p:spPr>
          <a:xfrm>
            <a:off x="5120640" y="18288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Knowledge and specs</a:t>
            </a:r>
            <a:endParaRPr lang="en-US" sz="1400" dirty="0"/>
          </a:p>
        </p:txBody>
      </p:sp>
      <p:sp>
        <p:nvSpPr>
          <p:cNvPr id="13" name="Text 9"/>
          <p:cNvSpPr txBox="1"/>
          <p:nvPr/>
        </p:nvSpPr>
        <p:spPr>
          <a:xfrm>
            <a:off x="4480560" y="2377440"/>
            <a:ext cx="32004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Confluence · Notion AI · SharePoint + Copilot · OpenSpec change folders · ADRs and design docs as reviewable artifacts</a:t>
            </a:r>
            <a:endParaRPr lang="en-US" sz="1050" dirty="0"/>
          </a:p>
        </p:txBody>
      </p:sp>
      <p:sp>
        <p:nvSpPr>
          <p:cNvPr id="14" name="Shape 10"/>
          <p:cNvSpPr/>
          <p:nvPr/>
        </p:nvSpPr>
        <p:spPr>
          <a:xfrm>
            <a:off x="8046720" y="1600200"/>
            <a:ext cx="3566160" cy="1874520"/>
          </a:xfrm>
          <a:prstGeom prst="roundRect">
            <a:avLst>
              <a:gd name="adj" fmla="val 5854"/>
            </a:avLst>
          </a:prstGeom>
          <a:solidFill>
            <a:srgbClr val="F4F6F6"/>
          </a:solidFill>
          <a:ln w="12700">
            <a:solidFill>
              <a:srgbClr val="F4F6F6"/>
            </a:solidFill>
            <a:prstDash val="solid"/>
          </a:ln>
        </p:spPr>
      </p:sp>
      <p:sp>
        <p:nvSpPr>
          <p:cNvPr id="15" name="Shape 11"/>
          <p:cNvSpPr/>
          <p:nvPr/>
        </p:nvSpPr>
        <p:spPr>
          <a:xfrm>
            <a:off x="8229600" y="1783080"/>
            <a:ext cx="502920" cy="50292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50301" y="1903781"/>
            <a:ext cx="261518" cy="261518"/>
          </a:xfrm>
          <a:prstGeom prst="rect">
            <a:avLst/>
          </a:prstGeom>
        </p:spPr>
      </p:pic>
      <p:sp>
        <p:nvSpPr>
          <p:cNvPr id="17" name="Text 12"/>
          <p:cNvSpPr txBox="1"/>
          <p:nvPr/>
        </p:nvSpPr>
        <p:spPr>
          <a:xfrm>
            <a:off x="8869680" y="18288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Collaboration</a:t>
            </a:r>
            <a:endParaRPr lang="en-US" sz="1400" dirty="0"/>
          </a:p>
        </p:txBody>
      </p:sp>
      <p:sp>
        <p:nvSpPr>
          <p:cNvPr id="18" name="Text 13"/>
          <p:cNvSpPr txBox="1"/>
          <p:nvPr/>
        </p:nvSpPr>
        <p:spPr>
          <a:xfrm>
            <a:off x="8229600" y="2377440"/>
            <a:ext cx="32004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Microsoft Teams + Copilot · Slack AI · meeting recorders (Teams, Zoom, Fireflies, Otter) · email as the record</a:t>
            </a:r>
            <a:endParaRPr lang="en-US" sz="1050" dirty="0"/>
          </a:p>
        </p:txBody>
      </p:sp>
      <p:sp>
        <p:nvSpPr>
          <p:cNvPr id="19" name="Shape 14"/>
          <p:cNvSpPr/>
          <p:nvPr/>
        </p:nvSpPr>
        <p:spPr>
          <a:xfrm>
            <a:off x="548640" y="3657600"/>
            <a:ext cx="3566160" cy="1874520"/>
          </a:xfrm>
          <a:prstGeom prst="roundRect">
            <a:avLst>
              <a:gd name="adj" fmla="val 5854"/>
            </a:avLst>
          </a:prstGeom>
          <a:solidFill>
            <a:srgbClr val="F4F6F6"/>
          </a:solidFill>
          <a:ln w="12700">
            <a:solidFill>
              <a:srgbClr val="F4F6F6"/>
            </a:solidFill>
            <a:prstDash val="solid"/>
          </a:ln>
        </p:spPr>
      </p:sp>
      <p:sp>
        <p:nvSpPr>
          <p:cNvPr id="20" name="Shape 15"/>
          <p:cNvSpPr/>
          <p:nvPr/>
        </p:nvSpPr>
        <p:spPr>
          <a:xfrm>
            <a:off x="731520" y="3840480"/>
            <a:ext cx="502920" cy="50292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852221" y="3961181"/>
            <a:ext cx="261518" cy="261518"/>
          </a:xfrm>
          <a:prstGeom prst="rect">
            <a:avLst/>
          </a:prstGeom>
        </p:spPr>
      </p:pic>
      <p:sp>
        <p:nvSpPr>
          <p:cNvPr id="22" name="Text 16"/>
          <p:cNvSpPr txBox="1"/>
          <p:nvPr/>
        </p:nvSpPr>
        <p:spPr>
          <a:xfrm>
            <a:off x="1371600" y="38862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Monitoring and BI</a:t>
            </a:r>
            <a:endParaRPr lang="en-US" sz="1400" dirty="0"/>
          </a:p>
        </p:txBody>
      </p:sp>
      <p:sp>
        <p:nvSpPr>
          <p:cNvPr id="23" name="Text 17"/>
          <p:cNvSpPr txBox="1"/>
          <p:nvPr/>
        </p:nvSpPr>
        <p:spPr>
          <a:xfrm>
            <a:off x="731520" y="4434840"/>
            <a:ext cx="32004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Power BI · Looker · Grafana · Jira dashboards · DORA tooling (LinearB, Jellyfish, DX) · the Factory Console</a:t>
            </a:r>
            <a:endParaRPr lang="en-US" sz="1050" dirty="0"/>
          </a:p>
        </p:txBody>
      </p:sp>
      <p:sp>
        <p:nvSpPr>
          <p:cNvPr id="24" name="Shape 18"/>
          <p:cNvSpPr/>
          <p:nvPr/>
        </p:nvSpPr>
        <p:spPr>
          <a:xfrm>
            <a:off x="4297680" y="3657600"/>
            <a:ext cx="3566160" cy="1874520"/>
          </a:xfrm>
          <a:prstGeom prst="roundRect">
            <a:avLst>
              <a:gd name="adj" fmla="val 5854"/>
            </a:avLst>
          </a:prstGeom>
          <a:solidFill>
            <a:srgbClr val="F4F6F6"/>
          </a:solidFill>
          <a:ln w="12700">
            <a:solidFill>
              <a:srgbClr val="F4F6F6"/>
            </a:solidFill>
            <a:prstDash val="solid"/>
          </a:ln>
        </p:spPr>
      </p:sp>
      <p:sp>
        <p:nvSpPr>
          <p:cNvPr id="25" name="Shape 19"/>
          <p:cNvSpPr/>
          <p:nvPr/>
        </p:nvSpPr>
        <p:spPr>
          <a:xfrm>
            <a:off x="4480560" y="3840480"/>
            <a:ext cx="502920" cy="50292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4601261" y="3961181"/>
            <a:ext cx="261518" cy="261518"/>
          </a:xfrm>
          <a:prstGeom prst="rect">
            <a:avLst/>
          </a:prstGeom>
        </p:spPr>
      </p:pic>
      <p:sp>
        <p:nvSpPr>
          <p:cNvPr id="27" name="Text 20"/>
          <p:cNvSpPr txBox="1"/>
          <p:nvPr/>
        </p:nvSpPr>
        <p:spPr>
          <a:xfrm>
            <a:off x="5120640" y="38862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AI assistants and agents</a:t>
            </a:r>
            <a:endParaRPr lang="en-US" sz="1400" dirty="0"/>
          </a:p>
        </p:txBody>
      </p:sp>
      <p:sp>
        <p:nvSpPr>
          <p:cNvPr id="28" name="Text 21"/>
          <p:cNvSpPr txBox="1"/>
          <p:nvPr/>
        </p:nvSpPr>
        <p:spPr>
          <a:xfrm>
            <a:off x="4480560" y="4434840"/>
            <a:ext cx="32004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ChatGPT · Claude · Microsoft Copilot · Claude Code · GitHub Copilot coding agent · Cursor · orchestration (GitHub Actions, LangGraph)</a:t>
            </a:r>
            <a:endParaRPr lang="en-US" sz="1050" dirty="0"/>
          </a:p>
        </p:txBody>
      </p:sp>
      <p:sp>
        <p:nvSpPr>
          <p:cNvPr id="29" name="Shape 22"/>
          <p:cNvSpPr/>
          <p:nvPr/>
        </p:nvSpPr>
        <p:spPr>
          <a:xfrm>
            <a:off x="8046720" y="3657600"/>
            <a:ext cx="3566160" cy="1874520"/>
          </a:xfrm>
          <a:prstGeom prst="roundRect">
            <a:avLst>
              <a:gd name="adj" fmla="val 5854"/>
            </a:avLst>
          </a:prstGeom>
          <a:solidFill>
            <a:srgbClr val="F4F6F6"/>
          </a:solidFill>
          <a:ln w="12700">
            <a:solidFill>
              <a:srgbClr val="F4F6F6"/>
            </a:solidFill>
            <a:prstDash val="solid"/>
          </a:ln>
        </p:spPr>
      </p:sp>
      <p:sp>
        <p:nvSpPr>
          <p:cNvPr id="30" name="Shape 23"/>
          <p:cNvSpPr/>
          <p:nvPr/>
        </p:nvSpPr>
        <p:spPr>
          <a:xfrm>
            <a:off x="8229600" y="3840480"/>
            <a:ext cx="502920" cy="50292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8350301" y="3961181"/>
            <a:ext cx="261518" cy="261518"/>
          </a:xfrm>
          <a:prstGeom prst="rect">
            <a:avLst/>
          </a:prstGeom>
        </p:spPr>
      </p:pic>
      <p:sp>
        <p:nvSpPr>
          <p:cNvPr id="32" name="Text 24"/>
          <p:cNvSpPr txBox="1"/>
          <p:nvPr/>
        </p:nvSpPr>
        <p:spPr>
          <a:xfrm>
            <a:off x="8869680" y="38862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Automation</a:t>
            </a:r>
            <a:endParaRPr lang="en-US" sz="1400" dirty="0"/>
          </a:p>
        </p:txBody>
      </p:sp>
      <p:sp>
        <p:nvSpPr>
          <p:cNvPr id="33" name="Text 25"/>
          <p:cNvSpPr txBox="1"/>
          <p:nvPr/>
        </p:nvSpPr>
        <p:spPr>
          <a:xfrm>
            <a:off x="8229600" y="4434840"/>
            <a:ext cx="32004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Power Automate · n8n · Zapier · GitHub Actions · Model Context Protocol (MCP) servers that expose tools to assistants</a:t>
            </a:r>
            <a:endParaRPr lang="en-US" sz="1050" dirty="0"/>
          </a:p>
        </p:txBody>
      </p:sp>
      <p:sp>
        <p:nvSpPr>
          <p:cNvPr id="34" name="Text 26"/>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200" i="1" dirty="0">
                <a:solidFill>
                  <a:srgbClr val="0A3B39"/>
                </a:solidFill>
                <a:latin typeface="Calibri" pitchFamily="34" charset="0"/>
                <a:ea typeface="Calibri" pitchFamily="34" charset="-122"/>
                <a:cs typeface="Calibri" pitchFamily="34" charset="-120"/>
              </a:rPr>
              <a:t>Three questions before any tool: where does the system of record live, what must be integrated versus merely coexist, and who is the identity every automated action runs as?</a:t>
            </a:r>
            <a:endParaRPr lang="en-US" sz="1200" dirty="0"/>
          </a:p>
        </p:txBody>
      </p:sp>
      <p:sp>
        <p:nvSpPr>
          <p:cNvPr id="35" name="Text 2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6" name="Text 28"/>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3 · MODULE 3.2 · INTEGRATION PRIMITIVES, SEEN IN THE FACTORY</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How an event becomes an action: the control path</a:t>
            </a:r>
            <a:endParaRPr lang="en-US" sz="3000" dirty="0"/>
          </a:p>
        </p:txBody>
      </p:sp>
      <p:sp>
        <p:nvSpPr>
          <p:cNvPr id="4" name="Shape 2"/>
          <p:cNvSpPr/>
          <p:nvPr/>
        </p:nvSpPr>
        <p:spPr>
          <a:xfrm>
            <a:off x="548640" y="1600200"/>
            <a:ext cx="2011680" cy="1737360"/>
          </a:xfrm>
          <a:prstGeom prst="roundRect">
            <a:avLst>
              <a:gd name="adj" fmla="val 6316"/>
            </a:avLst>
          </a:prstGeom>
          <a:solidFill>
            <a:srgbClr val="F4F6F6"/>
          </a:solidFill>
          <a:ln w="12700">
            <a:solidFill>
              <a:srgbClr val="F4F6F6"/>
            </a:solidFill>
            <a:prstDash val="solid"/>
          </a:ln>
        </p:spPr>
      </p:sp>
      <p:sp>
        <p:nvSpPr>
          <p:cNvPr id="5" name="Text 3"/>
          <p:cNvSpPr txBox="1"/>
          <p:nvPr/>
        </p:nvSpPr>
        <p:spPr>
          <a:xfrm>
            <a:off x="713232" y="1691640"/>
            <a:ext cx="1691640" cy="411480"/>
          </a:xfrm>
          <a:prstGeom prst="rect">
            <a:avLst/>
          </a:prstGeom>
          <a:noFill/>
          <a:ln/>
        </p:spPr>
        <p:txBody>
          <a:bodyPr wrap="square" lIns="0" tIns="0" rIns="0" bIns="0" rtlCol="0" anchor="ctr"/>
          <a:lstStyle/>
          <a:p>
            <a:pPr indent="0" marL="0">
              <a:buNone/>
            </a:pPr>
            <a:r>
              <a:rPr lang="en-US" sz="1350" b="1" dirty="0">
                <a:solidFill>
                  <a:srgbClr val="0F1A1C"/>
                </a:solidFill>
                <a:latin typeface="Cambria" pitchFamily="34" charset="0"/>
                <a:ea typeface="Cambria" pitchFamily="34" charset="-122"/>
                <a:cs typeface="Cambria" pitchFamily="34" charset="-120"/>
              </a:rPr>
              <a:t>GitHub event</a:t>
            </a:r>
            <a:endParaRPr lang="en-US" sz="1350" dirty="0"/>
          </a:p>
        </p:txBody>
      </p:sp>
      <p:sp>
        <p:nvSpPr>
          <p:cNvPr id="6" name="Text 4"/>
          <p:cNvSpPr txBox="1"/>
          <p:nvPr/>
        </p:nvSpPr>
        <p:spPr>
          <a:xfrm>
            <a:off x="713232" y="2103120"/>
            <a:ext cx="1691640" cy="11430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issue opened · label applied · comment 'Approved' · PR merged</a:t>
            </a:r>
            <a:endParaRPr lang="en-US" sz="1050" dirty="0"/>
          </a:p>
        </p:txBody>
      </p:sp>
      <p:sp>
        <p:nvSpPr>
          <p:cNvPr id="7" name="Shape 5"/>
          <p:cNvSpPr/>
          <p:nvPr/>
        </p:nvSpPr>
        <p:spPr>
          <a:xfrm>
            <a:off x="2578608" y="2377440"/>
            <a:ext cx="237744" cy="201168"/>
          </a:xfrm>
          <a:prstGeom prst="rightArrow">
            <a:avLst/>
          </a:prstGeom>
          <a:solidFill>
            <a:srgbClr val="9FADB1"/>
          </a:solidFill>
          <a:ln w="12700">
            <a:solidFill>
              <a:srgbClr val="9FADB1"/>
            </a:solidFill>
            <a:prstDash val="solid"/>
          </a:ln>
        </p:spPr>
      </p:sp>
      <p:sp>
        <p:nvSpPr>
          <p:cNvPr id="8" name="Shape 6"/>
          <p:cNvSpPr/>
          <p:nvPr/>
        </p:nvSpPr>
        <p:spPr>
          <a:xfrm>
            <a:off x="2816352" y="1600200"/>
            <a:ext cx="2011680" cy="1737360"/>
          </a:xfrm>
          <a:prstGeom prst="roundRect">
            <a:avLst>
              <a:gd name="adj" fmla="val 6316"/>
            </a:avLst>
          </a:prstGeom>
          <a:solidFill>
            <a:srgbClr val="F4F6F6"/>
          </a:solidFill>
          <a:ln w="12700">
            <a:solidFill>
              <a:srgbClr val="F4F6F6"/>
            </a:solidFill>
            <a:prstDash val="solid"/>
          </a:ln>
        </p:spPr>
      </p:sp>
      <p:sp>
        <p:nvSpPr>
          <p:cNvPr id="9" name="Text 7"/>
          <p:cNvSpPr txBox="1"/>
          <p:nvPr/>
        </p:nvSpPr>
        <p:spPr>
          <a:xfrm>
            <a:off x="2980944" y="1691640"/>
            <a:ext cx="1691640" cy="411480"/>
          </a:xfrm>
          <a:prstGeom prst="rect">
            <a:avLst/>
          </a:prstGeom>
          <a:noFill/>
          <a:ln/>
        </p:spPr>
        <p:txBody>
          <a:bodyPr wrap="square" lIns="0" tIns="0" rIns="0" bIns="0" rtlCol="0" anchor="ctr"/>
          <a:lstStyle/>
          <a:p>
            <a:pPr indent="0" marL="0">
              <a:buNone/>
            </a:pPr>
            <a:r>
              <a:rPr lang="en-US" sz="1350" b="1" dirty="0">
                <a:solidFill>
                  <a:srgbClr val="0F1A1C"/>
                </a:solidFill>
                <a:latin typeface="Cambria" pitchFamily="34" charset="0"/>
                <a:ea typeface="Cambria" pitchFamily="34" charset="-122"/>
                <a:cs typeface="Cambria" pitchFamily="34" charset="-120"/>
              </a:rPr>
              <a:t>Caller stub</a:t>
            </a:r>
            <a:endParaRPr lang="en-US" sz="1350" dirty="0"/>
          </a:p>
        </p:txBody>
      </p:sp>
      <p:sp>
        <p:nvSpPr>
          <p:cNvPr id="10" name="Text 8"/>
          <p:cNvSpPr txBox="1"/>
          <p:nvPr/>
        </p:nvSpPr>
        <p:spPr>
          <a:xfrm>
            <a:off x="2980944" y="2103120"/>
            <a:ext cx="1691640" cy="11430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~20 lines in the repo: triggers and a version pin, no logic</a:t>
            </a:r>
            <a:endParaRPr lang="en-US" sz="1050" dirty="0"/>
          </a:p>
        </p:txBody>
      </p:sp>
      <p:sp>
        <p:nvSpPr>
          <p:cNvPr id="11" name="Shape 9"/>
          <p:cNvSpPr/>
          <p:nvPr/>
        </p:nvSpPr>
        <p:spPr>
          <a:xfrm>
            <a:off x="4846320" y="2377440"/>
            <a:ext cx="237744" cy="201168"/>
          </a:xfrm>
          <a:prstGeom prst="rightArrow">
            <a:avLst/>
          </a:prstGeom>
          <a:solidFill>
            <a:srgbClr val="9FADB1"/>
          </a:solidFill>
          <a:ln w="12700">
            <a:solidFill>
              <a:srgbClr val="9FADB1"/>
            </a:solidFill>
            <a:prstDash val="solid"/>
          </a:ln>
        </p:spPr>
      </p:sp>
      <p:sp>
        <p:nvSpPr>
          <p:cNvPr id="12" name="Shape 10"/>
          <p:cNvSpPr/>
          <p:nvPr/>
        </p:nvSpPr>
        <p:spPr>
          <a:xfrm>
            <a:off x="5084064" y="1600200"/>
            <a:ext cx="2011680" cy="1737360"/>
          </a:xfrm>
          <a:prstGeom prst="roundRect">
            <a:avLst>
              <a:gd name="adj" fmla="val 6316"/>
            </a:avLst>
          </a:prstGeom>
          <a:solidFill>
            <a:srgbClr val="DFEDEC"/>
          </a:solidFill>
          <a:ln w="12700">
            <a:solidFill>
              <a:srgbClr val="DFEDEC"/>
            </a:solidFill>
            <a:prstDash val="solid"/>
          </a:ln>
        </p:spPr>
      </p:sp>
      <p:sp>
        <p:nvSpPr>
          <p:cNvPr id="13" name="Text 11"/>
          <p:cNvSpPr txBox="1"/>
          <p:nvPr/>
        </p:nvSpPr>
        <p:spPr>
          <a:xfrm>
            <a:off x="5248656" y="1691640"/>
            <a:ext cx="1691640" cy="411480"/>
          </a:xfrm>
          <a:prstGeom prst="rect">
            <a:avLst/>
          </a:prstGeom>
          <a:noFill/>
          <a:ln/>
        </p:spPr>
        <p:txBody>
          <a:bodyPr wrap="square" lIns="0" tIns="0" rIns="0" bIns="0" rtlCol="0" anchor="ctr"/>
          <a:lstStyle/>
          <a:p>
            <a:pPr indent="0" marL="0">
              <a:buNone/>
            </a:pPr>
            <a:r>
              <a:rPr lang="en-US" sz="1350" b="1" dirty="0">
                <a:solidFill>
                  <a:srgbClr val="0A3B39"/>
                </a:solidFill>
                <a:latin typeface="Cambria" pitchFamily="34" charset="0"/>
                <a:ea typeface="Cambria" pitchFamily="34" charset="-122"/>
                <a:cs typeface="Cambria" pitchFamily="34" charset="-120"/>
              </a:rPr>
              <a:t>Router</a:t>
            </a:r>
            <a:endParaRPr lang="en-US" sz="1350" dirty="0"/>
          </a:p>
        </p:txBody>
      </p:sp>
      <p:sp>
        <p:nvSpPr>
          <p:cNvPr id="14" name="Text 12"/>
          <p:cNvSpPr txBox="1"/>
          <p:nvPr/>
        </p:nvSpPr>
        <p:spPr>
          <a:xfrm>
            <a:off x="5248656" y="2103120"/>
            <a:ext cx="1691640" cy="11430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Reads the event and the current label; names a role or replies why nothing ran</a:t>
            </a:r>
            <a:endParaRPr lang="en-US" sz="1050" dirty="0"/>
          </a:p>
        </p:txBody>
      </p:sp>
      <p:sp>
        <p:nvSpPr>
          <p:cNvPr id="15" name="Shape 13"/>
          <p:cNvSpPr/>
          <p:nvPr/>
        </p:nvSpPr>
        <p:spPr>
          <a:xfrm>
            <a:off x="7114032" y="2377440"/>
            <a:ext cx="237744" cy="201168"/>
          </a:xfrm>
          <a:prstGeom prst="rightArrow">
            <a:avLst/>
          </a:prstGeom>
          <a:solidFill>
            <a:srgbClr val="9FADB1"/>
          </a:solidFill>
          <a:ln w="12700">
            <a:solidFill>
              <a:srgbClr val="9FADB1"/>
            </a:solidFill>
            <a:prstDash val="solid"/>
          </a:ln>
        </p:spPr>
      </p:sp>
      <p:sp>
        <p:nvSpPr>
          <p:cNvPr id="16" name="Shape 14"/>
          <p:cNvSpPr/>
          <p:nvPr/>
        </p:nvSpPr>
        <p:spPr>
          <a:xfrm>
            <a:off x="7351776" y="1600200"/>
            <a:ext cx="2011680" cy="1737360"/>
          </a:xfrm>
          <a:prstGeom prst="roundRect">
            <a:avLst>
              <a:gd name="adj" fmla="val 6316"/>
            </a:avLst>
          </a:prstGeom>
          <a:solidFill>
            <a:srgbClr val="0B6E6B"/>
          </a:solidFill>
          <a:ln w="12700">
            <a:solidFill>
              <a:srgbClr val="0B6E6B"/>
            </a:solidFill>
            <a:prstDash val="solid"/>
          </a:ln>
        </p:spPr>
      </p:sp>
      <p:sp>
        <p:nvSpPr>
          <p:cNvPr id="17" name="Text 15"/>
          <p:cNvSpPr txBox="1"/>
          <p:nvPr/>
        </p:nvSpPr>
        <p:spPr>
          <a:xfrm>
            <a:off x="7516368" y="1691640"/>
            <a:ext cx="1691640" cy="41148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Role runs</a:t>
            </a:r>
            <a:endParaRPr lang="en-US" sz="1350" dirty="0"/>
          </a:p>
        </p:txBody>
      </p:sp>
      <p:sp>
        <p:nvSpPr>
          <p:cNvPr id="18" name="Text 16"/>
          <p:cNvSpPr txBox="1"/>
          <p:nvPr/>
        </p:nvSpPr>
        <p:spPr>
          <a:xfrm>
            <a:off x="7516368" y="2103120"/>
            <a:ext cx="1691640" cy="1143000"/>
          </a:xfrm>
          <a:prstGeom prst="rect">
            <a:avLst/>
          </a:prstGeom>
          <a:noFill/>
          <a:ln/>
        </p:spPr>
        <p:txBody>
          <a:bodyPr wrap="square" lIns="0" tIns="0" rIns="0" bIns="0" rtlCol="0" anchor="t"/>
          <a:lstStyle/>
          <a:p>
            <a:pPr indent="0" marL="0">
              <a:buNone/>
            </a:pPr>
            <a:r>
              <a:rPr lang="en-US" sz="1050" dirty="0">
                <a:solidFill>
                  <a:srgbClr val="DFEDEC"/>
                </a:solidFill>
                <a:latin typeface="Calibri" pitchFamily="34" charset="0"/>
                <a:ea typeface="Calibri" pitchFamily="34" charset="-122"/>
                <a:cs typeface="Calibri" pitchFamily="34" charset="-120"/>
              </a:rPr>
              <a:t>One agent, one issue, a model chosen per stage</a:t>
            </a:r>
            <a:endParaRPr lang="en-US" sz="1050" dirty="0"/>
          </a:p>
        </p:txBody>
      </p:sp>
      <p:sp>
        <p:nvSpPr>
          <p:cNvPr id="19" name="Shape 17"/>
          <p:cNvSpPr/>
          <p:nvPr/>
        </p:nvSpPr>
        <p:spPr>
          <a:xfrm>
            <a:off x="9381744" y="2377440"/>
            <a:ext cx="237744" cy="201168"/>
          </a:xfrm>
          <a:prstGeom prst="rightArrow">
            <a:avLst/>
          </a:prstGeom>
          <a:solidFill>
            <a:srgbClr val="9FADB1"/>
          </a:solidFill>
          <a:ln w="12700">
            <a:solidFill>
              <a:srgbClr val="9FADB1"/>
            </a:solidFill>
            <a:prstDash val="solid"/>
          </a:ln>
        </p:spPr>
      </p:sp>
      <p:sp>
        <p:nvSpPr>
          <p:cNvPr id="20" name="Shape 18"/>
          <p:cNvSpPr/>
          <p:nvPr/>
        </p:nvSpPr>
        <p:spPr>
          <a:xfrm>
            <a:off x="9619488" y="1600200"/>
            <a:ext cx="2011680" cy="1737360"/>
          </a:xfrm>
          <a:prstGeom prst="roundRect">
            <a:avLst>
              <a:gd name="adj" fmla="val 6316"/>
            </a:avLst>
          </a:prstGeom>
          <a:solidFill>
            <a:srgbClr val="0F1A1C"/>
          </a:solidFill>
          <a:ln w="12700">
            <a:solidFill>
              <a:srgbClr val="0F1A1C"/>
            </a:solidFill>
            <a:prstDash val="solid"/>
          </a:ln>
        </p:spPr>
      </p:sp>
      <p:sp>
        <p:nvSpPr>
          <p:cNvPr id="21" name="Text 19"/>
          <p:cNvSpPr txBox="1"/>
          <p:nvPr/>
        </p:nvSpPr>
        <p:spPr>
          <a:xfrm>
            <a:off x="9784080" y="1691640"/>
            <a:ext cx="1691640" cy="41148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Visible trace</a:t>
            </a:r>
            <a:endParaRPr lang="en-US" sz="1350" dirty="0"/>
          </a:p>
        </p:txBody>
      </p:sp>
      <p:sp>
        <p:nvSpPr>
          <p:cNvPr id="22" name="Text 20"/>
          <p:cNvSpPr txBox="1"/>
          <p:nvPr/>
        </p:nvSpPr>
        <p:spPr>
          <a:xfrm>
            <a:off x="9784080" y="2103120"/>
            <a:ext cx="1691640" cy="1143000"/>
          </a:xfrm>
          <a:prstGeom prst="rect">
            <a:avLst/>
          </a:prstGeom>
          <a:noFill/>
          <a:ln/>
        </p:spPr>
        <p:txBody>
          <a:bodyPr wrap="square" lIns="0" tIns="0" rIns="0" bIns="0" rtlCol="0" anchor="t"/>
          <a:lstStyle/>
          <a:p>
            <a:pPr indent="0" marL="0">
              <a:buNone/>
            </a:pPr>
            <a:r>
              <a:rPr lang="en-US" sz="1050" dirty="0">
                <a:solidFill>
                  <a:srgbClr val="DFEDEC"/>
                </a:solidFill>
                <a:latin typeface="Calibri" pitchFamily="34" charset="0"/>
                <a:ea typeface="Calibri" pitchFamily="34" charset="-122"/>
                <a:cs typeface="Calibri" pitchFamily="34" charset="-120"/>
              </a:rPr>
              <a:t>Label moved, comment posted, next actor @-mentioned. No silent green runs</a:t>
            </a:r>
            <a:endParaRPr lang="en-US" sz="1050" dirty="0"/>
          </a:p>
        </p:txBody>
      </p:sp>
      <p:sp>
        <p:nvSpPr>
          <p:cNvPr id="23" name="Shape 21"/>
          <p:cNvSpPr/>
          <p:nvPr/>
        </p:nvSpPr>
        <p:spPr>
          <a:xfrm>
            <a:off x="548640" y="3611880"/>
            <a:ext cx="3566160" cy="2606040"/>
          </a:xfrm>
          <a:prstGeom prst="roundRect">
            <a:avLst>
              <a:gd name="adj" fmla="val 4211"/>
            </a:avLst>
          </a:prstGeom>
          <a:solidFill>
            <a:srgbClr val="F4F6F6"/>
          </a:solidFill>
          <a:ln w="12700">
            <a:solidFill>
              <a:srgbClr val="F4F6F6"/>
            </a:solidFill>
            <a:prstDash val="solid"/>
          </a:ln>
        </p:spPr>
      </p:sp>
      <p:sp>
        <p:nvSpPr>
          <p:cNvPr id="24" name="Text 22"/>
          <p:cNvSpPr txBox="1"/>
          <p:nvPr/>
        </p:nvSpPr>
        <p:spPr>
          <a:xfrm>
            <a:off x="749808" y="3776472"/>
            <a:ext cx="316382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Primitives every PM should know</a:t>
            </a:r>
            <a:endParaRPr lang="en-US" sz="1300" dirty="0"/>
          </a:p>
        </p:txBody>
      </p:sp>
      <p:sp>
        <p:nvSpPr>
          <p:cNvPr id="25" name="Text 23"/>
          <p:cNvSpPr txBox="1"/>
          <p:nvPr/>
        </p:nvSpPr>
        <p:spPr>
          <a:xfrm>
            <a:off x="749808" y="4187952"/>
            <a:ext cx="3163824" cy="189280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Webhook: the tool calls you when something happens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API: you ask the tool</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Bot: an identity that acts in chat</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MCP: a standard way to give an AI assistant tools — your tracker, your docs, your calendar</a:t>
            </a:r>
            <a:endParaRPr lang="en-US" sz="1100" dirty="0"/>
          </a:p>
        </p:txBody>
      </p:sp>
      <p:sp>
        <p:nvSpPr>
          <p:cNvPr id="26" name="Shape 24"/>
          <p:cNvSpPr/>
          <p:nvPr/>
        </p:nvSpPr>
        <p:spPr>
          <a:xfrm>
            <a:off x="4297680" y="3611880"/>
            <a:ext cx="3566160" cy="2606040"/>
          </a:xfrm>
          <a:prstGeom prst="roundRect">
            <a:avLst>
              <a:gd name="adj" fmla="val 4211"/>
            </a:avLst>
          </a:prstGeom>
          <a:solidFill>
            <a:srgbClr val="F4F6F6"/>
          </a:solidFill>
          <a:ln w="12700">
            <a:solidFill>
              <a:srgbClr val="F4F6F6"/>
            </a:solidFill>
            <a:prstDash val="solid"/>
          </a:ln>
        </p:spPr>
      </p:sp>
      <p:sp>
        <p:nvSpPr>
          <p:cNvPr id="27" name="Text 25"/>
          <p:cNvSpPr txBox="1"/>
          <p:nvPr/>
        </p:nvSpPr>
        <p:spPr>
          <a:xfrm>
            <a:off x="4498848" y="3776472"/>
            <a:ext cx="316382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Identity and permissions</a:t>
            </a:r>
            <a:endParaRPr lang="en-US" sz="1300" dirty="0"/>
          </a:p>
        </p:txBody>
      </p:sp>
      <p:sp>
        <p:nvSpPr>
          <p:cNvPr id="28" name="Text 26"/>
          <p:cNvSpPr txBox="1"/>
          <p:nvPr/>
        </p:nvSpPr>
        <p:spPr>
          <a:xfrm>
            <a:off x="4498848" y="4187952"/>
            <a:ext cx="3163824" cy="189280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Every automated action runs as someone</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Approvals are recorded in the tool that owns the decision</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In the factory, the Console posts approvals under the user's own GitHub identity — it adds zero new enforcement paths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Approvers are a config file; the pipeline assigns and @-mentions them</a:t>
            </a:r>
            <a:endParaRPr lang="en-US" sz="1100" dirty="0"/>
          </a:p>
        </p:txBody>
      </p:sp>
      <p:sp>
        <p:nvSpPr>
          <p:cNvPr id="29" name="Shape 27"/>
          <p:cNvSpPr/>
          <p:nvPr/>
        </p:nvSpPr>
        <p:spPr>
          <a:xfrm>
            <a:off x="8046720" y="3611880"/>
            <a:ext cx="3566160" cy="2606040"/>
          </a:xfrm>
          <a:prstGeom prst="roundRect">
            <a:avLst>
              <a:gd name="adj" fmla="val 4211"/>
            </a:avLst>
          </a:prstGeom>
          <a:solidFill>
            <a:srgbClr val="F4F6F6"/>
          </a:solidFill>
          <a:ln w="12700">
            <a:solidFill>
              <a:srgbClr val="F4F6F6"/>
            </a:solidFill>
            <a:prstDash val="solid"/>
          </a:ln>
        </p:spPr>
      </p:sp>
      <p:sp>
        <p:nvSpPr>
          <p:cNvPr id="30" name="Text 28"/>
          <p:cNvSpPr txBox="1"/>
          <p:nvPr/>
        </p:nvSpPr>
        <p:spPr>
          <a:xfrm>
            <a:off x="8247888" y="3776472"/>
            <a:ext cx="316382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Avoiding notification debt</a:t>
            </a:r>
            <a:endParaRPr lang="en-US" sz="1300" dirty="0"/>
          </a:p>
        </p:txBody>
      </p:sp>
      <p:sp>
        <p:nvSpPr>
          <p:cNvPr id="31" name="Text 29"/>
          <p:cNvSpPr txBox="1"/>
          <p:nvPr/>
        </p:nvSpPr>
        <p:spPr>
          <a:xfrm>
            <a:off x="8247888" y="4187952"/>
            <a:ext cx="3163824" cy="189280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Teams / Slack for attention, email for the record, the assistant for questions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One channel per project, one thread per epic</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Digest what is informational; interrupt only for decisions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Say, on the object, what is expected of the next actor</a:t>
            </a:r>
            <a:endParaRPr lang="en-US" sz="1100" dirty="0"/>
          </a:p>
        </p:txBody>
      </p:sp>
      <p:sp>
        <p:nvSpPr>
          <p:cNvPr id="32" name="Text 3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3" name="Text 31"/>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3 · MODULE 3.3</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Monitoring that answers questions: flow metrics and DORA</a:t>
            </a:r>
            <a:endParaRPr lang="en-US" sz="3000" dirty="0"/>
          </a:p>
        </p:txBody>
      </p:sp>
      <p:graphicFrame>
        <p:nvGraphicFramePr>
          <p:cNvPr id="4" name="Chart 0" descr=""/>
          <p:cNvGraphicFramePr/>
          <p:nvPr/>
        </p:nvGraphicFramePr>
        <p:xfrm>
          <a:off x="548640" y="1554480"/>
          <a:ext cx="676656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394960"/>
            <a:ext cx="6400800" cy="685800"/>
          </a:xfrm>
          <a:prstGeom prst="rect">
            <a:avLst/>
          </a:prstGeom>
          <a:noFill/>
          <a:ln/>
        </p:spPr>
        <p:txBody>
          <a:bodyPr wrap="square" lIns="0" tIns="0" rIns="0" bIns="0" rtlCol="0" anchor="ctr"/>
          <a:lstStyle/>
          <a:p>
            <a:pPr indent="0" marL="0">
              <a:buNone/>
            </a:pPr>
            <a:r>
              <a:rPr lang="en-US" sz="1150" i="1" dirty="0">
                <a:solidFill>
                  <a:srgbClr val="B24A17"/>
                </a:solidFill>
                <a:latin typeface="Calibri" pitchFamily="34" charset="0"/>
                <a:ea typeface="Calibri" pitchFamily="34" charset="-122"/>
                <a:cs typeface="Calibri" pitchFamily="34" charset="-120"/>
              </a:rPr>
              <a:t>Where did the 9.4 days go? 6.4 of them were humans at gates. The agents took 3.0. Decision latency is the new constraint.</a:t>
            </a:r>
            <a:endParaRPr lang="en-US" sz="1150" dirty="0"/>
          </a:p>
        </p:txBody>
      </p:sp>
      <p:sp>
        <p:nvSpPr>
          <p:cNvPr id="6" name="Shape 3"/>
          <p:cNvSpPr/>
          <p:nvPr/>
        </p:nvSpPr>
        <p:spPr>
          <a:xfrm>
            <a:off x="7589520" y="1554480"/>
            <a:ext cx="4069080" cy="2194560"/>
          </a:xfrm>
          <a:prstGeom prst="roundRect">
            <a:avLst>
              <a:gd name="adj" fmla="val 5000"/>
            </a:avLst>
          </a:prstGeom>
          <a:solidFill>
            <a:srgbClr val="F4F6F6"/>
          </a:solidFill>
          <a:ln w="12700">
            <a:solidFill>
              <a:srgbClr val="F4F6F6"/>
            </a:solidFill>
            <a:prstDash val="solid"/>
          </a:ln>
        </p:spPr>
      </p:sp>
      <p:sp>
        <p:nvSpPr>
          <p:cNvPr id="7" name="Text 4"/>
          <p:cNvSpPr txBox="1"/>
          <p:nvPr/>
        </p:nvSpPr>
        <p:spPr>
          <a:xfrm>
            <a:off x="7790688" y="1719072"/>
            <a:ext cx="3666744" cy="365760"/>
          </a:xfrm>
          <a:prstGeom prst="rect">
            <a:avLst/>
          </a:prstGeom>
          <a:noFill/>
          <a:ln/>
        </p:spPr>
        <p:txBody>
          <a:bodyPr wrap="square" lIns="0" tIns="0" rIns="0" bIns="0" rtlCol="0" anchor="t"/>
          <a:lstStyle/>
          <a:p>
            <a:pPr indent="0" marL="0">
              <a:buNone/>
            </a:pPr>
            <a:r>
              <a:rPr lang="en-US" sz="1350" b="1" dirty="0">
                <a:solidFill>
                  <a:srgbClr val="0B6E6B"/>
                </a:solidFill>
                <a:latin typeface="Cambria" pitchFamily="34" charset="0"/>
                <a:ea typeface="Cambria" pitchFamily="34" charset="-122"/>
                <a:cs typeface="Cambria" pitchFamily="34" charset="-120"/>
              </a:rPr>
              <a:t>Flow metrics</a:t>
            </a:r>
            <a:endParaRPr lang="en-US" sz="1350" dirty="0"/>
          </a:p>
        </p:txBody>
      </p:sp>
      <p:sp>
        <p:nvSpPr>
          <p:cNvPr id="8" name="Text 5"/>
          <p:cNvSpPr txBox="1"/>
          <p:nvPr/>
        </p:nvSpPr>
        <p:spPr>
          <a:xfrm>
            <a:off x="7790688" y="2130552"/>
            <a:ext cx="3666744" cy="148132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Throughput · cycle time · WIP · flow efficiency · ageing</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Read together: rising WIP with flat throughput is the earliest warning you get</a:t>
            </a:r>
            <a:endParaRPr lang="en-US" sz="1150" dirty="0"/>
          </a:p>
        </p:txBody>
      </p:sp>
      <p:sp>
        <p:nvSpPr>
          <p:cNvPr id="9" name="Shape 6"/>
          <p:cNvSpPr/>
          <p:nvPr/>
        </p:nvSpPr>
        <p:spPr>
          <a:xfrm>
            <a:off x="7589520" y="3886200"/>
            <a:ext cx="4069080" cy="2286000"/>
          </a:xfrm>
          <a:prstGeom prst="roundRect">
            <a:avLst>
              <a:gd name="adj" fmla="val 4800"/>
            </a:avLst>
          </a:prstGeom>
          <a:solidFill>
            <a:srgbClr val="DFEDEC"/>
          </a:solidFill>
          <a:ln w="12700">
            <a:solidFill>
              <a:srgbClr val="DFEDEC"/>
            </a:solidFill>
            <a:prstDash val="solid"/>
          </a:ln>
        </p:spPr>
      </p:sp>
      <p:sp>
        <p:nvSpPr>
          <p:cNvPr id="10" name="Text 7"/>
          <p:cNvSpPr txBox="1"/>
          <p:nvPr/>
        </p:nvSpPr>
        <p:spPr>
          <a:xfrm>
            <a:off x="7790688" y="4050792"/>
            <a:ext cx="3666744" cy="365760"/>
          </a:xfrm>
          <a:prstGeom prst="rect">
            <a:avLst/>
          </a:prstGeom>
          <a:noFill/>
          <a:ln/>
        </p:spPr>
        <p:txBody>
          <a:bodyPr wrap="square" lIns="0" tIns="0" rIns="0" bIns="0" rtlCol="0" anchor="t"/>
          <a:lstStyle/>
          <a:p>
            <a:pPr indent="0" marL="0">
              <a:buNone/>
            </a:pPr>
            <a:r>
              <a:rPr lang="en-US" sz="1350" b="1" dirty="0">
                <a:solidFill>
                  <a:srgbClr val="0A3B39"/>
                </a:solidFill>
                <a:latin typeface="Cambria" pitchFamily="34" charset="0"/>
                <a:ea typeface="Cambria" pitchFamily="34" charset="-122"/>
                <a:cs typeface="Cambria" pitchFamily="34" charset="-120"/>
              </a:rPr>
              <a:t>DORA</a:t>
            </a:r>
            <a:endParaRPr lang="en-US" sz="1350" dirty="0"/>
          </a:p>
        </p:txBody>
      </p:sp>
      <p:sp>
        <p:nvSpPr>
          <p:cNvPr id="11" name="Text 8"/>
          <p:cNvSpPr txBox="1"/>
          <p:nvPr/>
        </p:nvSpPr>
        <p:spPr>
          <a:xfrm>
            <a:off x="7790688" y="4462272"/>
            <a:ext cx="3666744" cy="157276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Deployment frequency · lead time · change-failure rate · time to restore</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In the factory: factory:deployed and factory:incident are the two labels that make these a query; the Ops role's smoke and soak checks feed them</a:t>
            </a:r>
            <a:endParaRPr lang="en-US" sz="1150" dirty="0"/>
          </a:p>
        </p:txBody>
      </p:sp>
      <p:sp>
        <p:nvSpPr>
          <p:cNvPr id="12" name="Text 9"/>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3" name="Text 10"/>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3 · HANDS-ON EXERCISE</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Lab 3: wire the tools together</a:t>
            </a:r>
            <a:endParaRPr lang="en-US" sz="3000" dirty="0"/>
          </a:p>
        </p:txBody>
      </p:sp>
      <p:sp>
        <p:nvSpPr>
          <p:cNvPr id="4" name="Shape 2"/>
          <p:cNvSpPr/>
          <p:nvPr/>
        </p:nvSpPr>
        <p:spPr>
          <a:xfrm>
            <a:off x="548640" y="1600200"/>
            <a:ext cx="7315200" cy="2834640"/>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49808" y="1764792"/>
            <a:ext cx="6912864" cy="566928"/>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Repo → chat → LLM → dashboard</a:t>
            </a:r>
            <a:endParaRPr lang="en-US" sz="1500" dirty="0"/>
          </a:p>
        </p:txBody>
      </p:sp>
      <p:sp>
        <p:nvSpPr>
          <p:cNvPr id="6" name="Text 4"/>
          <p:cNvSpPr txBox="1"/>
          <p:nvPr/>
        </p:nvSpPr>
        <p:spPr>
          <a:xfrm>
            <a:off x="749808" y="2377440"/>
            <a:ext cx="6912864" cy="19202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In the sandbox GitHub organisation, connect a repository to a Teams / Slack channel</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Add an LLM summarisation step on issue and PR events (what changed, who is waiting, why)</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Build a small flow-metrics dashboard from the label history: cycle time by stage, WIP by state, blocked ageing</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Stretch: expose the tracker to an AI assistant through MCP and ask it delivery questions in plain English</a:t>
            </a:r>
            <a:endParaRPr lang="en-US" sz="1200" dirty="0"/>
          </a:p>
          <a:p>
            <a:pPr marL="152400" indent="-152400">
              <a:spcAft>
                <a:spcPts val="400"/>
              </a:spcAft>
              <a:buSzPct val="100000"/>
              <a:buChar char="•"/>
            </a:pPr>
            <a:r>
              <a:rPr lang="en-US" sz="1200" dirty="0">
                <a:solidFill>
                  <a:srgbClr val="3A464B"/>
                </a:solidFill>
                <a:latin typeface="Calibri" pitchFamily="34" charset="0"/>
                <a:ea typeface="Calibri" pitchFamily="34" charset="-122"/>
                <a:cs typeface="Calibri" pitchFamily="34" charset="-120"/>
              </a:rPr>
              <a:t>Stretch: add an anomaly rule — alert when blocked ageing exceeds two days</a:t>
            </a:r>
            <a:endParaRPr lang="en-US" sz="1200" dirty="0"/>
          </a:p>
        </p:txBody>
      </p:sp>
      <p:sp>
        <p:nvSpPr>
          <p:cNvPr id="7" name="Shape 5"/>
          <p:cNvSpPr/>
          <p:nvPr/>
        </p:nvSpPr>
        <p:spPr>
          <a:xfrm>
            <a:off x="548640" y="4663440"/>
            <a:ext cx="7406640" cy="1143000"/>
          </a:xfrm>
          <a:prstGeom prst="roundRect">
            <a:avLst>
              <a:gd name="adj" fmla="val 9600"/>
            </a:avLst>
          </a:prstGeom>
          <a:solidFill>
            <a:srgbClr val="FAEDE4"/>
          </a:solidFill>
          <a:ln w="12700">
            <a:solidFill>
              <a:srgbClr val="FAEDE4"/>
            </a:solidFill>
            <a:prstDash val="solid"/>
          </a:ln>
        </p:spPr>
      </p:sp>
      <p:sp>
        <p:nvSpPr>
          <p:cNvPr id="8" name="Shape 6"/>
          <p:cNvSpPr/>
          <p:nvPr/>
        </p:nvSpPr>
        <p:spPr>
          <a:xfrm>
            <a:off x="731520" y="4864608"/>
            <a:ext cx="457200" cy="457200"/>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841248" y="4974336"/>
            <a:ext cx="237744" cy="237744"/>
          </a:xfrm>
          <a:prstGeom prst="rect">
            <a:avLst/>
          </a:prstGeom>
        </p:spPr>
      </p:pic>
      <p:sp>
        <p:nvSpPr>
          <p:cNvPr id="10" name="Text 7"/>
          <p:cNvSpPr txBox="1"/>
          <p:nvPr/>
        </p:nvSpPr>
        <p:spPr>
          <a:xfrm>
            <a:off x="1325880" y="4754880"/>
            <a:ext cx="6492240" cy="96012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Deliverable  </a:t>
            </a:r>
            <a:pPr indent="0" marL="0">
              <a:buNone/>
            </a:pPr>
            <a:r>
              <a:rPr lang="en-US" sz="1250" dirty="0">
                <a:solidFill>
                  <a:srgbClr val="3A464B"/>
                </a:solidFill>
                <a:latin typeface="Calibri" pitchFamily="34" charset="0"/>
                <a:ea typeface="Calibri" pitchFamily="34" charset="-122"/>
                <a:cs typeface="Calibri" pitchFamily="34" charset="-120"/>
              </a:rPr>
              <a:t>A live integration from the system of record to the team's chat, with an LLM in the loop, and a dashboard that reads from the same events.</a:t>
            </a:r>
            <a:endParaRPr lang="en-US" sz="1250" dirty="0"/>
          </a:p>
        </p:txBody>
      </p:sp>
      <p:sp>
        <p:nvSpPr>
          <p:cNvPr id="11" name="Shape 8"/>
          <p:cNvSpPr/>
          <p:nvPr/>
        </p:nvSpPr>
        <p:spPr>
          <a:xfrm>
            <a:off x="8229600" y="1600200"/>
            <a:ext cx="3429000" cy="4206240"/>
          </a:xfrm>
          <a:prstGeom prst="roundRect">
            <a:avLst>
              <a:gd name="adj" fmla="val 3200"/>
            </a:avLst>
          </a:prstGeom>
          <a:solidFill>
            <a:srgbClr val="0F1A1C"/>
          </a:solidFill>
          <a:ln w="12700">
            <a:solidFill>
              <a:srgbClr val="0F1A1C"/>
            </a:solidFill>
            <a:prstDash val="solid"/>
          </a:ln>
        </p:spPr>
      </p:sp>
      <p:sp>
        <p:nvSpPr>
          <p:cNvPr id="12" name="Shape 9"/>
          <p:cNvSpPr/>
          <p:nvPr/>
        </p:nvSpPr>
        <p:spPr>
          <a:xfrm>
            <a:off x="8503920" y="1828800"/>
            <a:ext cx="502920" cy="502920"/>
          </a:xfrm>
          <a:prstGeom prst="ellipse">
            <a:avLst/>
          </a:prstGeom>
          <a:solidFill>
            <a:srgbClr val="0B6E6B"/>
          </a:solidFill>
          <a:ln w="12700">
            <a:solidFill>
              <a:srgbClr val="0B6E6B"/>
            </a:solidFill>
            <a:prstDash val="solid"/>
          </a:ln>
        </p:spPr>
      </p:sp>
      <p:pic>
        <p:nvPicPr>
          <p:cNvPr id="13" name="Image 1" descr="preencoded.png">    </p:cNvPr>
          <p:cNvPicPr>
            <a:picLocks noChangeAspect="1"/>
          </p:cNvPicPr>
          <p:nvPr/>
        </p:nvPicPr>
        <p:blipFill>
          <a:blip r:embed="rId2"/>
          <a:stretch>
            <a:fillRect/>
          </a:stretch>
        </p:blipFill>
        <p:spPr>
          <a:xfrm>
            <a:off x="8624621" y="1949501"/>
            <a:ext cx="261518" cy="261518"/>
          </a:xfrm>
          <a:prstGeom prst="rect">
            <a:avLst/>
          </a:prstGeom>
        </p:spPr>
      </p:pic>
      <p:sp>
        <p:nvSpPr>
          <p:cNvPr id="14" name="Text 10"/>
          <p:cNvSpPr txBox="1"/>
          <p:nvPr/>
        </p:nvSpPr>
        <p:spPr>
          <a:xfrm>
            <a:off x="8503920" y="246888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Closing round</a:t>
            </a:r>
            <a:endParaRPr lang="en-US" sz="1500" dirty="0"/>
          </a:p>
        </p:txBody>
      </p:sp>
      <p:sp>
        <p:nvSpPr>
          <p:cNvPr id="15" name="Text 11"/>
          <p:cNvSpPr txBox="1"/>
          <p:nvPr/>
        </p:nvSpPr>
        <p:spPr>
          <a:xfrm>
            <a:off x="8503920" y="2880360"/>
            <a:ext cx="2926080" cy="3108960"/>
          </a:xfrm>
          <a:prstGeom prst="rect">
            <a:avLst/>
          </a:prstGeom>
          <a:noFill/>
          <a:ln/>
        </p:spPr>
        <p:txBody>
          <a:bodyPr wrap="square" lIns="0" tIns="0" rIns="0" bIns="0" rtlCol="0" anchor="t"/>
          <a:lstStyle/>
          <a:p>
            <a:pPr indent="0" marL="0">
              <a:buNone/>
            </a:pPr>
            <a:r>
              <a:rPr lang="en-US" sz="1250" i="1" dirty="0">
                <a:solidFill>
                  <a:srgbClr val="DFEDEC"/>
                </a:solidFill>
                <a:latin typeface="Calibri" pitchFamily="34" charset="0"/>
                <a:ea typeface="Calibri" pitchFamily="34" charset="-122"/>
                <a:cs typeface="Calibri" pitchFamily="34" charset="-120"/>
              </a:rPr>
              <a:t>Which one integration would you add to your current project first?</a:t>
            </a:r>
            <a:endParaRPr lang="en-US" sz="1250" dirty="0"/>
          </a:p>
          <a:p>
            <a:pPr indent="0" marL="0">
              <a:buNone/>
            </a:pPr>
            <a:endParaRPr lang="en-US" sz="1250" dirty="0"/>
          </a:p>
          <a:p>
            <a:pPr indent="0" marL="0">
              <a:buNone/>
            </a:pPr>
            <a:r>
              <a:rPr lang="en-US" sz="1250" i="1" dirty="0">
                <a:solidFill>
                  <a:srgbClr val="DFEDEC"/>
                </a:solidFill>
                <a:latin typeface="Calibri" pitchFamily="34" charset="0"/>
                <a:ea typeface="Calibri" pitchFamily="34" charset="-122"/>
                <a:cs typeface="Calibri" pitchFamily="34" charset="-120"/>
              </a:rPr>
              <a:t>What did the LLM summary get wrong, and what would you give it to fix that?</a:t>
            </a:r>
            <a:endParaRPr lang="en-US" sz="1250" dirty="0"/>
          </a:p>
        </p:txBody>
      </p:sp>
      <p:sp>
        <p:nvSpPr>
          <p:cNvPr id="16" name="Text 1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7" name="Text 13"/>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AGENDA · 4 HOURS · THE SOFTWARE FACTORY OPERATING MODEL</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Day 4 — Managing AI-driven delivery</a:t>
            </a:r>
            <a:endParaRPr lang="en-US" sz="3000" dirty="0"/>
          </a:p>
        </p:txBody>
      </p:sp>
      <p:sp>
        <p:nvSpPr>
          <p:cNvPr id="4" name="Text 2"/>
          <p:cNvSpPr txBox="1"/>
          <p:nvPr/>
        </p:nvSpPr>
        <p:spPr>
          <a:xfrm>
            <a:off x="548640" y="160020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0:00 – 0:45</a:t>
            </a:r>
            <a:endParaRPr lang="en-US" sz="1100" dirty="0"/>
          </a:p>
        </p:txBody>
      </p:sp>
      <p:sp>
        <p:nvSpPr>
          <p:cNvPr id="5" name="Shape 3"/>
          <p:cNvSpPr/>
          <p:nvPr/>
        </p:nvSpPr>
        <p:spPr>
          <a:xfrm>
            <a:off x="1645920" y="1655064"/>
            <a:ext cx="5943600" cy="457200"/>
          </a:xfrm>
          <a:prstGeom prst="roundRect">
            <a:avLst>
              <a:gd name="adj" fmla="val 20000"/>
            </a:avLst>
          </a:prstGeom>
          <a:solidFill>
            <a:srgbClr val="F4F6F6"/>
          </a:solidFill>
          <a:ln w="12700">
            <a:solidFill>
              <a:srgbClr val="F4F6F6"/>
            </a:solidFill>
            <a:prstDash val="solid"/>
          </a:ln>
        </p:spPr>
      </p:sp>
      <p:sp>
        <p:nvSpPr>
          <p:cNvPr id="6" name="Text 4"/>
          <p:cNvSpPr txBox="1"/>
          <p:nvPr/>
        </p:nvSpPr>
        <p:spPr>
          <a:xfrm>
            <a:off x="1810512" y="165506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The future of project management</a:t>
            </a:r>
            <a:pPr indent="0" marL="0">
              <a:buNone/>
            </a:pPr>
            <a:r>
              <a:rPr lang="en-US" sz="1100" dirty="0">
                <a:solidFill>
                  <a:srgbClr val="3A464B"/>
                </a:solidFill>
                <a:latin typeface="Calibri" pitchFamily="34" charset="0"/>
                <a:ea typeface="Calibri" pitchFamily="34" charset="-122"/>
                <a:cs typeface="Calibri" pitchFamily="34" charset="-120"/>
              </a:rPr>
              <a:t>   Managing people and agents · the PM as gatekeeper · skills that appreciate</a:t>
            </a:r>
            <a:endParaRPr lang="en-US" sz="1250" dirty="0"/>
          </a:p>
        </p:txBody>
      </p:sp>
      <p:sp>
        <p:nvSpPr>
          <p:cNvPr id="7" name="Text 5"/>
          <p:cNvSpPr txBox="1"/>
          <p:nvPr/>
        </p:nvSpPr>
        <p:spPr>
          <a:xfrm>
            <a:off x="548640" y="2203704"/>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0:45 – 1:45</a:t>
            </a:r>
            <a:endParaRPr lang="en-US" sz="1100" dirty="0"/>
          </a:p>
        </p:txBody>
      </p:sp>
      <p:sp>
        <p:nvSpPr>
          <p:cNvPr id="8" name="Shape 6"/>
          <p:cNvSpPr/>
          <p:nvPr/>
        </p:nvSpPr>
        <p:spPr>
          <a:xfrm>
            <a:off x="1645920" y="2258568"/>
            <a:ext cx="5943600" cy="457200"/>
          </a:xfrm>
          <a:prstGeom prst="roundRect">
            <a:avLst>
              <a:gd name="adj" fmla="val 20000"/>
            </a:avLst>
          </a:prstGeom>
          <a:solidFill>
            <a:srgbClr val="F4F6F6"/>
          </a:solidFill>
          <a:ln w="12700">
            <a:solidFill>
              <a:srgbClr val="F4F6F6"/>
            </a:solidFill>
            <a:prstDash val="solid"/>
          </a:ln>
        </p:spPr>
      </p:sp>
      <p:sp>
        <p:nvSpPr>
          <p:cNvPr id="9" name="Text 7"/>
          <p:cNvSpPr txBox="1"/>
          <p:nvPr/>
        </p:nvSpPr>
        <p:spPr>
          <a:xfrm>
            <a:off x="1810512" y="2258568"/>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Best practices for project delivery in tech projects</a:t>
            </a:r>
            <a:pPr indent="0" marL="0">
              <a:buNone/>
            </a:pPr>
            <a:r>
              <a:rPr lang="en-US" sz="1100" dirty="0">
                <a:solidFill>
                  <a:srgbClr val="3A464B"/>
                </a:solidFill>
                <a:latin typeface="Calibri" pitchFamily="34" charset="0"/>
                <a:ea typeface="Calibri" pitchFamily="34" charset="-122"/>
                <a:cs typeface="Calibri" pitchFamily="34" charset="-120"/>
              </a:rPr>
              <a:t>   Spec-driven · small batches · staging first · independent review · guardrails as controls</a:t>
            </a:r>
            <a:endParaRPr lang="en-US" sz="1250" dirty="0"/>
          </a:p>
        </p:txBody>
      </p:sp>
      <p:sp>
        <p:nvSpPr>
          <p:cNvPr id="10" name="Text 8"/>
          <p:cNvSpPr txBox="1"/>
          <p:nvPr/>
        </p:nvSpPr>
        <p:spPr>
          <a:xfrm>
            <a:off x="548640" y="2807208"/>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1:45 – 1:55</a:t>
            </a:r>
            <a:endParaRPr lang="en-US" sz="1100" dirty="0"/>
          </a:p>
        </p:txBody>
      </p:sp>
      <p:sp>
        <p:nvSpPr>
          <p:cNvPr id="11" name="Shape 9"/>
          <p:cNvSpPr/>
          <p:nvPr/>
        </p:nvSpPr>
        <p:spPr>
          <a:xfrm>
            <a:off x="1645920" y="2862072"/>
            <a:ext cx="5943600" cy="457200"/>
          </a:xfrm>
          <a:prstGeom prst="roundRect">
            <a:avLst>
              <a:gd name="adj" fmla="val 20000"/>
            </a:avLst>
          </a:prstGeom>
          <a:solidFill>
            <a:srgbClr val="F4F6F6"/>
          </a:solidFill>
          <a:ln w="12700">
            <a:solidFill>
              <a:srgbClr val="F4F6F6"/>
            </a:solidFill>
            <a:prstDash val="solid"/>
          </a:ln>
        </p:spPr>
      </p:sp>
      <p:sp>
        <p:nvSpPr>
          <p:cNvPr id="12" name="Text 10"/>
          <p:cNvSpPr txBox="1"/>
          <p:nvPr/>
        </p:nvSpPr>
        <p:spPr>
          <a:xfrm>
            <a:off x="1810512" y="2862072"/>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3" name="Text 11"/>
          <p:cNvSpPr txBox="1"/>
          <p:nvPr/>
        </p:nvSpPr>
        <p:spPr>
          <a:xfrm>
            <a:off x="548640" y="3410712"/>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1:55 – 2:55</a:t>
            </a:r>
            <a:endParaRPr lang="en-US" sz="1100" dirty="0"/>
          </a:p>
        </p:txBody>
      </p:sp>
      <p:sp>
        <p:nvSpPr>
          <p:cNvPr id="14" name="Shape 12"/>
          <p:cNvSpPr/>
          <p:nvPr/>
        </p:nvSpPr>
        <p:spPr>
          <a:xfrm>
            <a:off x="1645920" y="3465576"/>
            <a:ext cx="5943600" cy="457200"/>
          </a:xfrm>
          <a:prstGeom prst="roundRect">
            <a:avLst>
              <a:gd name="adj" fmla="val 20000"/>
            </a:avLst>
          </a:prstGeom>
          <a:solidFill>
            <a:srgbClr val="F4F6F6"/>
          </a:solidFill>
          <a:ln w="12700">
            <a:solidFill>
              <a:srgbClr val="F4F6F6"/>
            </a:solidFill>
            <a:prstDash val="solid"/>
          </a:ln>
        </p:spPr>
      </p:sp>
      <p:sp>
        <p:nvSpPr>
          <p:cNvPr id="15" name="Text 13"/>
          <p:cNvSpPr txBox="1"/>
          <p:nvPr/>
        </p:nvSpPr>
        <p:spPr>
          <a:xfrm>
            <a:off x="1810512" y="3465576"/>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Practical guide to managing Gen AI projects</a:t>
            </a:r>
            <a:pPr indent="0" marL="0">
              <a:buNone/>
            </a:pPr>
            <a:r>
              <a:rPr lang="en-US" sz="1100" dirty="0">
                <a:solidFill>
                  <a:srgbClr val="3A464B"/>
                </a:solidFill>
                <a:latin typeface="Calibri" pitchFamily="34" charset="0"/>
                <a:ea typeface="Calibri" pitchFamily="34" charset="-122"/>
                <a:cs typeface="Calibri" pitchFamily="34" charset="-120"/>
              </a:rPr>
              <a:t>   Non-determinism, evaluation, cost, privacy, responsible AI, model routing</a:t>
            </a:r>
            <a:endParaRPr lang="en-US" sz="1250" dirty="0"/>
          </a:p>
        </p:txBody>
      </p:sp>
      <p:sp>
        <p:nvSpPr>
          <p:cNvPr id="16" name="Text 14"/>
          <p:cNvSpPr txBox="1"/>
          <p:nvPr/>
        </p:nvSpPr>
        <p:spPr>
          <a:xfrm>
            <a:off x="548640" y="4014216"/>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2:55 – 3:05</a:t>
            </a:r>
            <a:endParaRPr lang="en-US" sz="1100" dirty="0"/>
          </a:p>
        </p:txBody>
      </p:sp>
      <p:sp>
        <p:nvSpPr>
          <p:cNvPr id="17" name="Shape 15"/>
          <p:cNvSpPr/>
          <p:nvPr/>
        </p:nvSpPr>
        <p:spPr>
          <a:xfrm>
            <a:off x="1645920" y="4069080"/>
            <a:ext cx="5943600" cy="457200"/>
          </a:xfrm>
          <a:prstGeom prst="roundRect">
            <a:avLst>
              <a:gd name="adj" fmla="val 20000"/>
            </a:avLst>
          </a:prstGeom>
          <a:solidFill>
            <a:srgbClr val="F4F6F6"/>
          </a:solidFill>
          <a:ln w="12700">
            <a:solidFill>
              <a:srgbClr val="F4F6F6"/>
            </a:solidFill>
            <a:prstDash val="solid"/>
          </a:ln>
        </p:spPr>
      </p:sp>
      <p:sp>
        <p:nvSpPr>
          <p:cNvPr id="18" name="Text 16"/>
          <p:cNvSpPr txBox="1"/>
          <p:nvPr/>
        </p:nvSpPr>
        <p:spPr>
          <a:xfrm>
            <a:off x="1810512" y="4069080"/>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9" name="Text 17"/>
          <p:cNvSpPr txBox="1"/>
          <p:nvPr/>
        </p:nvSpPr>
        <p:spPr>
          <a:xfrm>
            <a:off x="548640" y="461772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3:05 – 4:20</a:t>
            </a:r>
            <a:endParaRPr lang="en-US" sz="1100" dirty="0"/>
          </a:p>
        </p:txBody>
      </p:sp>
      <p:sp>
        <p:nvSpPr>
          <p:cNvPr id="20" name="Shape 18"/>
          <p:cNvSpPr/>
          <p:nvPr/>
        </p:nvSpPr>
        <p:spPr>
          <a:xfrm>
            <a:off x="1645920" y="4672584"/>
            <a:ext cx="5943600" cy="457200"/>
          </a:xfrm>
          <a:prstGeom prst="roundRect">
            <a:avLst>
              <a:gd name="adj" fmla="val 20000"/>
            </a:avLst>
          </a:prstGeom>
          <a:solidFill>
            <a:srgbClr val="FAEDE4"/>
          </a:solidFill>
          <a:ln w="12700">
            <a:solidFill>
              <a:srgbClr val="FAEDE4"/>
            </a:solidFill>
            <a:prstDash val="solid"/>
          </a:ln>
        </p:spPr>
      </p:sp>
      <p:sp>
        <p:nvSpPr>
          <p:cNvPr id="21" name="Text 19"/>
          <p:cNvSpPr txBox="1"/>
          <p:nvPr/>
        </p:nvSpPr>
        <p:spPr>
          <a:xfrm>
            <a:off x="1810512" y="4672584"/>
            <a:ext cx="5669280" cy="457200"/>
          </a:xfrm>
          <a:prstGeom prst="rect">
            <a:avLst/>
          </a:prstGeom>
          <a:noFill/>
          <a:ln/>
        </p:spPr>
        <p:txBody>
          <a:bodyPr wrap="square" lIns="0" tIns="0" rIns="0" bIns="0" rtlCol="0" anchor="ctr"/>
          <a:lstStyle/>
          <a:p>
            <a:pPr indent="0" marL="0">
              <a:buNone/>
            </a:pPr>
            <a:r>
              <a:rPr lang="en-US" sz="1250" b="1" dirty="0">
                <a:solidFill>
                  <a:srgbClr val="B24A17"/>
                </a:solidFill>
                <a:latin typeface="Calibri" pitchFamily="34" charset="0"/>
                <a:ea typeface="Calibri" pitchFamily="34" charset="-122"/>
                <a:cs typeface="Calibri" pitchFamily="34" charset="-120"/>
              </a:rPr>
              <a:t>Hands-on: run an epic through the factory</a:t>
            </a:r>
            <a:pPr indent="0" marL="0">
              <a:buNone/>
            </a:pPr>
            <a:r>
              <a:rPr lang="en-US" sz="1100" dirty="0">
                <a:solidFill>
                  <a:srgbClr val="3A464B"/>
                </a:solidFill>
                <a:latin typeface="Calibri" pitchFamily="34" charset="0"/>
                <a:ea typeface="Calibri" pitchFamily="34" charset="-122"/>
                <a:cs typeface="Calibri" pitchFamily="34" charset="-120"/>
              </a:rPr>
              <a:t>   Lab 4: file it, plan the release, open G0 → G1 → G2 → GS, see what G3 asks</a:t>
            </a:r>
            <a:endParaRPr lang="en-US" sz="1250" dirty="0"/>
          </a:p>
        </p:txBody>
      </p:sp>
      <p:sp>
        <p:nvSpPr>
          <p:cNvPr id="22" name="Shape 20"/>
          <p:cNvSpPr/>
          <p:nvPr/>
        </p:nvSpPr>
        <p:spPr>
          <a:xfrm>
            <a:off x="7955280" y="1600200"/>
            <a:ext cx="3703320" cy="2011680"/>
          </a:xfrm>
          <a:prstGeom prst="roundRect">
            <a:avLst>
              <a:gd name="adj" fmla="val 5455"/>
            </a:avLst>
          </a:prstGeom>
          <a:solidFill>
            <a:srgbClr val="F4F6F6"/>
          </a:solidFill>
          <a:ln w="12700">
            <a:solidFill>
              <a:srgbClr val="F4F6F6"/>
            </a:solidFill>
            <a:prstDash val="solid"/>
          </a:ln>
        </p:spPr>
      </p:sp>
      <p:sp>
        <p:nvSpPr>
          <p:cNvPr id="23" name="Text 21"/>
          <p:cNvSpPr txBox="1"/>
          <p:nvPr/>
        </p:nvSpPr>
        <p:spPr>
          <a:xfrm>
            <a:off x="8156448" y="1764792"/>
            <a:ext cx="330098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Client ToC modules covered</a:t>
            </a:r>
            <a:endParaRPr lang="en-US" sz="1300" dirty="0"/>
          </a:p>
        </p:txBody>
      </p:sp>
      <p:sp>
        <p:nvSpPr>
          <p:cNvPr id="24" name="Text 22"/>
          <p:cNvSpPr txBox="1"/>
          <p:nvPr/>
        </p:nvSpPr>
        <p:spPr>
          <a:xfrm>
            <a:off x="8156448" y="2176272"/>
            <a:ext cx="3300984" cy="129844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The Future of Project Management</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Best Practices for Project Delivery in Tech Projects</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Practical Guide to Managing Gen AI Projects</a:t>
            </a:r>
            <a:endParaRPr lang="en-US" sz="1100" dirty="0"/>
          </a:p>
        </p:txBody>
      </p:sp>
      <p:sp>
        <p:nvSpPr>
          <p:cNvPr id="25" name="Shape 23"/>
          <p:cNvSpPr/>
          <p:nvPr/>
        </p:nvSpPr>
        <p:spPr>
          <a:xfrm>
            <a:off x="7955280" y="3794760"/>
            <a:ext cx="3703320" cy="2331720"/>
          </a:xfrm>
          <a:prstGeom prst="roundRect">
            <a:avLst>
              <a:gd name="adj" fmla="val 4706"/>
            </a:avLst>
          </a:prstGeom>
          <a:solidFill>
            <a:srgbClr val="DFEDEC"/>
          </a:solidFill>
          <a:ln w="12700">
            <a:solidFill>
              <a:srgbClr val="DFEDEC"/>
            </a:solidFill>
            <a:prstDash val="solid"/>
          </a:ln>
        </p:spPr>
      </p:sp>
      <p:sp>
        <p:nvSpPr>
          <p:cNvPr id="26" name="Text 24"/>
          <p:cNvSpPr txBox="1"/>
          <p:nvPr/>
        </p:nvSpPr>
        <p:spPr>
          <a:xfrm>
            <a:off x="8156448" y="3959352"/>
            <a:ext cx="3300984" cy="365760"/>
          </a:xfrm>
          <a:prstGeom prst="rect">
            <a:avLst/>
          </a:prstGeom>
          <a:noFill/>
          <a:ln/>
        </p:spPr>
        <p:txBody>
          <a:bodyPr wrap="square" lIns="0" tIns="0" rIns="0" bIns="0" rtlCol="0" anchor="t"/>
          <a:lstStyle/>
          <a:p>
            <a:pPr indent="0" marL="0">
              <a:buNone/>
            </a:pPr>
            <a:r>
              <a:rPr lang="en-US" sz="1300" b="1" dirty="0">
                <a:solidFill>
                  <a:srgbClr val="0A3B39"/>
                </a:solidFill>
                <a:latin typeface="Cambria" pitchFamily="34" charset="0"/>
                <a:ea typeface="Cambria" pitchFamily="34" charset="-122"/>
                <a:cs typeface="Cambria" pitchFamily="34" charset="-120"/>
              </a:rPr>
              <a:t>Software Factory thread</a:t>
            </a:r>
            <a:endParaRPr lang="en-US" sz="1300" dirty="0"/>
          </a:p>
        </p:txBody>
      </p:sp>
      <p:sp>
        <p:nvSpPr>
          <p:cNvPr id="27" name="Text 25"/>
          <p:cNvSpPr txBox="1"/>
          <p:nvPr/>
        </p:nvSpPr>
        <p:spPr>
          <a:xfrm>
            <a:off x="8156448" y="4370832"/>
            <a:ext cx="3300984" cy="161848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This is the day the factory is the subject, not the example</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Ten roles, the state machine, five gates — and why only GS and G3 are structural</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Guardrails: a hook, a deny list, a detector</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Model routing: spend quality where errors compound</a:t>
            </a:r>
            <a:endParaRPr lang="en-US" sz="1100" dirty="0"/>
          </a:p>
        </p:txBody>
      </p:sp>
      <p:sp>
        <p:nvSpPr>
          <p:cNvPr id="28" name="Text 2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9" name="Text 2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MODULE 4.1 · THE FUTURE OF PROJECT MANAGEMENT</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From managing people to managing people and agents</a:t>
            </a:r>
            <a:endParaRPr lang="en-US" sz="3000" dirty="0"/>
          </a:p>
        </p:txBody>
      </p:sp>
      <p:sp>
        <p:nvSpPr>
          <p:cNvPr id="4" name="Shape 2"/>
          <p:cNvSpPr/>
          <p:nvPr/>
        </p:nvSpPr>
        <p:spPr>
          <a:xfrm>
            <a:off x="548640" y="1600200"/>
            <a:ext cx="5394960" cy="2926080"/>
          </a:xfrm>
          <a:prstGeom prst="roundRect">
            <a:avLst>
              <a:gd name="adj" fmla="val 3750"/>
            </a:avLst>
          </a:prstGeom>
          <a:solidFill>
            <a:srgbClr val="F4F6F6"/>
          </a:solidFill>
          <a:ln w="12700">
            <a:solidFill>
              <a:srgbClr val="F4F6F6"/>
            </a:solidFill>
            <a:prstDash val="solid"/>
          </a:ln>
        </p:spPr>
      </p:sp>
      <p:sp>
        <p:nvSpPr>
          <p:cNvPr id="5" name="Text 3"/>
          <p:cNvSpPr txBox="1"/>
          <p:nvPr/>
        </p:nvSpPr>
        <p:spPr>
          <a:xfrm>
            <a:off x="749808" y="1764792"/>
            <a:ext cx="4992624" cy="365760"/>
          </a:xfrm>
          <a:prstGeom prst="rect">
            <a:avLst/>
          </a:prstGeom>
          <a:noFill/>
          <a:ln/>
        </p:spPr>
        <p:txBody>
          <a:bodyPr wrap="square" lIns="0" tIns="0" rIns="0" bIns="0" rtlCol="0" anchor="t"/>
          <a:lstStyle/>
          <a:p>
            <a:pPr indent="0" marL="0">
              <a:buNone/>
            </a:pPr>
            <a:r>
              <a:rPr lang="en-US" sz="1500" b="1" dirty="0">
                <a:solidFill>
                  <a:srgbClr val="0B6E6B"/>
                </a:solidFill>
                <a:latin typeface="Cambria" pitchFamily="34" charset="0"/>
                <a:ea typeface="Cambria" pitchFamily="34" charset="-122"/>
                <a:cs typeface="Cambria" pitchFamily="34" charset="-120"/>
              </a:rPr>
              <a:t>What gets automated</a:t>
            </a:r>
            <a:endParaRPr lang="en-US" sz="1500" dirty="0"/>
          </a:p>
        </p:txBody>
      </p:sp>
      <p:sp>
        <p:nvSpPr>
          <p:cNvPr id="6" name="Text 4"/>
          <p:cNvSpPr txBox="1"/>
          <p:nvPr/>
        </p:nvSpPr>
        <p:spPr>
          <a:xfrm>
            <a:off x="749808" y="2176272"/>
            <a:ext cx="4992624" cy="2212848"/>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rgbClr val="3A464B"/>
                </a:solidFill>
                <a:latin typeface="Calibri" pitchFamily="34" charset="0"/>
                <a:ea typeface="Calibri" pitchFamily="34" charset="-122"/>
                <a:cs typeface="Calibri" pitchFamily="34" charset="-120"/>
              </a:rPr>
              <a:t>Coordination and hand-offs between stages</a:t>
            </a:r>
            <a:endParaRPr lang="en-US" sz="1250" dirty="0"/>
          </a:p>
          <a:p>
            <a:pPr marL="152400" indent="-152400">
              <a:spcAft>
                <a:spcPts val="400"/>
              </a:spcAft>
              <a:buSzPct val="100000"/>
              <a:buChar char="•"/>
            </a:pPr>
            <a:r>
              <a:rPr lang="en-US" sz="1250" dirty="0">
                <a:solidFill>
                  <a:srgbClr val="3A464B"/>
                </a:solidFill>
                <a:latin typeface="Calibri" pitchFamily="34" charset="0"/>
                <a:ea typeface="Calibri" pitchFamily="34" charset="-122"/>
                <a:cs typeface="Calibri" pitchFamily="34" charset="-120"/>
              </a:rPr>
              <a:t>Status collection and first-draft reporting</a:t>
            </a:r>
            <a:endParaRPr lang="en-US" sz="1250" dirty="0"/>
          </a:p>
          <a:p>
            <a:pPr marL="152400" indent="-152400">
              <a:spcAft>
                <a:spcPts val="400"/>
              </a:spcAft>
              <a:buSzPct val="100000"/>
              <a:buChar char="•"/>
            </a:pPr>
            <a:r>
              <a:rPr lang="en-US" sz="1250" dirty="0">
                <a:solidFill>
                  <a:srgbClr val="3A464B"/>
                </a:solidFill>
                <a:latin typeface="Calibri" pitchFamily="34" charset="0"/>
                <a:ea typeface="Calibri" pitchFamily="34" charset="-122"/>
                <a:cs typeface="Calibri" pitchFamily="34" charset="-120"/>
              </a:rPr>
              <a:t>First-draft artifacts: specs, plans, designs, test plans</a:t>
            </a:r>
            <a:endParaRPr lang="en-US" sz="1250" dirty="0"/>
          </a:p>
          <a:p>
            <a:pPr marL="152400" indent="-152400">
              <a:spcAft>
                <a:spcPts val="400"/>
              </a:spcAft>
              <a:buSzPct val="100000"/>
              <a:buChar char="•"/>
            </a:pPr>
            <a:r>
              <a:rPr lang="en-US" sz="1250" dirty="0">
                <a:solidFill>
                  <a:srgbClr val="3A464B"/>
                </a:solidFill>
                <a:latin typeface="Calibri" pitchFamily="34" charset="0"/>
                <a:ea typeface="Calibri" pitchFamily="34" charset="-122"/>
                <a:cs typeface="Calibri" pitchFamily="34" charset="-120"/>
              </a:rPr>
              <a:t>Implementation, review and testing of well-specified work</a:t>
            </a:r>
            <a:endParaRPr lang="en-US" sz="1250" dirty="0"/>
          </a:p>
          <a:p>
            <a:pPr marL="152400" indent="-152400">
              <a:spcAft>
                <a:spcPts val="400"/>
              </a:spcAft>
              <a:buSzPct val="100000"/>
              <a:buChar char="•"/>
            </a:pPr>
            <a:r>
              <a:rPr lang="en-US" sz="1250" dirty="0">
                <a:solidFill>
                  <a:srgbClr val="3A464B"/>
                </a:solidFill>
                <a:latin typeface="Calibri" pitchFamily="34" charset="0"/>
                <a:ea typeface="Calibri" pitchFamily="34" charset="-122"/>
                <a:cs typeface="Calibri" pitchFamily="34" charset="-120"/>
              </a:rPr>
              <a:t>Release assembly: dependency-ordered merges, staging checks</a:t>
            </a:r>
            <a:endParaRPr lang="en-US" sz="1250" dirty="0"/>
          </a:p>
        </p:txBody>
      </p:sp>
      <p:sp>
        <p:nvSpPr>
          <p:cNvPr id="7" name="Shape 5"/>
          <p:cNvSpPr/>
          <p:nvPr/>
        </p:nvSpPr>
        <p:spPr>
          <a:xfrm>
            <a:off x="6217920" y="1600200"/>
            <a:ext cx="5440680" cy="2926080"/>
          </a:xfrm>
          <a:prstGeom prst="roundRect">
            <a:avLst>
              <a:gd name="adj" fmla="val 3750"/>
            </a:avLst>
          </a:prstGeom>
          <a:solidFill>
            <a:srgbClr val="DFEDEC"/>
          </a:solidFill>
          <a:ln w="12700">
            <a:solidFill>
              <a:srgbClr val="DFEDEC"/>
            </a:solidFill>
            <a:prstDash val="solid"/>
          </a:ln>
        </p:spPr>
      </p:sp>
      <p:sp>
        <p:nvSpPr>
          <p:cNvPr id="8" name="Text 6"/>
          <p:cNvSpPr txBox="1"/>
          <p:nvPr/>
        </p:nvSpPr>
        <p:spPr>
          <a:xfrm>
            <a:off x="6419088" y="1764792"/>
            <a:ext cx="5038344" cy="365760"/>
          </a:xfrm>
          <a:prstGeom prst="rect">
            <a:avLst/>
          </a:prstGeom>
          <a:noFill/>
          <a:ln/>
        </p:spPr>
        <p:txBody>
          <a:bodyPr wrap="square" lIns="0" tIns="0" rIns="0" bIns="0" rtlCol="0" anchor="t"/>
          <a:lstStyle/>
          <a:p>
            <a:pPr indent="0" marL="0">
              <a:buNone/>
            </a:pPr>
            <a:r>
              <a:rPr lang="en-US" sz="1500" b="1" dirty="0">
                <a:solidFill>
                  <a:srgbClr val="0A3B39"/>
                </a:solidFill>
                <a:latin typeface="Cambria" pitchFamily="34" charset="0"/>
                <a:ea typeface="Cambria" pitchFamily="34" charset="-122"/>
                <a:cs typeface="Cambria" pitchFamily="34" charset="-120"/>
              </a:rPr>
              <a:t>What stays human — and appreciates</a:t>
            </a:r>
            <a:endParaRPr lang="en-US" sz="1500" dirty="0"/>
          </a:p>
        </p:txBody>
      </p:sp>
      <p:sp>
        <p:nvSpPr>
          <p:cNvPr id="9" name="Text 7"/>
          <p:cNvSpPr txBox="1"/>
          <p:nvPr/>
        </p:nvSpPr>
        <p:spPr>
          <a:xfrm>
            <a:off x="6419088" y="2176272"/>
            <a:ext cx="5038344" cy="2212848"/>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rgbClr val="0A3B39"/>
                </a:solidFill>
                <a:latin typeface="Calibri" pitchFamily="34" charset="0"/>
                <a:ea typeface="Calibri" pitchFamily="34" charset="-122"/>
                <a:cs typeface="Calibri" pitchFamily="34" charset="-120"/>
              </a:rPr>
              <a:t>Scope, priorities and trade-offs</a:t>
            </a:r>
            <a:endParaRPr lang="en-US" sz="1250" dirty="0"/>
          </a:p>
          <a:p>
            <a:pPr marL="152400" indent="-152400">
              <a:spcAft>
                <a:spcPts val="400"/>
              </a:spcAft>
              <a:buSzPct val="100000"/>
              <a:buChar char="•"/>
            </a:pPr>
            <a:r>
              <a:rPr lang="en-US" sz="1250" dirty="0">
                <a:solidFill>
                  <a:srgbClr val="0A3B39"/>
                </a:solidFill>
                <a:latin typeface="Calibri" pitchFamily="34" charset="0"/>
                <a:ea typeface="Calibri" pitchFamily="34" charset="-122"/>
                <a:cs typeface="Calibri" pitchFamily="34" charset="-120"/>
              </a:rPr>
              <a:t>Writing an unambiguous requirement</a:t>
            </a:r>
            <a:endParaRPr lang="en-US" sz="1250" dirty="0"/>
          </a:p>
          <a:p>
            <a:pPr marL="152400" indent="-152400">
              <a:spcAft>
                <a:spcPts val="400"/>
              </a:spcAft>
              <a:buSzPct val="100000"/>
              <a:buChar char="•"/>
            </a:pPr>
            <a:r>
              <a:rPr lang="en-US" sz="1250" dirty="0">
                <a:solidFill>
                  <a:srgbClr val="0A3B39"/>
                </a:solidFill>
                <a:latin typeface="Calibri" pitchFamily="34" charset="0"/>
                <a:ea typeface="Calibri" pitchFamily="34" charset="-122"/>
                <a:cs typeface="Calibri" pitchFamily="34" charset="-120"/>
              </a:rPr>
              <a:t>Reading a design and a test report well enough to say no</a:t>
            </a:r>
            <a:endParaRPr lang="en-US" sz="1250" dirty="0"/>
          </a:p>
          <a:p>
            <a:pPr marL="152400" indent="-152400">
              <a:spcAft>
                <a:spcPts val="400"/>
              </a:spcAft>
              <a:buSzPct val="100000"/>
              <a:buChar char="•"/>
            </a:pPr>
            <a:r>
              <a:rPr lang="en-US" sz="1250" dirty="0">
                <a:solidFill>
                  <a:srgbClr val="0A3B39"/>
                </a:solidFill>
                <a:latin typeface="Calibri" pitchFamily="34" charset="0"/>
                <a:ea typeface="Calibri" pitchFamily="34" charset="-122"/>
                <a:cs typeface="Calibri" pitchFamily="34" charset="-120"/>
              </a:rPr>
              <a:t>Opening the gates that put code on staging and in production</a:t>
            </a:r>
            <a:endParaRPr lang="en-US" sz="1250" dirty="0"/>
          </a:p>
          <a:p>
            <a:pPr marL="152400" indent="-152400">
              <a:spcAft>
                <a:spcPts val="400"/>
              </a:spcAft>
              <a:buSzPct val="100000"/>
              <a:buChar char="•"/>
            </a:pPr>
            <a:r>
              <a:rPr lang="en-US" sz="1250" dirty="0">
                <a:solidFill>
                  <a:srgbClr val="0A3B39"/>
                </a:solidFill>
                <a:latin typeface="Calibri" pitchFamily="34" charset="0"/>
                <a:ea typeface="Calibri" pitchFamily="34" charset="-122"/>
                <a:cs typeface="Calibri" pitchFamily="34" charset="-120"/>
              </a:rPr>
              <a:t>Relationships, escalation, accountability</a:t>
            </a:r>
            <a:endParaRPr lang="en-US" sz="1250" dirty="0"/>
          </a:p>
        </p:txBody>
      </p:sp>
      <p:sp>
        <p:nvSpPr>
          <p:cNvPr id="10" name="Shape 8"/>
          <p:cNvSpPr/>
          <p:nvPr/>
        </p:nvSpPr>
        <p:spPr>
          <a:xfrm>
            <a:off x="548640" y="4709160"/>
            <a:ext cx="11109960" cy="1463040"/>
          </a:xfrm>
          <a:prstGeom prst="roundRect">
            <a:avLst>
              <a:gd name="adj" fmla="val 7500"/>
            </a:avLst>
          </a:prstGeom>
          <a:solidFill>
            <a:srgbClr val="0F1A1C"/>
          </a:solidFill>
          <a:ln w="12700">
            <a:solidFill>
              <a:srgbClr val="0F1A1C"/>
            </a:solidFill>
            <a:prstDash val="solid"/>
          </a:ln>
        </p:spPr>
      </p:sp>
      <p:sp>
        <p:nvSpPr>
          <p:cNvPr id="11" name="Shape 9"/>
          <p:cNvSpPr/>
          <p:nvPr/>
        </p:nvSpPr>
        <p:spPr>
          <a:xfrm>
            <a:off x="777240" y="5120640"/>
            <a:ext cx="640080" cy="640080"/>
          </a:xfrm>
          <a:prstGeom prst="ellipse">
            <a:avLst/>
          </a:prstGeom>
          <a:solidFill>
            <a:srgbClr val="0B6E6B"/>
          </a:solidFill>
          <a:ln w="12700">
            <a:solidFill>
              <a:srgbClr val="0B6E6B"/>
            </a:solidFill>
            <a:prstDash val="solid"/>
          </a:ln>
        </p:spPr>
      </p:sp>
      <p:pic>
        <p:nvPicPr>
          <p:cNvPr id="12" name="Image 0" descr="preencoded.png">    </p:cNvPr>
          <p:cNvPicPr>
            <a:picLocks noChangeAspect="1"/>
          </p:cNvPicPr>
          <p:nvPr/>
        </p:nvPicPr>
        <p:blipFill>
          <a:blip r:embed="rId1"/>
          <a:stretch>
            <a:fillRect/>
          </a:stretch>
        </p:blipFill>
        <p:spPr>
          <a:xfrm>
            <a:off x="930859" y="5274259"/>
            <a:ext cx="332842" cy="332842"/>
          </a:xfrm>
          <a:prstGeom prst="rect">
            <a:avLst/>
          </a:prstGeom>
        </p:spPr>
      </p:pic>
      <p:sp>
        <p:nvSpPr>
          <p:cNvPr id="13" name="Text 10"/>
          <p:cNvSpPr txBox="1"/>
          <p:nvPr/>
        </p:nvSpPr>
        <p:spPr>
          <a:xfrm>
            <a:off x="1600200" y="4800600"/>
            <a:ext cx="9875520" cy="12801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pipeline waits on a human, not the other way round. </a:t>
            </a:r>
            <a:pPr indent="0" marL="0">
              <a:buNone/>
            </a:pPr>
            <a:r>
              <a:rPr lang="en-US" sz="1250" dirty="0">
                <a:solidFill>
                  <a:srgbClr val="DFEDEC"/>
                </a:solidFill>
                <a:latin typeface="Calibri" pitchFamily="34" charset="0"/>
                <a:ea typeface="Calibri" pitchFamily="34" charset="-122"/>
                <a:cs typeface="Calibri" pitchFamily="34" charset="-120"/>
              </a:rPr>
              <a:t>When agents take minutes and approvals take days, decision latency becomes the delivery constraint. The PM's operating rhythm changes from weekly status to daily gates — and the PMO's dashboard changes from activity to attention.</a:t>
            </a:r>
            <a:endParaRPr lang="en-US" sz="1250" dirty="0"/>
          </a:p>
        </p:txBody>
      </p:sp>
      <p:sp>
        <p:nvSpPr>
          <p:cNvPr id="14" name="Text 1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5" name="Text 12"/>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MODULE 4.2</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Ten roles, five gates: the factory pipeline in one picture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65760"/>
                <a:gridCol w="1005840"/>
                <a:gridCol w="1188720"/>
                <a:gridCol w="4846320"/>
                <a:gridCol w="548640"/>
                <a:gridCol w="310896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Produces</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Gate</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opens it</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Release</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scrum</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Release plan for one milestone: scope, sequencing, risks, GO / NO-GO</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G0</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4A17"/>
                    </a:solidFill>
                  </a:tcPr>
                </a:tc>
                <a:tc>
                  <a:txBody>
                    <a:bodyPr/>
                    <a:lstStyle/>
                    <a:p>
                      <a:pPr indent="0" marL="0">
                        <a:buNone/>
                      </a:pPr>
                      <a:r>
                        <a:rPr lang="en-US" sz="1000" dirty="0">
                          <a:solidFill>
                            <a:srgbClr val="B24A17"/>
                          </a:solidFill>
                          <a:latin typeface="Calibri" pitchFamily="34" charset="0"/>
                          <a:ea typeface="Calibri" pitchFamily="34" charset="-122"/>
                          <a:cs typeface="Calibri" pitchFamily="34" charset="-120"/>
                        </a:rPr>
                        <a:t>release scope approver — or the agent's own GO</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Intake</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intake</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proposal.md + WHEN/THEN scenarios, opened as a PR; stops and asks if ambiguous</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G1</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4A17"/>
                    </a:solidFill>
                  </a:tcPr>
                </a:tc>
                <a:tc>
                  <a:txBody>
                    <a:bodyPr/>
                    <a:lstStyle/>
                    <a:p>
                      <a:pPr indent="0" marL="0">
                        <a:buNone/>
                      </a:pPr>
                      <a:r>
                        <a:rPr lang="en-US" sz="1000" dirty="0">
                          <a:solidFill>
                            <a:srgbClr val="B24A17"/>
                          </a:solidFill>
                          <a:latin typeface="Calibri" pitchFamily="34" charset="0"/>
                          <a:ea typeface="Calibri" pitchFamily="34" charset="-122"/>
                          <a:cs typeface="Calibri" pitchFamily="34" charset="-120"/>
                        </a:rPr>
                        <a:t>spec approver reviews the PR, comments 'Approved'</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Plan</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planner</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tasks.md — ≤ ~10 tasks of ≤ half a day, one PR each, mirrored into sub-issues</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Design</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architect</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design.md per repo: contracts, migrations, failure modes; reads the actual code first</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G2</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4A17"/>
                    </a:solidFill>
                  </a:tcPr>
                </a:tc>
                <a:tc>
                  <a:txBody>
                    <a:bodyPr/>
                    <a:lstStyle/>
                    <a:p>
                      <a:pPr indent="0" marL="0">
                        <a:buNone/>
                      </a:pPr>
                      <a:r>
                        <a:rPr lang="en-US" sz="1000" dirty="0">
                          <a:solidFill>
                            <a:srgbClr val="B24A17"/>
                          </a:solidFill>
                          <a:latin typeface="Calibri" pitchFamily="34" charset="0"/>
                          <a:ea typeface="Calibri" pitchFamily="34" charset="-122"/>
                          <a:cs typeface="Calibri" pitchFamily="34" charset="-120"/>
                        </a:rPr>
                        <a:t>design approver — plan and design are one approval</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Dispatch</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dispatch</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Marks tasks whose dependencies are merged as ready; no judgement, pure coordination</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Implement</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implementer</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Branch, tests, draft PR — exactly one task per session</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Review</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reviewer</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Independent session, different model; approve or send back</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qa</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Scenario → test mapping, suites green, test report on the PR</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Deploy</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release</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Dependency-ordered merges onto the epic branch, then integration, then promotion PRs</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GS</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4A17"/>
                    </a:solidFill>
                  </a:tcPr>
                </a:tc>
                <a:tc>
                  <a:txBody>
                    <a:bodyPr/>
                    <a:lstStyle/>
                    <a:p>
                      <a:pPr indent="0" marL="0">
                        <a:buNone/>
                      </a:pPr>
                      <a:r>
                        <a:rPr lang="en-US" sz="1000" dirty="0">
                          <a:solidFill>
                            <a:srgbClr val="B24A17"/>
                          </a:solidFill>
                          <a:latin typeface="Calibri" pitchFamily="34" charset="0"/>
                          <a:ea typeface="Calibri" pitchFamily="34" charset="-122"/>
                          <a:cs typeface="Calibri" pitchFamily="34" charset="-120"/>
                        </a:rPr>
                        <a:t>staging approver: 'Approved' on the assembled epic</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384048">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F1A1C"/>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b="1" dirty="0">
                          <a:solidFill>
                            <a:srgbClr val="0A3B39"/>
                          </a:solidFill>
                          <a:latin typeface="Courier New" pitchFamily="34" charset="0"/>
                          <a:ea typeface="Courier New" pitchFamily="34" charset="-122"/>
                          <a:cs typeface="Courier New" pitchFamily="34" charset="-120"/>
                        </a:rPr>
                        <a:t>ops</a:t>
                      </a:r>
                      <a:endParaRPr lang="en-US" sz="1000" dirty="0">
                        <a:latin typeface="Courier New" charset="0"/>
                        <a:ea typeface="Courier New" charset="0"/>
                        <a:cs typeface="Courier New"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3A464B"/>
                          </a:solidFill>
                          <a:latin typeface="Calibri" pitchFamily="34" charset="0"/>
                          <a:ea typeface="Calibri" pitchFamily="34" charset="-122"/>
                          <a:cs typeface="Calibri" pitchFamily="34" charset="-120"/>
                        </a:rPr>
                        <a:t>Health and smoke checks, soak, archive the change, close the issue</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G3</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4A17"/>
                    </a:solidFill>
                  </a:tcPr>
                </a:tc>
                <a:tc>
                  <a:txBody>
                    <a:bodyPr/>
                    <a:lstStyle/>
                    <a:p>
                      <a:pPr indent="0" marL="0">
                        <a:buNone/>
                      </a:pPr>
                      <a:r>
                        <a:rPr lang="en-US" sz="1000" dirty="0">
                          <a:solidFill>
                            <a:srgbClr val="B24A17"/>
                          </a:solidFill>
                          <a:latin typeface="Calibri" pitchFamily="34" charset="0"/>
                          <a:ea typeface="Calibri" pitchFamily="34" charset="-122"/>
                          <a:cs typeface="Calibri" pitchFamily="34" charset="-120"/>
                        </a:rPr>
                        <a:t>a human presses Merge on the promotion PR — never an agent</a:t>
                      </a:r>
                      <a:endParaRPr lang="en-US" sz="100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52160"/>
            <a:ext cx="11064240" cy="411480"/>
          </a:xfrm>
          <a:prstGeom prst="rect">
            <a:avLst/>
          </a:prstGeom>
          <a:noFill/>
          <a:ln/>
        </p:spPr>
        <p:txBody>
          <a:bodyPr wrap="square" lIns="0" tIns="0" rIns="0" bIns="0" rtlCol="0" anchor="ctr"/>
          <a:lstStyle/>
          <a:p>
            <a:pPr indent="0" marL="0">
              <a:buNone/>
            </a:pPr>
            <a:r>
              <a:rPr lang="en-US" sz="1050" i="1" dirty="0">
                <a:solidFill>
                  <a:srgbClr val="3A464B"/>
                </a:solidFill>
                <a:latin typeface="Calibri" pitchFamily="34" charset="0"/>
                <a:ea typeface="Calibri" pitchFamily="34" charset="-122"/>
                <a:cs typeface="Calibri" pitchFamily="34" charset="-120"/>
              </a:rPr>
              <a:t>Beside the stages: a fast lane (factory:fast-track) for changes too small for the ceremony, and expedite (factory:expedite) for all of the ceremony and none of the pauses — which still stops at GS.</a:t>
            </a:r>
            <a:endParaRPr lang="en-US" sz="1050" dirty="0"/>
          </a:p>
        </p:txBody>
      </p:sp>
      <p:sp>
        <p:nvSpPr>
          <p:cNvPr id="6" name="Text 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7" name="Text 4"/>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MODULE 4.2 · BEST PRACTICES FOR PROJECT DELIVERY IN TECH PROJECTS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Delivery best practices, as the factory enforces them</a:t>
            </a:r>
            <a:endParaRPr lang="en-US" sz="3000" dirty="0"/>
          </a:p>
        </p:txBody>
      </p:sp>
      <p:sp>
        <p:nvSpPr>
          <p:cNvPr id="4" name="Shape 2"/>
          <p:cNvSpPr/>
          <p:nvPr/>
        </p:nvSpPr>
        <p:spPr>
          <a:xfrm>
            <a:off x="548640" y="1600200"/>
            <a:ext cx="3566160" cy="2148840"/>
          </a:xfrm>
          <a:prstGeom prst="roundRect">
            <a:avLst>
              <a:gd name="adj" fmla="val 5106"/>
            </a:avLst>
          </a:prstGeom>
          <a:solidFill>
            <a:srgbClr val="F4F6F6"/>
          </a:solidFill>
          <a:ln w="12700">
            <a:solidFill>
              <a:srgbClr val="F4F6F6"/>
            </a:solidFill>
            <a:prstDash val="solid"/>
          </a:ln>
        </p:spPr>
      </p:sp>
      <p:sp>
        <p:nvSpPr>
          <p:cNvPr id="5" name="Shape 3"/>
          <p:cNvSpPr/>
          <p:nvPr/>
        </p:nvSpPr>
        <p:spPr>
          <a:xfrm>
            <a:off x="731520" y="178308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52221" y="1903781"/>
            <a:ext cx="261518" cy="261518"/>
          </a:xfrm>
          <a:prstGeom prst="rect">
            <a:avLst/>
          </a:prstGeom>
        </p:spPr>
      </p:pic>
      <p:sp>
        <p:nvSpPr>
          <p:cNvPr id="7" name="Text 4"/>
          <p:cNvSpPr txBox="1"/>
          <p:nvPr/>
        </p:nvSpPr>
        <p:spPr>
          <a:xfrm>
            <a:off x="1371600" y="18288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Spec-driven delivery</a:t>
            </a:r>
            <a:endParaRPr lang="en-US" sz="1400" dirty="0"/>
          </a:p>
        </p:txBody>
      </p:sp>
      <p:sp>
        <p:nvSpPr>
          <p:cNvPr id="8" name="Text 5"/>
          <p:cNvSpPr txBox="1"/>
          <p:nvPr/>
        </p:nvSpPr>
        <p:spPr>
          <a:xfrm>
            <a:off x="731520" y="2377440"/>
            <a:ext cx="3200400" cy="12801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A change is a proposal, acceptance scenarios, a design and a task list — each reviewed before the next is written.</a:t>
            </a:r>
            <a:endParaRPr lang="en-US" sz="1100" dirty="0"/>
          </a:p>
        </p:txBody>
      </p:sp>
      <p:sp>
        <p:nvSpPr>
          <p:cNvPr id="9" name="Shape 6"/>
          <p:cNvSpPr/>
          <p:nvPr/>
        </p:nvSpPr>
        <p:spPr>
          <a:xfrm>
            <a:off x="4297680" y="1600200"/>
            <a:ext cx="3566160" cy="2148840"/>
          </a:xfrm>
          <a:prstGeom prst="roundRect">
            <a:avLst>
              <a:gd name="adj" fmla="val 5106"/>
            </a:avLst>
          </a:prstGeom>
          <a:solidFill>
            <a:srgbClr val="DFEDEC"/>
          </a:solidFill>
          <a:ln w="12700">
            <a:solidFill>
              <a:srgbClr val="DFEDEC"/>
            </a:solidFill>
            <a:prstDash val="solid"/>
          </a:ln>
        </p:spPr>
      </p:sp>
      <p:sp>
        <p:nvSpPr>
          <p:cNvPr id="10" name="Shape 7"/>
          <p:cNvSpPr/>
          <p:nvPr/>
        </p:nvSpPr>
        <p:spPr>
          <a:xfrm>
            <a:off x="4480560" y="1783080"/>
            <a:ext cx="502920" cy="50292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01261" y="1903781"/>
            <a:ext cx="261518" cy="261518"/>
          </a:xfrm>
          <a:prstGeom prst="rect">
            <a:avLst/>
          </a:prstGeom>
        </p:spPr>
      </p:pic>
      <p:sp>
        <p:nvSpPr>
          <p:cNvPr id="12" name="Text 8"/>
          <p:cNvSpPr txBox="1"/>
          <p:nvPr/>
        </p:nvSpPr>
        <p:spPr>
          <a:xfrm>
            <a:off x="5120640" y="18288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Small batches</a:t>
            </a:r>
            <a:endParaRPr lang="en-US" sz="1400" dirty="0"/>
          </a:p>
        </p:txBody>
      </p:sp>
      <p:sp>
        <p:nvSpPr>
          <p:cNvPr id="13" name="Text 9"/>
          <p:cNvSpPr txBox="1"/>
          <p:nvPr/>
        </p:nvSpPr>
        <p:spPr>
          <a:xfrm>
            <a:off x="4480560" y="2377440"/>
            <a:ext cx="3200400" cy="1280160"/>
          </a:xfrm>
          <a:prstGeom prst="rect">
            <a:avLst/>
          </a:prstGeom>
          <a:noFill/>
          <a:ln/>
        </p:spPr>
        <p:txBody>
          <a:bodyPr wrap="square" lIns="0" tIns="0" rIns="0" bIns="0" rtlCol="0" anchor="t"/>
          <a:lstStyle/>
          <a:p>
            <a:pPr indent="0" marL="0">
              <a:buNone/>
            </a:pPr>
            <a:r>
              <a:rPr lang="en-US" sz="1100" dirty="0">
                <a:solidFill>
                  <a:srgbClr val="0A3B39"/>
                </a:solidFill>
                <a:latin typeface="Calibri" pitchFamily="34" charset="0"/>
                <a:ea typeface="Calibri" pitchFamily="34" charset="-122"/>
                <a:cs typeface="Calibri" pitchFamily="34" charset="-120"/>
              </a:rPr>
              <a:t>Tasks of at most half a day, one PR each, ordered so every intermediate merge is releasable: schema → service → consumer.</a:t>
            </a:r>
            <a:endParaRPr lang="en-US" sz="1100" dirty="0"/>
          </a:p>
        </p:txBody>
      </p:sp>
      <p:sp>
        <p:nvSpPr>
          <p:cNvPr id="14" name="Shape 10"/>
          <p:cNvSpPr/>
          <p:nvPr/>
        </p:nvSpPr>
        <p:spPr>
          <a:xfrm>
            <a:off x="8046720" y="1600200"/>
            <a:ext cx="3566160" cy="2148840"/>
          </a:xfrm>
          <a:prstGeom prst="roundRect">
            <a:avLst>
              <a:gd name="adj" fmla="val 5106"/>
            </a:avLst>
          </a:prstGeom>
          <a:solidFill>
            <a:srgbClr val="F4F6F6"/>
          </a:solidFill>
          <a:ln w="12700">
            <a:solidFill>
              <a:srgbClr val="F4F6F6"/>
            </a:solidFill>
            <a:prstDash val="solid"/>
          </a:ln>
        </p:spPr>
      </p:sp>
      <p:sp>
        <p:nvSpPr>
          <p:cNvPr id="15" name="Shape 11"/>
          <p:cNvSpPr/>
          <p:nvPr/>
        </p:nvSpPr>
        <p:spPr>
          <a:xfrm>
            <a:off x="8229600" y="1783080"/>
            <a:ext cx="502920" cy="50292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50301" y="1903781"/>
            <a:ext cx="261518" cy="261518"/>
          </a:xfrm>
          <a:prstGeom prst="rect">
            <a:avLst/>
          </a:prstGeom>
        </p:spPr>
      </p:pic>
      <p:sp>
        <p:nvSpPr>
          <p:cNvPr id="17" name="Text 12"/>
          <p:cNvSpPr txBox="1"/>
          <p:nvPr/>
        </p:nvSpPr>
        <p:spPr>
          <a:xfrm>
            <a:off x="8869680" y="182880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Staging first, always</a:t>
            </a:r>
            <a:endParaRPr lang="en-US" sz="1400" dirty="0"/>
          </a:p>
        </p:txBody>
      </p:sp>
      <p:sp>
        <p:nvSpPr>
          <p:cNvPr id="18" name="Text 13"/>
          <p:cNvSpPr txBox="1"/>
          <p:nvPr/>
        </p:nvSpPr>
        <p:spPr>
          <a:xfrm>
            <a:off x="8229600" y="2377440"/>
            <a:ext cx="3200400" cy="12801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Nothing reaches main that was not assembled and proven on an integration branch. Promotion PRs carry the staging evidence.</a:t>
            </a:r>
            <a:endParaRPr lang="en-US" sz="1100" dirty="0"/>
          </a:p>
        </p:txBody>
      </p:sp>
      <p:sp>
        <p:nvSpPr>
          <p:cNvPr id="19" name="Shape 14"/>
          <p:cNvSpPr/>
          <p:nvPr/>
        </p:nvSpPr>
        <p:spPr>
          <a:xfrm>
            <a:off x="548640" y="3931920"/>
            <a:ext cx="3566160" cy="2148840"/>
          </a:xfrm>
          <a:prstGeom prst="roundRect">
            <a:avLst>
              <a:gd name="adj" fmla="val 5106"/>
            </a:avLst>
          </a:prstGeom>
          <a:solidFill>
            <a:srgbClr val="DFEDEC"/>
          </a:solidFill>
          <a:ln w="12700">
            <a:solidFill>
              <a:srgbClr val="DFEDEC"/>
            </a:solidFill>
            <a:prstDash val="solid"/>
          </a:ln>
        </p:spPr>
      </p:sp>
      <p:sp>
        <p:nvSpPr>
          <p:cNvPr id="20" name="Shape 15"/>
          <p:cNvSpPr/>
          <p:nvPr/>
        </p:nvSpPr>
        <p:spPr>
          <a:xfrm>
            <a:off x="731520" y="4114800"/>
            <a:ext cx="502920" cy="50292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852221" y="4235501"/>
            <a:ext cx="261518" cy="261518"/>
          </a:xfrm>
          <a:prstGeom prst="rect">
            <a:avLst/>
          </a:prstGeom>
        </p:spPr>
      </p:pic>
      <p:sp>
        <p:nvSpPr>
          <p:cNvPr id="22" name="Text 16"/>
          <p:cNvSpPr txBox="1"/>
          <p:nvPr/>
        </p:nvSpPr>
        <p:spPr>
          <a:xfrm>
            <a:off x="1371600" y="416052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Independent review</a:t>
            </a:r>
            <a:endParaRPr lang="en-US" sz="1400" dirty="0"/>
          </a:p>
        </p:txBody>
      </p:sp>
      <p:sp>
        <p:nvSpPr>
          <p:cNvPr id="23" name="Text 17"/>
          <p:cNvSpPr txBox="1"/>
          <p:nvPr/>
        </p:nvSpPr>
        <p:spPr>
          <a:xfrm>
            <a:off x="731520" y="4709160"/>
            <a:ext cx="3200400" cy="1280160"/>
          </a:xfrm>
          <a:prstGeom prst="rect">
            <a:avLst/>
          </a:prstGeom>
          <a:noFill/>
          <a:ln/>
        </p:spPr>
        <p:txBody>
          <a:bodyPr wrap="square" lIns="0" tIns="0" rIns="0" bIns="0" rtlCol="0" anchor="t"/>
          <a:lstStyle/>
          <a:p>
            <a:pPr indent="0" marL="0">
              <a:buNone/>
            </a:pPr>
            <a:r>
              <a:rPr lang="en-US" sz="1100" dirty="0">
                <a:solidFill>
                  <a:srgbClr val="0A3B39"/>
                </a:solidFill>
                <a:latin typeface="Calibri" pitchFamily="34" charset="0"/>
                <a:ea typeface="Calibri" pitchFamily="34" charset="-122"/>
                <a:cs typeface="Calibri" pitchFamily="34" charset="-120"/>
              </a:rPr>
              <a:t>A reviewer that never shares the implementer's context — in the factory, a different model, so the blind spots differ.</a:t>
            </a:r>
            <a:endParaRPr lang="en-US" sz="1100" dirty="0"/>
          </a:p>
        </p:txBody>
      </p:sp>
      <p:sp>
        <p:nvSpPr>
          <p:cNvPr id="24" name="Shape 18"/>
          <p:cNvSpPr/>
          <p:nvPr/>
        </p:nvSpPr>
        <p:spPr>
          <a:xfrm>
            <a:off x="4297680" y="3931920"/>
            <a:ext cx="3566160" cy="2148840"/>
          </a:xfrm>
          <a:prstGeom prst="roundRect">
            <a:avLst>
              <a:gd name="adj" fmla="val 5106"/>
            </a:avLst>
          </a:prstGeom>
          <a:solidFill>
            <a:srgbClr val="F4F6F6"/>
          </a:solidFill>
          <a:ln w="12700">
            <a:solidFill>
              <a:srgbClr val="F4F6F6"/>
            </a:solidFill>
            <a:prstDash val="solid"/>
          </a:ln>
        </p:spPr>
      </p:sp>
      <p:sp>
        <p:nvSpPr>
          <p:cNvPr id="25" name="Shape 19"/>
          <p:cNvSpPr/>
          <p:nvPr/>
        </p:nvSpPr>
        <p:spPr>
          <a:xfrm>
            <a:off x="4480560" y="4114800"/>
            <a:ext cx="502920" cy="50292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4601261" y="4235501"/>
            <a:ext cx="261518" cy="261518"/>
          </a:xfrm>
          <a:prstGeom prst="rect">
            <a:avLst/>
          </a:prstGeom>
        </p:spPr>
      </p:pic>
      <p:sp>
        <p:nvSpPr>
          <p:cNvPr id="27" name="Text 20"/>
          <p:cNvSpPr txBox="1"/>
          <p:nvPr/>
        </p:nvSpPr>
        <p:spPr>
          <a:xfrm>
            <a:off x="5120640" y="416052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Guardrails as controls</a:t>
            </a:r>
            <a:endParaRPr lang="en-US" sz="1400" dirty="0"/>
          </a:p>
        </p:txBody>
      </p:sp>
      <p:sp>
        <p:nvSpPr>
          <p:cNvPr id="28" name="Text 21"/>
          <p:cNvSpPr txBox="1"/>
          <p:nvPr/>
        </p:nvSpPr>
        <p:spPr>
          <a:xfrm>
            <a:off x="4480560" y="4709160"/>
            <a:ext cx="3200400" cy="128016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A hook blocks the push, a deny list removes the merge tool, a detector files an incident. Not a policy document.</a:t>
            </a:r>
            <a:endParaRPr lang="en-US" sz="1100" dirty="0"/>
          </a:p>
        </p:txBody>
      </p:sp>
      <p:sp>
        <p:nvSpPr>
          <p:cNvPr id="29" name="Shape 22"/>
          <p:cNvSpPr/>
          <p:nvPr/>
        </p:nvSpPr>
        <p:spPr>
          <a:xfrm>
            <a:off x="8046720" y="3931920"/>
            <a:ext cx="3566160" cy="2148840"/>
          </a:xfrm>
          <a:prstGeom prst="roundRect">
            <a:avLst>
              <a:gd name="adj" fmla="val 5106"/>
            </a:avLst>
          </a:prstGeom>
          <a:solidFill>
            <a:srgbClr val="DFEDEC"/>
          </a:solidFill>
          <a:ln w="12700">
            <a:solidFill>
              <a:srgbClr val="DFEDEC"/>
            </a:solidFill>
            <a:prstDash val="solid"/>
          </a:ln>
        </p:spPr>
      </p:sp>
      <p:sp>
        <p:nvSpPr>
          <p:cNvPr id="30" name="Shape 23"/>
          <p:cNvSpPr/>
          <p:nvPr/>
        </p:nvSpPr>
        <p:spPr>
          <a:xfrm>
            <a:off x="8229600" y="4114800"/>
            <a:ext cx="502920" cy="50292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8350301" y="4235501"/>
            <a:ext cx="261518" cy="261518"/>
          </a:xfrm>
          <a:prstGeom prst="rect">
            <a:avLst/>
          </a:prstGeom>
        </p:spPr>
      </p:pic>
      <p:sp>
        <p:nvSpPr>
          <p:cNvPr id="32" name="Text 24"/>
          <p:cNvSpPr txBox="1"/>
          <p:nvPr/>
        </p:nvSpPr>
        <p:spPr>
          <a:xfrm>
            <a:off x="8869680" y="4160520"/>
            <a:ext cx="2651760" cy="41148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Release gating</a:t>
            </a:r>
            <a:endParaRPr lang="en-US" sz="1400" dirty="0"/>
          </a:p>
        </p:txBody>
      </p:sp>
      <p:sp>
        <p:nvSpPr>
          <p:cNvPr id="33" name="Text 25"/>
          <p:cNvSpPr txBox="1"/>
          <p:nvPr/>
        </p:nvSpPr>
        <p:spPr>
          <a:xfrm>
            <a:off x="8229600" y="4709160"/>
            <a:ext cx="3200400" cy="1280160"/>
          </a:xfrm>
          <a:prstGeom prst="rect">
            <a:avLst/>
          </a:prstGeom>
          <a:noFill/>
          <a:ln/>
        </p:spPr>
        <p:txBody>
          <a:bodyPr wrap="square" lIns="0" tIns="0" rIns="0" bIns="0" rtlCol="0" anchor="t"/>
          <a:lstStyle/>
          <a:p>
            <a:pPr indent="0" marL="0">
              <a:buNone/>
            </a:pPr>
            <a:r>
              <a:rPr lang="en-US" sz="1100" dirty="0">
                <a:solidFill>
                  <a:srgbClr val="0A3B39"/>
                </a:solidFill>
                <a:latin typeface="Calibri" pitchFamily="34" charset="0"/>
                <a:ea typeface="Calibri" pitchFamily="34" charset="-122"/>
                <a:cs typeface="Calibri" pitchFamily="34" charset="-120"/>
              </a:rPr>
              <a:t>A milestone is the release. Nothing starts until the whole set has been read, sequenced and approved — once.</a:t>
            </a:r>
            <a:endParaRPr lang="en-US" sz="1100" dirty="0"/>
          </a:p>
        </p:txBody>
      </p:sp>
      <p:sp>
        <p:nvSpPr>
          <p:cNvPr id="34" name="Text 2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5" name="Text 2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MODULE 4.2 · GUARDRAILS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Governance you can prove: controls, not instructions</a:t>
            </a:r>
            <a:endParaRPr lang="en-US" sz="3000" dirty="0"/>
          </a:p>
        </p:txBody>
      </p:sp>
      <p:sp>
        <p:nvSpPr>
          <p:cNvPr id="4" name="Shape 2"/>
          <p:cNvSpPr/>
          <p:nvPr/>
        </p:nvSpPr>
        <p:spPr>
          <a:xfrm>
            <a:off x="548640" y="1600200"/>
            <a:ext cx="6766560" cy="1234440"/>
          </a:xfrm>
          <a:prstGeom prst="roundRect">
            <a:avLst>
              <a:gd name="adj" fmla="val 8889"/>
            </a:avLst>
          </a:prstGeom>
          <a:solidFill>
            <a:srgbClr val="F4F6F6"/>
          </a:solidFill>
          <a:ln w="12700">
            <a:solidFill>
              <a:srgbClr val="F4F6F6"/>
            </a:solidFill>
            <a:prstDash val="solid"/>
          </a:ln>
        </p:spPr>
      </p:sp>
      <p:sp>
        <p:nvSpPr>
          <p:cNvPr id="5" name="Shape 3"/>
          <p:cNvSpPr/>
          <p:nvPr/>
        </p:nvSpPr>
        <p:spPr>
          <a:xfrm>
            <a:off x="777240" y="1892808"/>
            <a:ext cx="640080" cy="640080"/>
          </a:xfrm>
          <a:prstGeom prst="ellipse">
            <a:avLst/>
          </a:prstGeom>
          <a:solidFill>
            <a:srgbClr val="0A3B39"/>
          </a:solidFill>
          <a:ln w="12700">
            <a:solidFill>
              <a:srgbClr val="0A3B39"/>
            </a:solidFill>
            <a:prstDash val="solid"/>
          </a:ln>
        </p:spPr>
      </p:sp>
      <p:sp>
        <p:nvSpPr>
          <p:cNvPr id="6" name="Text 4"/>
          <p:cNvSpPr txBox="1"/>
          <p:nvPr/>
        </p:nvSpPr>
        <p:spPr>
          <a:xfrm>
            <a:off x="777240" y="1892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737360"/>
            <a:ext cx="5394960" cy="365760"/>
          </a:xfrm>
          <a:prstGeom prst="rect">
            <a:avLst/>
          </a:prstGeom>
          <a:noFill/>
          <a:ln/>
        </p:spPr>
        <p:txBody>
          <a:bodyPr wrap="square" lIns="0" tIns="0" rIns="0" bIns="0" rtlCol="0" anchor="ctr"/>
          <a:lstStyle/>
          <a:p>
            <a:pPr indent="0" marL="0">
              <a:buNone/>
            </a:pPr>
            <a:r>
              <a:rPr lang="en-US" sz="1500" b="1" dirty="0">
                <a:solidFill>
                  <a:srgbClr val="0F1A1C"/>
                </a:solidFill>
                <a:latin typeface="Cambria" pitchFamily="34" charset="0"/>
                <a:ea typeface="Cambria" pitchFamily="34" charset="-122"/>
                <a:cs typeface="Cambria" pitchFamily="34" charset="-120"/>
              </a:rPr>
              <a:t>Prevent</a:t>
            </a:r>
            <a:endParaRPr lang="en-US" sz="1500" dirty="0"/>
          </a:p>
        </p:txBody>
      </p:sp>
      <p:sp>
        <p:nvSpPr>
          <p:cNvPr id="8" name="Text 6"/>
          <p:cNvSpPr txBox="1"/>
          <p:nvPr/>
        </p:nvSpPr>
        <p:spPr>
          <a:xfrm>
            <a:off x="1645920" y="2103120"/>
            <a:ext cx="5394960" cy="68580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A pre-tool-use hook blocks any agent git push to main or master — every refspec form, force pushes, deletes. Tested like code.</a:t>
            </a:r>
            <a:endParaRPr lang="en-US" sz="1100" dirty="0"/>
          </a:p>
        </p:txBody>
      </p:sp>
      <p:sp>
        <p:nvSpPr>
          <p:cNvPr id="9" name="Shape 7"/>
          <p:cNvSpPr/>
          <p:nvPr/>
        </p:nvSpPr>
        <p:spPr>
          <a:xfrm>
            <a:off x="548640" y="3017520"/>
            <a:ext cx="6766560" cy="1234440"/>
          </a:xfrm>
          <a:prstGeom prst="roundRect">
            <a:avLst>
              <a:gd name="adj" fmla="val 8889"/>
            </a:avLst>
          </a:prstGeom>
          <a:solidFill>
            <a:srgbClr val="F4F6F6"/>
          </a:solidFill>
          <a:ln w="12700">
            <a:solidFill>
              <a:srgbClr val="F4F6F6"/>
            </a:solidFill>
            <a:prstDash val="solid"/>
          </a:ln>
        </p:spPr>
      </p:sp>
      <p:sp>
        <p:nvSpPr>
          <p:cNvPr id="10" name="Shape 8"/>
          <p:cNvSpPr/>
          <p:nvPr/>
        </p:nvSpPr>
        <p:spPr>
          <a:xfrm>
            <a:off x="777240" y="3310128"/>
            <a:ext cx="640080" cy="640080"/>
          </a:xfrm>
          <a:prstGeom prst="ellipse">
            <a:avLst/>
          </a:prstGeom>
          <a:solidFill>
            <a:srgbClr val="0B6E6B"/>
          </a:solidFill>
          <a:ln w="12700">
            <a:solidFill>
              <a:srgbClr val="0B6E6B"/>
            </a:solidFill>
            <a:prstDash val="solid"/>
          </a:ln>
        </p:spPr>
      </p:sp>
      <p:sp>
        <p:nvSpPr>
          <p:cNvPr id="11" name="Text 9"/>
          <p:cNvSpPr txBox="1"/>
          <p:nvPr/>
        </p:nvSpPr>
        <p:spPr>
          <a:xfrm>
            <a:off x="777240" y="331012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1645920" y="3154680"/>
            <a:ext cx="5394960" cy="365760"/>
          </a:xfrm>
          <a:prstGeom prst="rect">
            <a:avLst/>
          </a:prstGeom>
          <a:noFill/>
          <a:ln/>
        </p:spPr>
        <p:txBody>
          <a:bodyPr wrap="square" lIns="0" tIns="0" rIns="0" bIns="0" rtlCol="0" anchor="ctr"/>
          <a:lstStyle/>
          <a:p>
            <a:pPr indent="0" marL="0">
              <a:buNone/>
            </a:pPr>
            <a:r>
              <a:rPr lang="en-US" sz="1500" b="1" dirty="0">
                <a:solidFill>
                  <a:srgbClr val="0F1A1C"/>
                </a:solidFill>
                <a:latin typeface="Cambria" pitchFamily="34" charset="0"/>
                <a:ea typeface="Cambria" pitchFamily="34" charset="-122"/>
                <a:cs typeface="Cambria" pitchFamily="34" charset="-120"/>
              </a:rPr>
              <a:t>Remove</a:t>
            </a:r>
            <a:endParaRPr lang="en-US" sz="1500" dirty="0"/>
          </a:p>
        </p:txBody>
      </p:sp>
      <p:sp>
        <p:nvSpPr>
          <p:cNvPr id="13" name="Text 11"/>
          <p:cNvSpPr txBox="1"/>
          <p:nvPr/>
        </p:nvSpPr>
        <p:spPr>
          <a:xfrm>
            <a:off x="1645920" y="3520440"/>
            <a:ext cx="5394960" cy="68580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A permission deny list removes the PR-merge tools from every agent session. Humans merge in the GitHub UI; that click is gate G3.</a:t>
            </a:r>
            <a:endParaRPr lang="en-US" sz="1100" dirty="0"/>
          </a:p>
        </p:txBody>
      </p:sp>
      <p:sp>
        <p:nvSpPr>
          <p:cNvPr id="14" name="Shape 12"/>
          <p:cNvSpPr/>
          <p:nvPr/>
        </p:nvSpPr>
        <p:spPr>
          <a:xfrm>
            <a:off x="548640" y="4434840"/>
            <a:ext cx="6766560" cy="1234440"/>
          </a:xfrm>
          <a:prstGeom prst="roundRect">
            <a:avLst>
              <a:gd name="adj" fmla="val 8889"/>
            </a:avLst>
          </a:prstGeom>
          <a:solidFill>
            <a:srgbClr val="F4F6F6"/>
          </a:solidFill>
          <a:ln w="12700">
            <a:solidFill>
              <a:srgbClr val="F4F6F6"/>
            </a:solidFill>
            <a:prstDash val="solid"/>
          </a:ln>
        </p:spPr>
      </p:sp>
      <p:sp>
        <p:nvSpPr>
          <p:cNvPr id="15" name="Shape 13"/>
          <p:cNvSpPr/>
          <p:nvPr/>
        </p:nvSpPr>
        <p:spPr>
          <a:xfrm>
            <a:off x="777240" y="4727448"/>
            <a:ext cx="640080" cy="640080"/>
          </a:xfrm>
          <a:prstGeom prst="ellipse">
            <a:avLst/>
          </a:prstGeom>
          <a:solidFill>
            <a:srgbClr val="B24A17"/>
          </a:solidFill>
          <a:ln w="12700">
            <a:solidFill>
              <a:srgbClr val="B24A17"/>
            </a:solidFill>
            <a:prstDash val="solid"/>
          </a:ln>
        </p:spPr>
      </p:sp>
      <p:sp>
        <p:nvSpPr>
          <p:cNvPr id="16" name="Text 14"/>
          <p:cNvSpPr txBox="1"/>
          <p:nvPr/>
        </p:nvSpPr>
        <p:spPr>
          <a:xfrm>
            <a:off x="777240" y="472744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645920" y="4572000"/>
            <a:ext cx="5394960" cy="365760"/>
          </a:xfrm>
          <a:prstGeom prst="rect">
            <a:avLst/>
          </a:prstGeom>
          <a:noFill/>
          <a:ln/>
        </p:spPr>
        <p:txBody>
          <a:bodyPr wrap="square" lIns="0" tIns="0" rIns="0" bIns="0" rtlCol="0" anchor="ctr"/>
          <a:lstStyle/>
          <a:p>
            <a:pPr indent="0" marL="0">
              <a:buNone/>
            </a:pPr>
            <a:r>
              <a:rPr lang="en-US" sz="1500" b="1" dirty="0">
                <a:solidFill>
                  <a:srgbClr val="0F1A1C"/>
                </a:solidFill>
                <a:latin typeface="Cambria" pitchFamily="34" charset="0"/>
                <a:ea typeface="Cambria" pitchFamily="34" charset="-122"/>
                <a:cs typeface="Cambria" pitchFamily="34" charset="-120"/>
              </a:rPr>
              <a:t>Detect</a:t>
            </a:r>
            <a:endParaRPr lang="en-US" sz="1500" dirty="0"/>
          </a:p>
        </p:txBody>
      </p:sp>
      <p:sp>
        <p:nvSpPr>
          <p:cNvPr id="18" name="Text 16"/>
          <p:cNvSpPr txBox="1"/>
          <p:nvPr/>
        </p:nvSpPr>
        <p:spPr>
          <a:xfrm>
            <a:off x="1645920" y="4937760"/>
            <a:ext cx="5394960" cy="685800"/>
          </a:xfrm>
          <a:prstGeom prst="rect">
            <a:avLst/>
          </a:prstGeom>
          <a:noFill/>
          <a:ln/>
        </p:spPr>
        <p:txBody>
          <a:bodyPr wrap="square" lIns="0" tIns="0" rIns="0" bIns="0" rtlCol="0" anchor="t"/>
          <a:lstStyle/>
          <a:p>
            <a:pPr indent="0" marL="0">
              <a:buNone/>
            </a:pPr>
            <a:r>
              <a:rPr lang="en-US" sz="1100" dirty="0">
                <a:solidFill>
                  <a:srgbClr val="3A464B"/>
                </a:solidFill>
                <a:latin typeface="Calibri" pitchFamily="34" charset="0"/>
                <a:ea typeface="Calibri" pitchFamily="34" charset="-122"/>
                <a:cs typeface="Calibri" pitchFamily="34" charset="-120"/>
              </a:rPr>
              <a:t>A detection workflow opens a factory:incident issue if a commit ever lands on main without a pull request, or by a PR that did not come from staging.</a:t>
            </a:r>
            <a:endParaRPr lang="en-US" sz="1100" dirty="0"/>
          </a:p>
        </p:txBody>
      </p:sp>
      <p:sp>
        <p:nvSpPr>
          <p:cNvPr id="19" name="Shape 17"/>
          <p:cNvSpPr/>
          <p:nvPr/>
        </p:nvSpPr>
        <p:spPr>
          <a:xfrm>
            <a:off x="548640" y="5852160"/>
            <a:ext cx="6766560" cy="411480"/>
          </a:xfrm>
          <a:prstGeom prst="roundRect">
            <a:avLst>
              <a:gd name="adj" fmla="val 22222"/>
            </a:avLst>
          </a:prstGeom>
          <a:solidFill>
            <a:srgbClr val="FAEDE4"/>
          </a:solidFill>
          <a:ln w="12700">
            <a:solidFill>
              <a:srgbClr val="FAEDE4"/>
            </a:solidFill>
            <a:prstDash val="solid"/>
          </a:ln>
        </p:spPr>
      </p:sp>
      <p:sp>
        <p:nvSpPr>
          <p:cNvPr id="20" name="Text 18"/>
          <p:cNvSpPr txBox="1"/>
          <p:nvPr/>
        </p:nvSpPr>
        <p:spPr>
          <a:xfrm>
            <a:off x="731520" y="5852160"/>
            <a:ext cx="6492240" cy="411480"/>
          </a:xfrm>
          <a:prstGeom prst="rect">
            <a:avLst/>
          </a:prstGeom>
          <a:noFill/>
          <a:ln/>
        </p:spPr>
        <p:txBody>
          <a:bodyPr wrap="square" lIns="0" tIns="0" rIns="0" bIns="0" rtlCol="0" anchor="ctr"/>
          <a:lstStyle/>
          <a:p>
            <a:pPr indent="0" marL="0">
              <a:buNone/>
            </a:pPr>
            <a:r>
              <a:rPr lang="en-US" sz="1000" dirty="0">
                <a:solidFill>
                  <a:srgbClr val="B24A17"/>
                </a:solidFill>
                <a:latin typeface="Calibri" pitchFamily="34" charset="0"/>
                <a:ea typeface="Calibri" pitchFamily="34" charset="-122"/>
                <a:cs typeface="Calibri" pitchFamily="34" charset="-120"/>
              </a:rPr>
              <a:t>Plus: agent comments carry a marker so they never trigger themselves; a gate flip is checked against the approver list no matter who sends it.</a:t>
            </a:r>
            <a:endParaRPr lang="en-US" sz="1000" dirty="0"/>
          </a:p>
        </p:txBody>
      </p:sp>
      <p:sp>
        <p:nvSpPr>
          <p:cNvPr id="21" name="Shape 19"/>
          <p:cNvSpPr/>
          <p:nvPr/>
        </p:nvSpPr>
        <p:spPr>
          <a:xfrm>
            <a:off x="7589520" y="1600200"/>
            <a:ext cx="4069080" cy="4663440"/>
          </a:xfrm>
          <a:prstGeom prst="roundRect">
            <a:avLst>
              <a:gd name="adj" fmla="val 2697"/>
            </a:avLst>
          </a:prstGeom>
          <a:solidFill>
            <a:srgbClr val="0F1A1C"/>
          </a:solidFill>
          <a:ln w="12700">
            <a:solidFill>
              <a:srgbClr val="0F1A1C"/>
            </a:solidFill>
            <a:prstDash val="solid"/>
          </a:ln>
        </p:spPr>
      </p:sp>
      <p:sp>
        <p:nvSpPr>
          <p:cNvPr id="22" name="Text 20"/>
          <p:cNvSpPr txBox="1"/>
          <p:nvPr/>
        </p:nvSpPr>
        <p:spPr>
          <a:xfrm>
            <a:off x="7818120" y="1783080"/>
            <a:ext cx="36576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a PM takes from this</a:t>
            </a:r>
            <a:endParaRPr lang="en-US" sz="1500" dirty="0"/>
          </a:p>
        </p:txBody>
      </p:sp>
      <p:sp>
        <p:nvSpPr>
          <p:cNvPr id="23" name="Text 21"/>
          <p:cNvSpPr txBox="1"/>
          <p:nvPr/>
        </p:nvSpPr>
        <p:spPr>
          <a:xfrm>
            <a:off x="7818120" y="2286000"/>
            <a:ext cx="3657600" cy="384048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DFEDEC"/>
                </a:solidFill>
                <a:latin typeface="Calibri" pitchFamily="34" charset="0"/>
                <a:ea typeface="Calibri" pitchFamily="34" charset="-122"/>
                <a:cs typeface="Calibri" pitchFamily="34" charset="-120"/>
              </a:rPr>
              <a:t>A rule an AI system 'should follow' is a wish. A rule the toolchain enforces is a control.</a:t>
            </a:r>
            <a:endParaRPr lang="en-US" sz="1150" dirty="0"/>
          </a:p>
          <a:p>
            <a:pPr marL="177800" indent="-177800">
              <a:spcAft>
                <a:spcPts val="900"/>
              </a:spcAft>
              <a:buSzPct val="100000"/>
              <a:buChar char="•"/>
            </a:pPr>
            <a:r>
              <a:rPr lang="en-US" sz="1150" dirty="0">
                <a:solidFill>
                  <a:srgbClr val="DFEDEC"/>
                </a:solidFill>
                <a:latin typeface="Calibri" pitchFamily="34" charset="0"/>
                <a:ea typeface="Calibri" pitchFamily="34" charset="-122"/>
                <a:cs typeface="Calibri" pitchFamily="34" charset="-120"/>
              </a:rPr>
              <a:t>Ask of every AI initiative: what can it not do, and how do we know?</a:t>
            </a:r>
            <a:endParaRPr lang="en-US" sz="1150" dirty="0"/>
          </a:p>
          <a:p>
            <a:pPr marL="177800" indent="-177800">
              <a:spcAft>
                <a:spcPts val="900"/>
              </a:spcAft>
              <a:buSzPct val="100000"/>
              <a:buChar char="•"/>
            </a:pPr>
            <a:r>
              <a:rPr lang="en-US" sz="1150" dirty="0">
                <a:solidFill>
                  <a:srgbClr val="DFEDEC"/>
                </a:solidFill>
                <a:latin typeface="Calibri" pitchFamily="34" charset="0"/>
                <a:ea typeface="Calibri" pitchFamily="34" charset="-122"/>
                <a:cs typeface="Calibri" pitchFamily="34" charset="-120"/>
              </a:rPr>
              <a:t>Detection is the third layer, not the first — and it must page a person.</a:t>
            </a:r>
            <a:endParaRPr lang="en-US" sz="1150" dirty="0"/>
          </a:p>
          <a:p>
            <a:pPr marL="177800" indent="-177800">
              <a:spcAft>
                <a:spcPts val="900"/>
              </a:spcAft>
              <a:buSzPct val="100000"/>
              <a:buChar char="•"/>
            </a:pPr>
            <a:r>
              <a:rPr lang="en-US" sz="1150" dirty="0">
                <a:solidFill>
                  <a:srgbClr val="DFEDEC"/>
                </a:solidFill>
                <a:latin typeface="Calibri" pitchFamily="34" charset="0"/>
                <a:ea typeface="Calibri" pitchFamily="34" charset="-122"/>
                <a:cs typeface="Calibri" pitchFamily="34" charset="-120"/>
              </a:rPr>
              <a:t>Approver lists, gate evidence and decision logs are the audit trail regulators will ask for.</a:t>
            </a:r>
            <a:endParaRPr lang="en-US" sz="1150" dirty="0"/>
          </a:p>
          <a:p>
            <a:pPr marL="177800" indent="-177800">
              <a:spcAft>
                <a:spcPts val="900"/>
              </a:spcAft>
              <a:buSzPct val="100000"/>
              <a:buChar char="•"/>
            </a:pPr>
            <a:r>
              <a:rPr lang="en-US" sz="1150" dirty="0">
                <a:solidFill>
                  <a:srgbClr val="DFEDEC"/>
                </a:solidFill>
                <a:latin typeface="Calibri" pitchFamily="34" charset="0"/>
                <a:ea typeface="Calibri" pitchFamily="34" charset="-122"/>
                <a:cs typeface="Calibri" pitchFamily="34" charset="-120"/>
              </a:rPr>
              <a:t>The same three layers apply to a chatbot, an automation, or a coding agent.</a:t>
            </a:r>
            <a:endParaRPr lang="en-US" sz="1150" dirty="0"/>
          </a:p>
        </p:txBody>
      </p:sp>
      <p:sp>
        <p:nvSpPr>
          <p:cNvPr id="24" name="Text 2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5" name="Text 23"/>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MODULE 4.3 · PRACTICAL GUIDE</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Managing Gen AI projects: what is actually different</a:t>
            </a:r>
            <a:endParaRPr lang="en-US" sz="3000" dirty="0"/>
          </a:p>
        </p:txBody>
      </p:sp>
      <p:sp>
        <p:nvSpPr>
          <p:cNvPr id="4" name="Shape 2"/>
          <p:cNvSpPr/>
          <p:nvPr/>
        </p:nvSpPr>
        <p:spPr>
          <a:xfrm>
            <a:off x="548640" y="1600200"/>
            <a:ext cx="3566160" cy="1371600"/>
          </a:xfrm>
          <a:prstGeom prst="roundRect">
            <a:avLst>
              <a:gd name="adj" fmla="val 8000"/>
            </a:avLst>
          </a:prstGeom>
          <a:solidFill>
            <a:srgbClr val="F4F6F6"/>
          </a:solidFill>
          <a:ln w="12700">
            <a:solidFill>
              <a:srgbClr val="F4F6F6"/>
            </a:solidFill>
            <a:prstDash val="solid"/>
          </a:ln>
        </p:spPr>
      </p:sp>
      <p:sp>
        <p:nvSpPr>
          <p:cNvPr id="5" name="Text 3"/>
          <p:cNvSpPr txBox="1"/>
          <p:nvPr/>
        </p:nvSpPr>
        <p:spPr>
          <a:xfrm>
            <a:off x="749808" y="1764792"/>
            <a:ext cx="3163824" cy="32004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Non-deterministic output</a:t>
            </a:r>
            <a:endParaRPr lang="en-US" sz="1300" dirty="0"/>
          </a:p>
        </p:txBody>
      </p:sp>
      <p:sp>
        <p:nvSpPr>
          <p:cNvPr id="6" name="Text 4"/>
          <p:cNvSpPr txBox="1"/>
          <p:nvPr/>
        </p:nvSpPr>
        <p:spPr>
          <a:xfrm>
            <a:off x="749808" y="2130552"/>
            <a:ext cx="3163824" cy="704088"/>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The same input gives different answers. Pass / fail testing becomes evaluation on a curated set with a threshold.</a:t>
            </a:r>
            <a:endParaRPr lang="en-US" sz="1050" dirty="0"/>
          </a:p>
        </p:txBody>
      </p:sp>
      <p:sp>
        <p:nvSpPr>
          <p:cNvPr id="7" name="Shape 5"/>
          <p:cNvSpPr/>
          <p:nvPr/>
        </p:nvSpPr>
        <p:spPr>
          <a:xfrm>
            <a:off x="4297680" y="1600200"/>
            <a:ext cx="3566160" cy="1371600"/>
          </a:xfrm>
          <a:prstGeom prst="roundRect">
            <a:avLst>
              <a:gd name="adj" fmla="val 8000"/>
            </a:avLst>
          </a:prstGeom>
          <a:solidFill>
            <a:srgbClr val="F4F6F6"/>
          </a:solidFill>
          <a:ln w="12700">
            <a:solidFill>
              <a:srgbClr val="F4F6F6"/>
            </a:solidFill>
            <a:prstDash val="solid"/>
          </a:ln>
        </p:spPr>
      </p:sp>
      <p:sp>
        <p:nvSpPr>
          <p:cNvPr id="8" name="Text 6"/>
          <p:cNvSpPr txBox="1"/>
          <p:nvPr/>
        </p:nvSpPr>
        <p:spPr>
          <a:xfrm>
            <a:off x="4498848" y="1764792"/>
            <a:ext cx="3163824" cy="32004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Evaluation is the schedule</a:t>
            </a:r>
            <a:endParaRPr lang="en-US" sz="1300" dirty="0"/>
          </a:p>
        </p:txBody>
      </p:sp>
      <p:sp>
        <p:nvSpPr>
          <p:cNvPr id="9" name="Text 7"/>
          <p:cNvSpPr txBox="1"/>
          <p:nvPr/>
        </p:nvSpPr>
        <p:spPr>
          <a:xfrm>
            <a:off x="4498848" y="2130552"/>
            <a:ext cx="3163824" cy="704088"/>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Most of the time goes into the eval loop, integration and change management — not the model.</a:t>
            </a:r>
            <a:endParaRPr lang="en-US" sz="1050" dirty="0"/>
          </a:p>
        </p:txBody>
      </p:sp>
      <p:sp>
        <p:nvSpPr>
          <p:cNvPr id="10" name="Shape 8"/>
          <p:cNvSpPr/>
          <p:nvPr/>
        </p:nvSpPr>
        <p:spPr>
          <a:xfrm>
            <a:off x="8046720" y="1600200"/>
            <a:ext cx="3566160" cy="1371600"/>
          </a:xfrm>
          <a:prstGeom prst="roundRect">
            <a:avLst>
              <a:gd name="adj" fmla="val 8000"/>
            </a:avLst>
          </a:prstGeom>
          <a:solidFill>
            <a:srgbClr val="F4F6F6"/>
          </a:solidFill>
          <a:ln w="12700">
            <a:solidFill>
              <a:srgbClr val="F4F6F6"/>
            </a:solidFill>
            <a:prstDash val="solid"/>
          </a:ln>
        </p:spPr>
      </p:sp>
      <p:sp>
        <p:nvSpPr>
          <p:cNvPr id="11" name="Text 9"/>
          <p:cNvSpPr txBox="1"/>
          <p:nvPr/>
        </p:nvSpPr>
        <p:spPr>
          <a:xfrm>
            <a:off x="8247888" y="1764792"/>
            <a:ext cx="3163824" cy="32004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Cost is tokens</a:t>
            </a:r>
            <a:endParaRPr lang="en-US" sz="1300" dirty="0"/>
          </a:p>
        </p:txBody>
      </p:sp>
      <p:sp>
        <p:nvSpPr>
          <p:cNvPr id="12" name="Text 10"/>
          <p:cNvSpPr txBox="1"/>
          <p:nvPr/>
        </p:nvSpPr>
        <p:spPr>
          <a:xfrm>
            <a:off x="8247888" y="2130552"/>
            <a:ext cx="3163824" cy="704088"/>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Budget per run, per stage, per organisation. Route cheap models to volume, strong models to judgement.</a:t>
            </a:r>
            <a:endParaRPr lang="en-US" sz="1050" dirty="0"/>
          </a:p>
        </p:txBody>
      </p:sp>
      <p:sp>
        <p:nvSpPr>
          <p:cNvPr id="13" name="Shape 11"/>
          <p:cNvSpPr/>
          <p:nvPr/>
        </p:nvSpPr>
        <p:spPr>
          <a:xfrm>
            <a:off x="548640" y="3108960"/>
            <a:ext cx="3566160" cy="1371600"/>
          </a:xfrm>
          <a:prstGeom prst="roundRect">
            <a:avLst>
              <a:gd name="adj" fmla="val 8000"/>
            </a:avLst>
          </a:prstGeom>
          <a:solidFill>
            <a:srgbClr val="F4F6F6"/>
          </a:solidFill>
          <a:ln w="12700">
            <a:solidFill>
              <a:srgbClr val="F4F6F6"/>
            </a:solidFill>
            <a:prstDash val="solid"/>
          </a:ln>
        </p:spPr>
      </p:sp>
      <p:sp>
        <p:nvSpPr>
          <p:cNvPr id="14" name="Text 12"/>
          <p:cNvSpPr txBox="1"/>
          <p:nvPr/>
        </p:nvSpPr>
        <p:spPr>
          <a:xfrm>
            <a:off x="749808" y="3273552"/>
            <a:ext cx="3163824" cy="32004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Drift</a:t>
            </a:r>
            <a:endParaRPr lang="en-US" sz="1300" dirty="0"/>
          </a:p>
        </p:txBody>
      </p:sp>
      <p:sp>
        <p:nvSpPr>
          <p:cNvPr id="15" name="Text 13"/>
          <p:cNvSpPr txBox="1"/>
          <p:nvPr/>
        </p:nvSpPr>
        <p:spPr>
          <a:xfrm>
            <a:off x="749808" y="3639312"/>
            <a:ext cx="3163824" cy="704088"/>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Prompts, models and data all move. Version them; re-run the evals on every change.</a:t>
            </a:r>
            <a:endParaRPr lang="en-US" sz="1050" dirty="0"/>
          </a:p>
        </p:txBody>
      </p:sp>
      <p:sp>
        <p:nvSpPr>
          <p:cNvPr id="16" name="Shape 14"/>
          <p:cNvSpPr/>
          <p:nvPr/>
        </p:nvSpPr>
        <p:spPr>
          <a:xfrm>
            <a:off x="4297680" y="3108960"/>
            <a:ext cx="3566160" cy="1371600"/>
          </a:xfrm>
          <a:prstGeom prst="roundRect">
            <a:avLst>
              <a:gd name="adj" fmla="val 8000"/>
            </a:avLst>
          </a:prstGeom>
          <a:solidFill>
            <a:srgbClr val="F4F6F6"/>
          </a:solidFill>
          <a:ln w="12700">
            <a:solidFill>
              <a:srgbClr val="F4F6F6"/>
            </a:solidFill>
            <a:prstDash val="solid"/>
          </a:ln>
        </p:spPr>
      </p:sp>
      <p:sp>
        <p:nvSpPr>
          <p:cNvPr id="17" name="Text 15"/>
          <p:cNvSpPr txBox="1"/>
          <p:nvPr/>
        </p:nvSpPr>
        <p:spPr>
          <a:xfrm>
            <a:off x="4498848" y="3273552"/>
            <a:ext cx="3163824" cy="32004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Data in the prompt</a:t>
            </a:r>
            <a:endParaRPr lang="en-US" sz="1300" dirty="0"/>
          </a:p>
        </p:txBody>
      </p:sp>
      <p:sp>
        <p:nvSpPr>
          <p:cNvPr id="18" name="Text 16"/>
          <p:cNvSpPr txBox="1"/>
          <p:nvPr/>
        </p:nvSpPr>
        <p:spPr>
          <a:xfrm>
            <a:off x="4498848" y="3639312"/>
            <a:ext cx="3163824" cy="704088"/>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Privacy and confidentiality apply to what goes in and what comes out. Client policy decides the assistant.</a:t>
            </a:r>
            <a:endParaRPr lang="en-US" sz="1050" dirty="0"/>
          </a:p>
        </p:txBody>
      </p:sp>
      <p:sp>
        <p:nvSpPr>
          <p:cNvPr id="19" name="Shape 17"/>
          <p:cNvSpPr/>
          <p:nvPr/>
        </p:nvSpPr>
        <p:spPr>
          <a:xfrm>
            <a:off x="8046720" y="3108960"/>
            <a:ext cx="3566160" cy="1371600"/>
          </a:xfrm>
          <a:prstGeom prst="roundRect">
            <a:avLst>
              <a:gd name="adj" fmla="val 8000"/>
            </a:avLst>
          </a:prstGeom>
          <a:solidFill>
            <a:srgbClr val="F4F6F6"/>
          </a:solidFill>
          <a:ln w="12700">
            <a:solidFill>
              <a:srgbClr val="F4F6F6"/>
            </a:solidFill>
            <a:prstDash val="solid"/>
          </a:ln>
        </p:spPr>
      </p:sp>
      <p:sp>
        <p:nvSpPr>
          <p:cNvPr id="20" name="Text 18"/>
          <p:cNvSpPr txBox="1"/>
          <p:nvPr/>
        </p:nvSpPr>
        <p:spPr>
          <a:xfrm>
            <a:off x="8247888" y="3273552"/>
            <a:ext cx="3163824" cy="32004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Vendor dependency</a:t>
            </a:r>
            <a:endParaRPr lang="en-US" sz="1300" dirty="0"/>
          </a:p>
        </p:txBody>
      </p:sp>
      <p:sp>
        <p:nvSpPr>
          <p:cNvPr id="21" name="Text 19"/>
          <p:cNvSpPr txBox="1"/>
          <p:nvPr/>
        </p:nvSpPr>
        <p:spPr>
          <a:xfrm>
            <a:off x="8247888" y="3639312"/>
            <a:ext cx="3163824" cy="704088"/>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Keep state and content vendor-neutral; only the execution layer should be tied to one model provider.</a:t>
            </a:r>
            <a:endParaRPr lang="en-US" sz="1050" dirty="0"/>
          </a:p>
        </p:txBody>
      </p:sp>
      <p:sp>
        <p:nvSpPr>
          <p:cNvPr id="22" name="Text 20"/>
          <p:cNvSpPr txBox="1"/>
          <p:nvPr/>
        </p:nvSpPr>
        <p:spPr>
          <a:xfrm>
            <a:off x="548640" y="4709160"/>
            <a:ext cx="5486400" cy="274320"/>
          </a:xfrm>
          <a:prstGeom prst="rect">
            <a:avLst/>
          </a:prstGeom>
          <a:noFill/>
          <a:ln/>
        </p:spPr>
        <p:txBody>
          <a:bodyPr wrap="square" lIns="0" tIns="0" rIns="0" bIns="0" rtlCol="0" anchor="ctr"/>
          <a:lstStyle/>
          <a:p>
            <a:pPr indent="0" marL="0">
              <a:buNone/>
            </a:pPr>
            <a:r>
              <a:rPr lang="en-US" sz="1100" b="1" dirty="0">
                <a:solidFill>
                  <a:srgbClr val="B24A17"/>
                </a:solidFill>
                <a:latin typeface="Calibri" pitchFamily="34" charset="0"/>
                <a:ea typeface="Calibri" pitchFamily="34" charset="-122"/>
                <a:cs typeface="Calibri" pitchFamily="34" charset="-120"/>
              </a:rPr>
              <a:t>The Gen AI project lifecycle</a:t>
            </a:r>
            <a:endParaRPr lang="en-US" sz="1100" dirty="0"/>
          </a:p>
        </p:txBody>
      </p:sp>
      <p:sp>
        <p:nvSpPr>
          <p:cNvPr id="23" name="Shape 21"/>
          <p:cNvSpPr/>
          <p:nvPr/>
        </p:nvSpPr>
        <p:spPr>
          <a:xfrm>
            <a:off x="548640" y="5029200"/>
            <a:ext cx="1572768" cy="548640"/>
          </a:xfrm>
          <a:prstGeom prst="chevron">
            <a:avLst/>
          </a:prstGeom>
          <a:solidFill>
            <a:srgbClr val="0A3B39"/>
          </a:solidFill>
          <a:ln w="12700">
            <a:solidFill>
              <a:srgbClr val="FFFFFF"/>
            </a:solidFill>
            <a:prstDash val="solid"/>
          </a:ln>
        </p:spPr>
      </p:sp>
      <p:sp>
        <p:nvSpPr>
          <p:cNvPr id="24" name="Text 22"/>
          <p:cNvSpPr txBox="1"/>
          <p:nvPr/>
        </p:nvSpPr>
        <p:spPr>
          <a:xfrm>
            <a:off x="6858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Use-case triage</a:t>
            </a:r>
            <a:endParaRPr lang="en-US" sz="1000" dirty="0"/>
          </a:p>
        </p:txBody>
      </p:sp>
      <p:sp>
        <p:nvSpPr>
          <p:cNvPr id="25" name="Shape 23"/>
          <p:cNvSpPr/>
          <p:nvPr/>
        </p:nvSpPr>
        <p:spPr>
          <a:xfrm>
            <a:off x="2148840" y="5029200"/>
            <a:ext cx="1572768" cy="548640"/>
          </a:xfrm>
          <a:prstGeom prst="chevron">
            <a:avLst/>
          </a:prstGeom>
          <a:solidFill>
            <a:srgbClr val="0B6E6B"/>
          </a:solidFill>
          <a:ln w="12700">
            <a:solidFill>
              <a:srgbClr val="FFFFFF"/>
            </a:solidFill>
            <a:prstDash val="solid"/>
          </a:ln>
        </p:spPr>
      </p:sp>
      <p:sp>
        <p:nvSpPr>
          <p:cNvPr id="26" name="Text 24"/>
          <p:cNvSpPr txBox="1"/>
          <p:nvPr/>
        </p:nvSpPr>
        <p:spPr>
          <a:xfrm>
            <a:off x="22860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&amp; access</a:t>
            </a:r>
            <a:endParaRPr lang="en-US" sz="1000" dirty="0"/>
          </a:p>
        </p:txBody>
      </p:sp>
      <p:sp>
        <p:nvSpPr>
          <p:cNvPr id="27" name="Shape 25"/>
          <p:cNvSpPr/>
          <p:nvPr/>
        </p:nvSpPr>
        <p:spPr>
          <a:xfrm>
            <a:off x="3749040" y="5029200"/>
            <a:ext cx="1572768" cy="548640"/>
          </a:xfrm>
          <a:prstGeom prst="chevron">
            <a:avLst/>
          </a:prstGeom>
          <a:solidFill>
            <a:srgbClr val="0A3B39"/>
          </a:solidFill>
          <a:ln w="12700">
            <a:solidFill>
              <a:srgbClr val="FFFFFF"/>
            </a:solidFill>
            <a:prstDash val="solid"/>
          </a:ln>
        </p:spPr>
      </p:sp>
      <p:sp>
        <p:nvSpPr>
          <p:cNvPr id="28" name="Text 26"/>
          <p:cNvSpPr txBox="1"/>
          <p:nvPr/>
        </p:nvSpPr>
        <p:spPr>
          <a:xfrm>
            <a:off x="38862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Prototype</a:t>
            </a:r>
            <a:endParaRPr lang="en-US" sz="1000" dirty="0"/>
          </a:p>
        </p:txBody>
      </p:sp>
      <p:sp>
        <p:nvSpPr>
          <p:cNvPr id="29" name="Shape 27"/>
          <p:cNvSpPr/>
          <p:nvPr/>
        </p:nvSpPr>
        <p:spPr>
          <a:xfrm>
            <a:off x="5349240" y="5029200"/>
            <a:ext cx="1572768" cy="548640"/>
          </a:xfrm>
          <a:prstGeom prst="chevron">
            <a:avLst/>
          </a:prstGeom>
          <a:solidFill>
            <a:srgbClr val="0B6E6B"/>
          </a:solidFill>
          <a:ln w="12700">
            <a:solidFill>
              <a:srgbClr val="FFFFFF"/>
            </a:solidFill>
            <a:prstDash val="solid"/>
          </a:ln>
        </p:spPr>
      </p:sp>
      <p:sp>
        <p:nvSpPr>
          <p:cNvPr id="30" name="Text 28"/>
          <p:cNvSpPr txBox="1"/>
          <p:nvPr/>
        </p:nvSpPr>
        <p:spPr>
          <a:xfrm>
            <a:off x="54864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Evaluation set</a:t>
            </a:r>
            <a:endParaRPr lang="en-US" sz="1000" dirty="0"/>
          </a:p>
        </p:txBody>
      </p:sp>
      <p:sp>
        <p:nvSpPr>
          <p:cNvPr id="31" name="Shape 29"/>
          <p:cNvSpPr/>
          <p:nvPr/>
        </p:nvSpPr>
        <p:spPr>
          <a:xfrm>
            <a:off x="6949440" y="5029200"/>
            <a:ext cx="1572768" cy="548640"/>
          </a:xfrm>
          <a:prstGeom prst="chevron">
            <a:avLst/>
          </a:prstGeom>
          <a:solidFill>
            <a:srgbClr val="0A3B39"/>
          </a:solidFill>
          <a:ln w="12700">
            <a:solidFill>
              <a:srgbClr val="FFFFFF"/>
            </a:solidFill>
            <a:prstDash val="solid"/>
          </a:ln>
        </p:spPr>
      </p:sp>
      <p:sp>
        <p:nvSpPr>
          <p:cNvPr id="32" name="Text 30"/>
          <p:cNvSpPr txBox="1"/>
          <p:nvPr/>
        </p:nvSpPr>
        <p:spPr>
          <a:xfrm>
            <a:off x="70866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Guardrails</a:t>
            </a:r>
            <a:endParaRPr lang="en-US" sz="1000" dirty="0"/>
          </a:p>
        </p:txBody>
      </p:sp>
      <p:sp>
        <p:nvSpPr>
          <p:cNvPr id="33" name="Shape 31"/>
          <p:cNvSpPr/>
          <p:nvPr/>
        </p:nvSpPr>
        <p:spPr>
          <a:xfrm>
            <a:off x="8549640" y="5029200"/>
            <a:ext cx="1572768" cy="548640"/>
          </a:xfrm>
          <a:prstGeom prst="chevron">
            <a:avLst/>
          </a:prstGeom>
          <a:solidFill>
            <a:srgbClr val="0B6E6B"/>
          </a:solidFill>
          <a:ln w="12700">
            <a:solidFill>
              <a:srgbClr val="FFFFFF"/>
            </a:solidFill>
            <a:prstDash val="solid"/>
          </a:ln>
        </p:spPr>
      </p:sp>
      <p:sp>
        <p:nvSpPr>
          <p:cNvPr id="34" name="Text 32"/>
          <p:cNvSpPr txBox="1"/>
          <p:nvPr/>
        </p:nvSpPr>
        <p:spPr>
          <a:xfrm>
            <a:off x="86868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Pilot</a:t>
            </a:r>
            <a:endParaRPr lang="en-US" sz="1000" dirty="0"/>
          </a:p>
        </p:txBody>
      </p:sp>
      <p:sp>
        <p:nvSpPr>
          <p:cNvPr id="35" name="Shape 33"/>
          <p:cNvSpPr/>
          <p:nvPr/>
        </p:nvSpPr>
        <p:spPr>
          <a:xfrm>
            <a:off x="10149840" y="5029200"/>
            <a:ext cx="1572768" cy="548640"/>
          </a:xfrm>
          <a:prstGeom prst="chevron">
            <a:avLst/>
          </a:prstGeom>
          <a:solidFill>
            <a:srgbClr val="0A3B39"/>
          </a:solidFill>
          <a:ln w="12700">
            <a:solidFill>
              <a:srgbClr val="FFFFFF"/>
            </a:solidFill>
            <a:prstDash val="solid"/>
          </a:ln>
        </p:spPr>
      </p:sp>
      <p:sp>
        <p:nvSpPr>
          <p:cNvPr id="36" name="Text 34"/>
          <p:cNvSpPr txBox="1"/>
          <p:nvPr/>
        </p:nvSpPr>
        <p:spPr>
          <a:xfrm>
            <a:off x="10287000" y="5029200"/>
            <a:ext cx="129844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 &amp; route</a:t>
            </a:r>
            <a:endParaRPr lang="en-US" sz="1000" dirty="0"/>
          </a:p>
        </p:txBody>
      </p:sp>
      <p:sp>
        <p:nvSpPr>
          <p:cNvPr id="37" name="Text 35"/>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100" i="1" dirty="0">
                <a:solidFill>
                  <a:srgbClr val="3A464B"/>
                </a:solidFill>
                <a:latin typeface="Calibri" pitchFamily="34" charset="0"/>
                <a:ea typeface="Calibri" pitchFamily="34" charset="-122"/>
                <a:cs typeface="Calibri" pitchFamily="34" charset="-120"/>
              </a:rPr>
              <a:t>Responsible AI in one line each: transparency (say what the AI did), human oversight (a person holds the gate), auditability (the decision log), lawfulness (EU AI Act risk tiers, India's DPDP Act, the client's own AI policy).</a:t>
            </a:r>
            <a:endParaRPr lang="en-US" sz="1100" dirty="0"/>
          </a:p>
        </p:txBody>
      </p:sp>
      <p:sp>
        <p:nvSpPr>
          <p:cNvPr id="38" name="Text 3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9" name="Text 3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MODULE 4.3 · COST AND QUALITY MANAGEMENT FOR AI WORK</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Model routing: spend quality where errors compound</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2743200"/>
                <a:gridCol w="50292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Preference chain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r>
              <a:tr h="68580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scrum · intake · planner · architect · reviewer</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b="1" dirty="0">
                          <a:solidFill>
                            <a:srgbClr val="0A3B39"/>
                          </a:solidFill>
                          <a:latin typeface="Courier New" pitchFamily="34" charset="0"/>
                          <a:ea typeface="Courier New" pitchFamily="34" charset="-122"/>
                          <a:cs typeface="Courier New" pitchFamily="34" charset="-120"/>
                        </a:rPr>
                        <a:t>Fable 5 → Opus 5 → Sonnet 5</a:t>
                      </a:r>
                      <a:endParaRPr lang="en-US" sz="1150" dirty="0">
                        <a:latin typeface="Courier New" charset="0"/>
                        <a:ea typeface="Courier New" charset="0"/>
                        <a:cs typeface="Courier New"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A wrong release scope, spec, plan or design — or a missed review defect — multiplies downstream. The model delta is cheap by comparison.</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68580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implementer · qa · release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A3B39"/>
                          </a:solidFill>
                          <a:latin typeface="Courier New" pitchFamily="34" charset="0"/>
                          <a:ea typeface="Courier New" pitchFamily="34" charset="-122"/>
                          <a:cs typeface="Courier New" pitchFamily="34" charset="-120"/>
                        </a:rPr>
                        <a:t>Opus 5 → Sonnet 5</a:t>
                      </a:r>
                      <a:endParaRPr lang="en-US" sz="1150" dirty="0">
                        <a:latin typeface="Courier New" charset="0"/>
                        <a:ea typeface="Courier New" charset="0"/>
                        <a:cs typeface="Courier New"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Strong coding and testing on the volume stages, guard-railed by the merged design and the spec scenarios.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dispatch · ops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b="1" dirty="0">
                          <a:solidFill>
                            <a:srgbClr val="0A3B39"/>
                          </a:solidFill>
                          <a:latin typeface="Courier New" pitchFamily="34" charset="0"/>
                          <a:ea typeface="Courier New" pitchFamily="34" charset="-122"/>
                          <a:cs typeface="Courier New" pitchFamily="34" charset="-120"/>
                        </a:rPr>
                        <a:t>Haiku 4.5 → Sonnet 5</a:t>
                      </a:r>
                      <a:endParaRPr lang="en-US" sz="1150" dirty="0">
                        <a:latin typeface="Courier New" charset="0"/>
                        <a:ea typeface="Courier New" charset="0"/>
                        <a:cs typeface="Courier New"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Mechanical coordination and checks. Fast and cheap; nothing here needs judgement.</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bl>
          </a:graphicData>
        </a:graphic>
      </p:graphicFrame>
      <p:sp>
        <p:nvSpPr>
          <p:cNvPr id="5" name="Shape 2"/>
          <p:cNvSpPr/>
          <p:nvPr/>
        </p:nvSpPr>
        <p:spPr>
          <a:xfrm>
            <a:off x="548640" y="4343400"/>
            <a:ext cx="3566160" cy="1828800"/>
          </a:xfrm>
          <a:prstGeom prst="roundRect">
            <a:avLst>
              <a:gd name="adj" fmla="val 6000"/>
            </a:avLst>
          </a:prstGeom>
          <a:solidFill>
            <a:srgbClr val="DFEDEC"/>
          </a:solidFill>
          <a:ln w="12700">
            <a:solidFill>
              <a:srgbClr val="DFEDEC"/>
            </a:solidFill>
            <a:prstDash val="solid"/>
          </a:ln>
        </p:spPr>
      </p:sp>
      <p:sp>
        <p:nvSpPr>
          <p:cNvPr id="6" name="Shape 3"/>
          <p:cNvSpPr/>
          <p:nvPr/>
        </p:nvSpPr>
        <p:spPr>
          <a:xfrm>
            <a:off x="731520" y="4498848"/>
            <a:ext cx="457200" cy="45720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841248" y="4608576"/>
            <a:ext cx="237744" cy="237744"/>
          </a:xfrm>
          <a:prstGeom prst="rect">
            <a:avLst/>
          </a:prstGeom>
        </p:spPr>
      </p:pic>
      <p:sp>
        <p:nvSpPr>
          <p:cNvPr id="8" name="Text 4"/>
          <p:cNvSpPr txBox="1"/>
          <p:nvPr/>
        </p:nvSpPr>
        <p:spPr>
          <a:xfrm>
            <a:off x="1325880" y="4498848"/>
            <a:ext cx="2697480" cy="457200"/>
          </a:xfrm>
          <a:prstGeom prst="rect">
            <a:avLst/>
          </a:prstGeom>
          <a:noFill/>
          <a:ln/>
        </p:spPr>
        <p:txBody>
          <a:bodyPr wrap="square" lIns="0" tIns="0" rIns="0" bIns="0" rtlCol="0" anchor="ctr"/>
          <a:lstStyle/>
          <a:p>
            <a:pPr indent="0" marL="0">
              <a:buNone/>
            </a:pPr>
            <a:r>
              <a:rPr lang="en-US" sz="1250" b="1" dirty="0">
                <a:solidFill>
                  <a:srgbClr val="0A3B39"/>
                </a:solidFill>
                <a:latin typeface="Cambria" pitchFamily="34" charset="0"/>
                <a:ea typeface="Cambria" pitchFamily="34" charset="-122"/>
                <a:cs typeface="Cambria" pitchFamily="34" charset="-120"/>
              </a:rPr>
              <a:t>Preference chains, not a single model</a:t>
            </a:r>
            <a:endParaRPr lang="en-US" sz="1250" dirty="0"/>
          </a:p>
        </p:txBody>
      </p:sp>
      <p:sp>
        <p:nvSpPr>
          <p:cNvPr id="9" name="Text 5"/>
          <p:cNvSpPr txBox="1"/>
          <p:nvPr/>
        </p:nvSpPr>
        <p:spPr>
          <a:xfrm>
            <a:off x="731520" y="5029200"/>
            <a:ext cx="3200400" cy="1097280"/>
          </a:xfrm>
          <a:prstGeom prst="rect">
            <a:avLst/>
          </a:prstGeom>
          <a:noFill/>
          <a:ln/>
        </p:spPr>
        <p:txBody>
          <a:bodyPr wrap="square" lIns="0" tIns="0" rIns="0" bIns="0" rtlCol="0" anchor="t"/>
          <a:lstStyle/>
          <a:p>
            <a:pPr indent="0" marL="0">
              <a:buNone/>
            </a:pPr>
            <a:r>
              <a:rPr lang="en-US" sz="1050" dirty="0">
                <a:solidFill>
                  <a:srgbClr val="0A3B39"/>
                </a:solidFill>
                <a:latin typeface="Calibri" pitchFamily="34" charset="0"/>
                <a:ea typeface="Calibri" pitchFamily="34" charset="-122"/>
                <a:cs typeface="Calibri" pitchFamily="34" charset="-120"/>
              </a:rPr>
              <a:t>Before launching, the pipeline probes each model with a one-token ping and uses the first the credential can reach. A plan or tier gap degrades gracefully instead of failing the run.</a:t>
            </a:r>
            <a:endParaRPr lang="en-US" sz="1050" dirty="0"/>
          </a:p>
        </p:txBody>
      </p:sp>
      <p:sp>
        <p:nvSpPr>
          <p:cNvPr id="10" name="Shape 6"/>
          <p:cNvSpPr/>
          <p:nvPr/>
        </p:nvSpPr>
        <p:spPr>
          <a:xfrm>
            <a:off x="4297680" y="4343400"/>
            <a:ext cx="3566160" cy="1828800"/>
          </a:xfrm>
          <a:prstGeom prst="roundRect">
            <a:avLst>
              <a:gd name="adj" fmla="val 6000"/>
            </a:avLst>
          </a:prstGeom>
          <a:solidFill>
            <a:srgbClr val="DFEDEC"/>
          </a:solidFill>
          <a:ln w="12700">
            <a:solidFill>
              <a:srgbClr val="DFEDEC"/>
            </a:solidFill>
            <a:prstDash val="solid"/>
          </a:ln>
        </p:spPr>
      </p:sp>
      <p:sp>
        <p:nvSpPr>
          <p:cNvPr id="11" name="Shape 7"/>
          <p:cNvSpPr/>
          <p:nvPr/>
        </p:nvSpPr>
        <p:spPr>
          <a:xfrm>
            <a:off x="4480560" y="449884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4590288" y="4608576"/>
            <a:ext cx="237744" cy="237744"/>
          </a:xfrm>
          <a:prstGeom prst="rect">
            <a:avLst/>
          </a:prstGeom>
        </p:spPr>
      </p:pic>
      <p:sp>
        <p:nvSpPr>
          <p:cNvPr id="13" name="Text 8"/>
          <p:cNvSpPr txBox="1"/>
          <p:nvPr/>
        </p:nvSpPr>
        <p:spPr>
          <a:xfrm>
            <a:off x="5074920" y="4498848"/>
            <a:ext cx="2697480" cy="457200"/>
          </a:xfrm>
          <a:prstGeom prst="rect">
            <a:avLst/>
          </a:prstGeom>
          <a:noFill/>
          <a:ln/>
        </p:spPr>
        <p:txBody>
          <a:bodyPr wrap="square" lIns="0" tIns="0" rIns="0" bIns="0" rtlCol="0" anchor="ctr"/>
          <a:lstStyle/>
          <a:p>
            <a:pPr indent="0" marL="0">
              <a:buNone/>
            </a:pPr>
            <a:r>
              <a:rPr lang="en-US" sz="1250" b="1" dirty="0">
                <a:solidFill>
                  <a:srgbClr val="0A3B39"/>
                </a:solidFill>
                <a:latin typeface="Cambria" pitchFamily="34" charset="0"/>
                <a:ea typeface="Cambria" pitchFamily="34" charset="-122"/>
                <a:cs typeface="Cambria" pitchFamily="34" charset="-120"/>
              </a:rPr>
              <a:t>Budgeting an estate</a:t>
            </a:r>
            <a:endParaRPr lang="en-US" sz="1250" dirty="0"/>
          </a:p>
        </p:txBody>
      </p:sp>
      <p:sp>
        <p:nvSpPr>
          <p:cNvPr id="14" name="Text 9"/>
          <p:cNvSpPr txBox="1"/>
          <p:nvPr/>
        </p:nvSpPr>
        <p:spPr>
          <a:xfrm>
            <a:off x="4480560" y="5029200"/>
            <a:ext cx="3200400" cy="1097280"/>
          </a:xfrm>
          <a:prstGeom prst="rect">
            <a:avLst/>
          </a:prstGeom>
          <a:noFill/>
          <a:ln/>
        </p:spPr>
        <p:txBody>
          <a:bodyPr wrap="square" lIns="0" tIns="0" rIns="0" bIns="0" rtlCol="0" anchor="t"/>
          <a:lstStyle/>
          <a:p>
            <a:pPr indent="0" marL="0">
              <a:buNone/>
            </a:pPr>
            <a:r>
              <a:rPr lang="en-US" sz="1050" dirty="0">
                <a:solidFill>
                  <a:srgbClr val="0A3B39"/>
                </a:solidFill>
                <a:latin typeface="Calibri" pitchFamily="34" charset="0"/>
                <a:ea typeface="Calibri" pitchFamily="34" charset="-122"/>
                <a:cs typeface="Calibri" pitchFamily="34" charset="-120"/>
              </a:rPr>
              <a:t>Cost per role per run × runs per epic × epics per release. The Console holds a token budget per organisation for its Q&amp;A. Ask the same of any AI vendor: what does one unit of work cost?</a:t>
            </a:r>
            <a:endParaRPr lang="en-US" sz="1050" dirty="0"/>
          </a:p>
        </p:txBody>
      </p:sp>
      <p:sp>
        <p:nvSpPr>
          <p:cNvPr id="15" name="Shape 10"/>
          <p:cNvSpPr/>
          <p:nvPr/>
        </p:nvSpPr>
        <p:spPr>
          <a:xfrm>
            <a:off x="8046720" y="4343400"/>
            <a:ext cx="3566160" cy="1828800"/>
          </a:xfrm>
          <a:prstGeom prst="roundRect">
            <a:avLst>
              <a:gd name="adj" fmla="val 6000"/>
            </a:avLst>
          </a:prstGeom>
          <a:solidFill>
            <a:srgbClr val="DFEDEC"/>
          </a:solidFill>
          <a:ln w="12700">
            <a:solidFill>
              <a:srgbClr val="DFEDEC"/>
            </a:solidFill>
            <a:prstDash val="solid"/>
          </a:ln>
        </p:spPr>
      </p:sp>
      <p:sp>
        <p:nvSpPr>
          <p:cNvPr id="16" name="Shape 11"/>
          <p:cNvSpPr/>
          <p:nvPr/>
        </p:nvSpPr>
        <p:spPr>
          <a:xfrm>
            <a:off x="8229600" y="4498848"/>
            <a:ext cx="457200" cy="457200"/>
          </a:xfrm>
          <a:prstGeom prst="ellipse">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3"/>
          <a:stretch>
            <a:fillRect/>
          </a:stretch>
        </p:blipFill>
        <p:spPr>
          <a:xfrm>
            <a:off x="8339328" y="4608576"/>
            <a:ext cx="237744" cy="237744"/>
          </a:xfrm>
          <a:prstGeom prst="rect">
            <a:avLst/>
          </a:prstGeom>
        </p:spPr>
      </p:pic>
      <p:sp>
        <p:nvSpPr>
          <p:cNvPr id="18" name="Text 12"/>
          <p:cNvSpPr txBox="1"/>
          <p:nvPr/>
        </p:nvSpPr>
        <p:spPr>
          <a:xfrm>
            <a:off x="8823960" y="4498848"/>
            <a:ext cx="2697480" cy="457200"/>
          </a:xfrm>
          <a:prstGeom prst="rect">
            <a:avLst/>
          </a:prstGeom>
          <a:noFill/>
          <a:ln/>
        </p:spPr>
        <p:txBody>
          <a:bodyPr wrap="square" lIns="0" tIns="0" rIns="0" bIns="0" rtlCol="0" anchor="ctr"/>
          <a:lstStyle/>
          <a:p>
            <a:pPr indent="0" marL="0">
              <a:buNone/>
            </a:pPr>
            <a:r>
              <a:rPr lang="en-US" sz="1250" b="1" dirty="0">
                <a:solidFill>
                  <a:srgbClr val="0A3B39"/>
                </a:solidFill>
                <a:latin typeface="Cambria" pitchFamily="34" charset="0"/>
                <a:ea typeface="Cambria" pitchFamily="34" charset="-122"/>
                <a:cs typeface="Cambria" pitchFamily="34" charset="-120"/>
              </a:rPr>
              <a:t>The PM's version of this</a:t>
            </a:r>
            <a:endParaRPr lang="en-US" sz="1250" dirty="0"/>
          </a:p>
        </p:txBody>
      </p:sp>
      <p:sp>
        <p:nvSpPr>
          <p:cNvPr id="19" name="Text 13"/>
          <p:cNvSpPr txBox="1"/>
          <p:nvPr/>
        </p:nvSpPr>
        <p:spPr>
          <a:xfrm>
            <a:off x="8229600" y="5029200"/>
            <a:ext cx="3200400" cy="1097280"/>
          </a:xfrm>
          <a:prstGeom prst="rect">
            <a:avLst/>
          </a:prstGeom>
          <a:noFill/>
          <a:ln/>
        </p:spPr>
        <p:txBody>
          <a:bodyPr wrap="square" lIns="0" tIns="0" rIns="0" bIns="0" rtlCol="0" anchor="t"/>
          <a:lstStyle/>
          <a:p>
            <a:pPr indent="0" marL="0">
              <a:buNone/>
            </a:pPr>
            <a:r>
              <a:rPr lang="en-US" sz="1050" dirty="0">
                <a:solidFill>
                  <a:srgbClr val="0A3B39"/>
                </a:solidFill>
                <a:latin typeface="Calibri" pitchFamily="34" charset="0"/>
                <a:ea typeface="Calibri" pitchFamily="34" charset="-122"/>
                <a:cs typeface="Calibri" pitchFamily="34" charset="-120"/>
              </a:rPr>
              <a:t>Use the strong model for the artifacts people will sign off on; the fast one for the drafts, summaries and reminders. Review where the error would compound.</a:t>
            </a:r>
            <a:endParaRPr lang="en-US" sz="1050" dirty="0"/>
          </a:p>
        </p:txBody>
      </p:sp>
      <p:sp>
        <p:nvSpPr>
          <p:cNvPr id="20" name="Text 14"/>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1" name="Text 15"/>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4 · HANDS-ON EXERCISE · 75 MINUTES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Lab 4: run an epic through the factory — in the approver seats</a:t>
            </a:r>
            <a:endParaRPr lang="en-US" sz="3000" dirty="0"/>
          </a:p>
        </p:txBody>
      </p:sp>
      <p:sp>
        <p:nvSpPr>
          <p:cNvPr id="4" name="Shape 2"/>
          <p:cNvSpPr/>
          <p:nvPr/>
        </p:nvSpPr>
        <p:spPr>
          <a:xfrm>
            <a:off x="548640" y="1600200"/>
            <a:ext cx="2606040" cy="1783080"/>
          </a:xfrm>
          <a:prstGeom prst="roundRect">
            <a:avLst>
              <a:gd name="adj" fmla="val 6154"/>
            </a:avLst>
          </a:prstGeom>
          <a:solidFill>
            <a:srgbClr val="F4F6F6"/>
          </a:solidFill>
          <a:ln w="12700">
            <a:solidFill>
              <a:srgbClr val="F4F6F6"/>
            </a:solidFill>
            <a:prstDash val="solid"/>
          </a:ln>
        </p:spPr>
      </p:sp>
      <p:sp>
        <p:nvSpPr>
          <p:cNvPr id="5" name="Shape 3"/>
          <p:cNvSpPr/>
          <p:nvPr/>
        </p:nvSpPr>
        <p:spPr>
          <a:xfrm>
            <a:off x="731520" y="1783080"/>
            <a:ext cx="457200" cy="457200"/>
          </a:xfrm>
          <a:prstGeom prst="ellipse">
            <a:avLst/>
          </a:prstGeom>
          <a:solidFill>
            <a:srgbClr val="0B6E6B"/>
          </a:solidFill>
          <a:ln w="12700">
            <a:solidFill>
              <a:srgbClr val="0B6E6B"/>
            </a:solidFill>
            <a:prstDash val="solid"/>
          </a:ln>
        </p:spPr>
      </p:sp>
      <p:sp>
        <p:nvSpPr>
          <p:cNvPr id="6" name="Text 4"/>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25880" y="1783080"/>
            <a:ext cx="1737360" cy="45720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File</a:t>
            </a:r>
            <a:endParaRPr lang="en-US" sz="1400" dirty="0"/>
          </a:p>
        </p:txBody>
      </p:sp>
      <p:sp>
        <p:nvSpPr>
          <p:cNvPr id="8" name="Text 6"/>
          <p:cNvSpPr txBox="1"/>
          <p:nvPr/>
        </p:nvSpPr>
        <p:spPr>
          <a:xfrm>
            <a:off x="731520" y="233172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A requirement against a milestone in the sandbox estate. It parks in factory:backlog.</a:t>
            </a:r>
            <a:endParaRPr lang="en-US" sz="1050" dirty="0"/>
          </a:p>
        </p:txBody>
      </p:sp>
      <p:sp>
        <p:nvSpPr>
          <p:cNvPr id="9" name="Shape 7"/>
          <p:cNvSpPr/>
          <p:nvPr/>
        </p:nvSpPr>
        <p:spPr>
          <a:xfrm>
            <a:off x="3364992" y="1600200"/>
            <a:ext cx="2606040" cy="1783080"/>
          </a:xfrm>
          <a:prstGeom prst="roundRect">
            <a:avLst>
              <a:gd name="adj" fmla="val 6154"/>
            </a:avLst>
          </a:prstGeom>
          <a:solidFill>
            <a:srgbClr val="F4F6F6"/>
          </a:solidFill>
          <a:ln w="12700">
            <a:solidFill>
              <a:srgbClr val="F4F6F6"/>
            </a:solidFill>
            <a:prstDash val="solid"/>
          </a:ln>
        </p:spPr>
      </p:sp>
      <p:sp>
        <p:nvSpPr>
          <p:cNvPr id="10" name="Shape 8"/>
          <p:cNvSpPr/>
          <p:nvPr/>
        </p:nvSpPr>
        <p:spPr>
          <a:xfrm>
            <a:off x="3547872" y="1783080"/>
            <a:ext cx="457200" cy="457200"/>
          </a:xfrm>
          <a:prstGeom prst="ellipse">
            <a:avLst/>
          </a:prstGeom>
          <a:solidFill>
            <a:srgbClr val="0B6E6B"/>
          </a:solidFill>
          <a:ln w="12700">
            <a:solidFill>
              <a:srgbClr val="0B6E6B"/>
            </a:solidFill>
            <a:prstDash val="solid"/>
          </a:ln>
        </p:spPr>
      </p:sp>
      <p:sp>
        <p:nvSpPr>
          <p:cNvPr id="11" name="Text 9"/>
          <p:cNvSpPr txBox="1"/>
          <p:nvPr/>
        </p:nvSpPr>
        <p:spPr>
          <a:xfrm>
            <a:off x="3547872"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142232" y="1783080"/>
            <a:ext cx="1737360" cy="45720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Plan release</a:t>
            </a:r>
            <a:endParaRPr lang="en-US" sz="1400" dirty="0"/>
          </a:p>
        </p:txBody>
      </p:sp>
      <p:sp>
        <p:nvSpPr>
          <p:cNvPr id="13" name="Text 11"/>
          <p:cNvSpPr txBox="1"/>
          <p:nvPr/>
        </p:nvSpPr>
        <p:spPr>
          <a:xfrm>
            <a:off x="3547872" y="233172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Comment it on the tracker. Read the Scrum Master's scope, order, risks and verdict.</a:t>
            </a:r>
            <a:endParaRPr lang="en-US" sz="1050" dirty="0"/>
          </a:p>
        </p:txBody>
      </p:sp>
      <p:sp>
        <p:nvSpPr>
          <p:cNvPr id="14" name="Shape 12"/>
          <p:cNvSpPr/>
          <p:nvPr/>
        </p:nvSpPr>
        <p:spPr>
          <a:xfrm>
            <a:off x="6181344" y="1600200"/>
            <a:ext cx="2606040" cy="1783080"/>
          </a:xfrm>
          <a:prstGeom prst="roundRect">
            <a:avLst>
              <a:gd name="adj" fmla="val 6154"/>
            </a:avLst>
          </a:prstGeom>
          <a:solidFill>
            <a:srgbClr val="FAEDE4"/>
          </a:solidFill>
          <a:ln w="12700">
            <a:solidFill>
              <a:srgbClr val="FAEDE4"/>
            </a:solidFill>
            <a:prstDash val="solid"/>
          </a:ln>
        </p:spPr>
      </p:sp>
      <p:sp>
        <p:nvSpPr>
          <p:cNvPr id="15" name="Shape 13"/>
          <p:cNvSpPr/>
          <p:nvPr/>
        </p:nvSpPr>
        <p:spPr>
          <a:xfrm>
            <a:off x="6364224" y="1783080"/>
            <a:ext cx="457200" cy="457200"/>
          </a:xfrm>
          <a:prstGeom prst="ellipse">
            <a:avLst/>
          </a:prstGeom>
          <a:solidFill>
            <a:srgbClr val="B24A17"/>
          </a:solidFill>
          <a:ln w="12700">
            <a:solidFill>
              <a:srgbClr val="B24A17"/>
            </a:solidFill>
            <a:prstDash val="solid"/>
          </a:ln>
        </p:spPr>
      </p:sp>
      <p:sp>
        <p:nvSpPr>
          <p:cNvPr id="16" name="Text 14"/>
          <p:cNvSpPr txBox="1"/>
          <p:nvPr/>
        </p:nvSpPr>
        <p:spPr>
          <a:xfrm>
            <a:off x="6364224"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958584" y="1783080"/>
            <a:ext cx="1737360" cy="457200"/>
          </a:xfrm>
          <a:prstGeom prst="rect">
            <a:avLst/>
          </a:prstGeom>
          <a:noFill/>
          <a:ln/>
        </p:spPr>
        <p:txBody>
          <a:bodyPr wrap="square" lIns="0" tIns="0" rIns="0" bIns="0" rtlCol="0" anchor="ctr"/>
          <a:lstStyle/>
          <a:p>
            <a:pPr indent="0" marL="0">
              <a:buNone/>
            </a:pPr>
            <a:r>
              <a:rPr lang="en-US" sz="1400" b="1" dirty="0">
                <a:solidFill>
                  <a:srgbClr val="B24A17"/>
                </a:solidFill>
                <a:latin typeface="Cambria" pitchFamily="34" charset="0"/>
                <a:ea typeface="Cambria" pitchFamily="34" charset="-122"/>
                <a:cs typeface="Cambria" pitchFamily="34" charset="-120"/>
              </a:rPr>
              <a:t>G0</a:t>
            </a:r>
            <a:endParaRPr lang="en-US" sz="1400" dirty="0"/>
          </a:p>
        </p:txBody>
      </p:sp>
      <p:sp>
        <p:nvSpPr>
          <p:cNvPr id="18" name="Text 16"/>
          <p:cNvSpPr txBox="1"/>
          <p:nvPr/>
        </p:nvSpPr>
        <p:spPr>
          <a:xfrm>
            <a:off x="6364224" y="233172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Comment 'Approved'. Every backlog issue in the milestone enters intake at once.</a:t>
            </a:r>
            <a:endParaRPr lang="en-US" sz="1050" dirty="0"/>
          </a:p>
        </p:txBody>
      </p:sp>
      <p:sp>
        <p:nvSpPr>
          <p:cNvPr id="19" name="Shape 17"/>
          <p:cNvSpPr/>
          <p:nvPr/>
        </p:nvSpPr>
        <p:spPr>
          <a:xfrm>
            <a:off x="8997696" y="1600200"/>
            <a:ext cx="2606040" cy="1783080"/>
          </a:xfrm>
          <a:prstGeom prst="roundRect">
            <a:avLst>
              <a:gd name="adj" fmla="val 6154"/>
            </a:avLst>
          </a:prstGeom>
          <a:solidFill>
            <a:srgbClr val="FAEDE4"/>
          </a:solidFill>
          <a:ln w="12700">
            <a:solidFill>
              <a:srgbClr val="FAEDE4"/>
            </a:solidFill>
            <a:prstDash val="solid"/>
          </a:ln>
        </p:spPr>
      </p:sp>
      <p:sp>
        <p:nvSpPr>
          <p:cNvPr id="20" name="Shape 18"/>
          <p:cNvSpPr/>
          <p:nvPr/>
        </p:nvSpPr>
        <p:spPr>
          <a:xfrm>
            <a:off x="9180576" y="1783080"/>
            <a:ext cx="457200" cy="457200"/>
          </a:xfrm>
          <a:prstGeom prst="ellipse">
            <a:avLst/>
          </a:prstGeom>
          <a:solidFill>
            <a:srgbClr val="B24A17"/>
          </a:solidFill>
          <a:ln w="12700">
            <a:solidFill>
              <a:srgbClr val="B24A17"/>
            </a:solidFill>
            <a:prstDash val="solid"/>
          </a:ln>
        </p:spPr>
      </p:sp>
      <p:sp>
        <p:nvSpPr>
          <p:cNvPr id="21" name="Text 19"/>
          <p:cNvSpPr txBox="1"/>
          <p:nvPr/>
        </p:nvSpPr>
        <p:spPr>
          <a:xfrm>
            <a:off x="9180576"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774936" y="1783080"/>
            <a:ext cx="1737360" cy="457200"/>
          </a:xfrm>
          <a:prstGeom prst="rect">
            <a:avLst/>
          </a:prstGeom>
          <a:noFill/>
          <a:ln/>
        </p:spPr>
        <p:txBody>
          <a:bodyPr wrap="square" lIns="0" tIns="0" rIns="0" bIns="0" rtlCol="0" anchor="ctr"/>
          <a:lstStyle/>
          <a:p>
            <a:pPr indent="0" marL="0">
              <a:buNone/>
            </a:pPr>
            <a:r>
              <a:rPr lang="en-US" sz="1400" b="1" dirty="0">
                <a:solidFill>
                  <a:srgbClr val="B24A17"/>
                </a:solidFill>
                <a:latin typeface="Cambria" pitchFamily="34" charset="0"/>
                <a:ea typeface="Cambria" pitchFamily="34" charset="-122"/>
                <a:cs typeface="Cambria" pitchFamily="34" charset="-120"/>
              </a:rPr>
              <a:t>G1</a:t>
            </a:r>
            <a:endParaRPr lang="en-US" sz="1400" dirty="0"/>
          </a:p>
        </p:txBody>
      </p:sp>
      <p:sp>
        <p:nvSpPr>
          <p:cNvPr id="23" name="Text 21"/>
          <p:cNvSpPr txBox="1"/>
          <p:nvPr/>
        </p:nvSpPr>
        <p:spPr>
          <a:xfrm>
            <a:off x="9180576" y="233172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Review the proposal and WHEN/THEN scenarios. Send one back with questions — see factory:blocked work.</a:t>
            </a:r>
            <a:endParaRPr lang="en-US" sz="1050" dirty="0"/>
          </a:p>
        </p:txBody>
      </p:sp>
      <p:sp>
        <p:nvSpPr>
          <p:cNvPr id="24" name="Shape 22"/>
          <p:cNvSpPr/>
          <p:nvPr/>
        </p:nvSpPr>
        <p:spPr>
          <a:xfrm>
            <a:off x="548640" y="3566160"/>
            <a:ext cx="2606040" cy="1783080"/>
          </a:xfrm>
          <a:prstGeom prst="roundRect">
            <a:avLst>
              <a:gd name="adj" fmla="val 6154"/>
            </a:avLst>
          </a:prstGeom>
          <a:solidFill>
            <a:srgbClr val="FAEDE4"/>
          </a:solidFill>
          <a:ln w="12700">
            <a:solidFill>
              <a:srgbClr val="FAEDE4"/>
            </a:solidFill>
            <a:prstDash val="solid"/>
          </a:ln>
        </p:spPr>
      </p:sp>
      <p:sp>
        <p:nvSpPr>
          <p:cNvPr id="25" name="Shape 23"/>
          <p:cNvSpPr/>
          <p:nvPr/>
        </p:nvSpPr>
        <p:spPr>
          <a:xfrm>
            <a:off x="731520" y="3749040"/>
            <a:ext cx="457200" cy="457200"/>
          </a:xfrm>
          <a:prstGeom prst="ellipse">
            <a:avLst/>
          </a:prstGeom>
          <a:solidFill>
            <a:srgbClr val="B24A17"/>
          </a:solidFill>
          <a:ln w="12700">
            <a:solidFill>
              <a:srgbClr val="B24A17"/>
            </a:solidFill>
            <a:prstDash val="solid"/>
          </a:ln>
        </p:spPr>
      </p:sp>
      <p:sp>
        <p:nvSpPr>
          <p:cNvPr id="26" name="Text 24"/>
          <p:cNvSpPr txBox="1"/>
          <p:nvPr/>
        </p:nvSpPr>
        <p:spPr>
          <a:xfrm>
            <a:off x="73152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325880" y="3749040"/>
            <a:ext cx="1737360" cy="457200"/>
          </a:xfrm>
          <a:prstGeom prst="rect">
            <a:avLst/>
          </a:prstGeom>
          <a:noFill/>
          <a:ln/>
        </p:spPr>
        <p:txBody>
          <a:bodyPr wrap="square" lIns="0" tIns="0" rIns="0" bIns="0" rtlCol="0" anchor="ctr"/>
          <a:lstStyle/>
          <a:p>
            <a:pPr indent="0" marL="0">
              <a:buNone/>
            </a:pPr>
            <a:r>
              <a:rPr lang="en-US" sz="1400" b="1" dirty="0">
                <a:solidFill>
                  <a:srgbClr val="B24A17"/>
                </a:solidFill>
                <a:latin typeface="Cambria" pitchFamily="34" charset="0"/>
                <a:ea typeface="Cambria" pitchFamily="34" charset="-122"/>
                <a:cs typeface="Cambria" pitchFamily="34" charset="-120"/>
              </a:rPr>
              <a:t>G2</a:t>
            </a:r>
            <a:endParaRPr lang="en-US" sz="1400" dirty="0"/>
          </a:p>
        </p:txBody>
      </p:sp>
      <p:sp>
        <p:nvSpPr>
          <p:cNvPr id="28" name="Text 26"/>
          <p:cNvSpPr txBox="1"/>
          <p:nvPr/>
        </p:nvSpPr>
        <p:spPr>
          <a:xfrm>
            <a:off x="731520" y="429768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Read tasks.md and design.md in one PR. Approve. The Dispatcher releases the unblocked tasks.</a:t>
            </a:r>
            <a:endParaRPr lang="en-US" sz="1050" dirty="0"/>
          </a:p>
        </p:txBody>
      </p:sp>
      <p:sp>
        <p:nvSpPr>
          <p:cNvPr id="29" name="Shape 27"/>
          <p:cNvSpPr/>
          <p:nvPr/>
        </p:nvSpPr>
        <p:spPr>
          <a:xfrm>
            <a:off x="3364992" y="3566160"/>
            <a:ext cx="2606040" cy="1783080"/>
          </a:xfrm>
          <a:prstGeom prst="roundRect">
            <a:avLst>
              <a:gd name="adj" fmla="val 6154"/>
            </a:avLst>
          </a:prstGeom>
          <a:solidFill>
            <a:srgbClr val="F4F6F6"/>
          </a:solidFill>
          <a:ln w="12700">
            <a:solidFill>
              <a:srgbClr val="F4F6F6"/>
            </a:solidFill>
            <a:prstDash val="solid"/>
          </a:ln>
        </p:spPr>
      </p:sp>
      <p:sp>
        <p:nvSpPr>
          <p:cNvPr id="30" name="Shape 28"/>
          <p:cNvSpPr/>
          <p:nvPr/>
        </p:nvSpPr>
        <p:spPr>
          <a:xfrm>
            <a:off x="3547872" y="3749040"/>
            <a:ext cx="457200" cy="457200"/>
          </a:xfrm>
          <a:prstGeom prst="ellipse">
            <a:avLst/>
          </a:prstGeom>
          <a:solidFill>
            <a:srgbClr val="0B6E6B"/>
          </a:solidFill>
          <a:ln w="12700">
            <a:solidFill>
              <a:srgbClr val="0B6E6B"/>
            </a:solidFill>
            <a:prstDash val="solid"/>
          </a:ln>
        </p:spPr>
      </p:sp>
      <p:sp>
        <p:nvSpPr>
          <p:cNvPr id="31" name="Text 29"/>
          <p:cNvSpPr txBox="1"/>
          <p:nvPr/>
        </p:nvSpPr>
        <p:spPr>
          <a:xfrm>
            <a:off x="3547872"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4142232" y="3749040"/>
            <a:ext cx="1737360" cy="457200"/>
          </a:xfrm>
          <a:prstGeom prst="rect">
            <a:avLst/>
          </a:prstGeom>
          <a:noFill/>
          <a:ln/>
        </p:spPr>
        <p:txBody>
          <a:bodyPr wrap="square" lIns="0" tIns="0" rIns="0" bIns="0" rtlCol="0" anchor="ctr"/>
          <a:lstStyle/>
          <a:p>
            <a:pPr indent="0" marL="0">
              <a:buNone/>
            </a:pPr>
            <a:r>
              <a:rPr lang="en-US" sz="1400" b="1" dirty="0">
                <a:solidFill>
                  <a:srgbClr val="0F1A1C"/>
                </a:solidFill>
                <a:latin typeface="Cambria" pitchFamily="34" charset="0"/>
                <a:ea typeface="Cambria" pitchFamily="34" charset="-122"/>
                <a:cs typeface="Cambria" pitchFamily="34" charset="-120"/>
              </a:rPr>
              <a:t>Watch</a:t>
            </a:r>
            <a:endParaRPr lang="en-US" sz="1400" dirty="0"/>
          </a:p>
        </p:txBody>
      </p:sp>
      <p:sp>
        <p:nvSpPr>
          <p:cNvPr id="33" name="Text 31"/>
          <p:cNvSpPr txBox="1"/>
          <p:nvPr/>
        </p:nvSpPr>
        <p:spPr>
          <a:xfrm>
            <a:off x="3547872" y="429768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Implement → review → test run unattended. Read the review and the test report as they land.</a:t>
            </a:r>
            <a:endParaRPr lang="en-US" sz="1050" dirty="0"/>
          </a:p>
        </p:txBody>
      </p:sp>
      <p:sp>
        <p:nvSpPr>
          <p:cNvPr id="34" name="Shape 32"/>
          <p:cNvSpPr/>
          <p:nvPr/>
        </p:nvSpPr>
        <p:spPr>
          <a:xfrm>
            <a:off x="6181344" y="3566160"/>
            <a:ext cx="2606040" cy="1783080"/>
          </a:xfrm>
          <a:prstGeom prst="roundRect">
            <a:avLst>
              <a:gd name="adj" fmla="val 6154"/>
            </a:avLst>
          </a:prstGeom>
          <a:solidFill>
            <a:srgbClr val="FAEDE4"/>
          </a:solidFill>
          <a:ln w="12700">
            <a:solidFill>
              <a:srgbClr val="FAEDE4"/>
            </a:solidFill>
            <a:prstDash val="solid"/>
          </a:ln>
        </p:spPr>
      </p:sp>
      <p:sp>
        <p:nvSpPr>
          <p:cNvPr id="35" name="Shape 33"/>
          <p:cNvSpPr/>
          <p:nvPr/>
        </p:nvSpPr>
        <p:spPr>
          <a:xfrm>
            <a:off x="6364224" y="3749040"/>
            <a:ext cx="457200" cy="457200"/>
          </a:xfrm>
          <a:prstGeom prst="ellipse">
            <a:avLst/>
          </a:prstGeom>
          <a:solidFill>
            <a:srgbClr val="B24A17"/>
          </a:solidFill>
          <a:ln w="12700">
            <a:solidFill>
              <a:srgbClr val="B24A17"/>
            </a:solidFill>
            <a:prstDash val="solid"/>
          </a:ln>
        </p:spPr>
      </p:sp>
      <p:sp>
        <p:nvSpPr>
          <p:cNvPr id="36" name="Text 34"/>
          <p:cNvSpPr txBox="1"/>
          <p:nvPr/>
        </p:nvSpPr>
        <p:spPr>
          <a:xfrm>
            <a:off x="6364224"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6958584" y="3749040"/>
            <a:ext cx="1737360" cy="457200"/>
          </a:xfrm>
          <a:prstGeom prst="rect">
            <a:avLst/>
          </a:prstGeom>
          <a:noFill/>
          <a:ln/>
        </p:spPr>
        <p:txBody>
          <a:bodyPr wrap="square" lIns="0" tIns="0" rIns="0" bIns="0" rtlCol="0" anchor="ctr"/>
          <a:lstStyle/>
          <a:p>
            <a:pPr indent="0" marL="0">
              <a:buNone/>
            </a:pPr>
            <a:r>
              <a:rPr lang="en-US" sz="1400" b="1" dirty="0">
                <a:solidFill>
                  <a:srgbClr val="B24A17"/>
                </a:solidFill>
                <a:latin typeface="Cambria" pitchFamily="34" charset="0"/>
                <a:ea typeface="Cambria" pitchFamily="34" charset="-122"/>
                <a:cs typeface="Cambria" pitchFamily="34" charset="-120"/>
              </a:rPr>
              <a:t>GS</a:t>
            </a:r>
            <a:endParaRPr lang="en-US" sz="1400" dirty="0"/>
          </a:p>
        </p:txBody>
      </p:sp>
      <p:sp>
        <p:nvSpPr>
          <p:cNvPr id="38" name="Text 36"/>
          <p:cNvSpPr txBox="1"/>
          <p:nvPr/>
        </p:nvSpPr>
        <p:spPr>
          <a:xfrm>
            <a:off x="6364224" y="429768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The epic is assembled and green. Approve; the Release Manager carries it to staging and verifies.</a:t>
            </a:r>
            <a:endParaRPr lang="en-US" sz="1050" dirty="0"/>
          </a:p>
        </p:txBody>
      </p:sp>
      <p:sp>
        <p:nvSpPr>
          <p:cNvPr id="39" name="Shape 37"/>
          <p:cNvSpPr/>
          <p:nvPr/>
        </p:nvSpPr>
        <p:spPr>
          <a:xfrm>
            <a:off x="8997696" y="3566160"/>
            <a:ext cx="2606040" cy="1783080"/>
          </a:xfrm>
          <a:prstGeom prst="roundRect">
            <a:avLst>
              <a:gd name="adj" fmla="val 6154"/>
            </a:avLst>
          </a:prstGeom>
          <a:solidFill>
            <a:srgbClr val="FAEDE4"/>
          </a:solidFill>
          <a:ln w="12700">
            <a:solidFill>
              <a:srgbClr val="FAEDE4"/>
            </a:solidFill>
            <a:prstDash val="solid"/>
          </a:ln>
        </p:spPr>
      </p:sp>
      <p:sp>
        <p:nvSpPr>
          <p:cNvPr id="40" name="Shape 38"/>
          <p:cNvSpPr/>
          <p:nvPr/>
        </p:nvSpPr>
        <p:spPr>
          <a:xfrm>
            <a:off x="9180576" y="3749040"/>
            <a:ext cx="457200" cy="457200"/>
          </a:xfrm>
          <a:prstGeom prst="ellipse">
            <a:avLst/>
          </a:prstGeom>
          <a:solidFill>
            <a:srgbClr val="B24A17"/>
          </a:solidFill>
          <a:ln w="12700">
            <a:solidFill>
              <a:srgbClr val="B24A17"/>
            </a:solidFill>
            <a:prstDash val="solid"/>
          </a:ln>
        </p:spPr>
      </p:sp>
      <p:sp>
        <p:nvSpPr>
          <p:cNvPr id="41" name="Text 39"/>
          <p:cNvSpPr txBox="1"/>
          <p:nvPr/>
        </p:nvSpPr>
        <p:spPr>
          <a:xfrm>
            <a:off x="9180576"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9774936" y="3749040"/>
            <a:ext cx="1737360" cy="457200"/>
          </a:xfrm>
          <a:prstGeom prst="rect">
            <a:avLst/>
          </a:prstGeom>
          <a:noFill/>
          <a:ln/>
        </p:spPr>
        <p:txBody>
          <a:bodyPr wrap="square" lIns="0" tIns="0" rIns="0" bIns="0" rtlCol="0" anchor="ctr"/>
          <a:lstStyle/>
          <a:p>
            <a:pPr indent="0" marL="0">
              <a:buNone/>
            </a:pPr>
            <a:r>
              <a:rPr lang="en-US" sz="1400" b="1" dirty="0">
                <a:solidFill>
                  <a:srgbClr val="B24A17"/>
                </a:solidFill>
                <a:latin typeface="Cambria" pitchFamily="34" charset="0"/>
                <a:ea typeface="Cambria" pitchFamily="34" charset="-122"/>
                <a:cs typeface="Cambria" pitchFamily="34" charset="-120"/>
              </a:rPr>
              <a:t>G3</a:t>
            </a:r>
            <a:endParaRPr lang="en-US" sz="1400" dirty="0"/>
          </a:p>
        </p:txBody>
      </p:sp>
      <p:sp>
        <p:nvSpPr>
          <p:cNvPr id="43" name="Text 41"/>
          <p:cNvSpPr txBox="1"/>
          <p:nvPr/>
        </p:nvSpPr>
        <p:spPr>
          <a:xfrm>
            <a:off x="9180576" y="4297680"/>
            <a:ext cx="2286000" cy="100584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See what the promotion PR asks of a human, and why no agent can press that button.</a:t>
            </a:r>
            <a:endParaRPr lang="en-US" sz="1050" dirty="0"/>
          </a:p>
        </p:txBody>
      </p:sp>
      <p:sp>
        <p:nvSpPr>
          <p:cNvPr id="44" name="Shape 42"/>
          <p:cNvSpPr/>
          <p:nvPr/>
        </p:nvSpPr>
        <p:spPr>
          <a:xfrm>
            <a:off x="548640" y="5623560"/>
            <a:ext cx="11064240" cy="640080"/>
          </a:xfrm>
          <a:prstGeom prst="roundRect">
            <a:avLst>
              <a:gd name="adj" fmla="val 17143"/>
            </a:avLst>
          </a:prstGeom>
          <a:solidFill>
            <a:srgbClr val="0F1A1C"/>
          </a:solidFill>
          <a:ln w="12700">
            <a:solidFill>
              <a:srgbClr val="0F1A1C"/>
            </a:solidFill>
            <a:prstDash val="solid"/>
          </a:ln>
        </p:spPr>
      </p:sp>
      <p:sp>
        <p:nvSpPr>
          <p:cNvPr id="45" name="Text 43"/>
          <p:cNvSpPr txBox="1"/>
          <p:nvPr/>
        </p:nvSpPr>
        <p:spPr>
          <a:xfrm>
            <a:off x="777240" y="5623560"/>
            <a:ext cx="10607040" cy="6400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Roles rotate: </a:t>
            </a:r>
            <a:pPr indent="0" marL="0">
              <a:buNone/>
            </a:pPr>
            <a:r>
              <a:rPr lang="en-US" sz="1200" dirty="0">
                <a:solidFill>
                  <a:srgbClr val="DFEDEC"/>
                </a:solidFill>
                <a:latin typeface="Calibri" pitchFamily="34" charset="0"/>
                <a:ea typeface="Calibri" pitchFamily="34" charset="-122"/>
                <a:cs typeface="Calibri" pitchFamily="34" charset="-120"/>
              </a:rPr>
              <a:t>release-scope approver, spec approver, design approver, tester.  </a:t>
            </a:r>
            <a:pPr indent="0" marL="0">
              <a:buNone/>
            </a:pPr>
            <a:r>
              <a:rPr lang="en-US" sz="1200" b="1" dirty="0">
                <a:solidFill>
                  <a:srgbClr val="FFFFFF"/>
                </a:solidFill>
                <a:latin typeface="Calibri" pitchFamily="34" charset="0"/>
                <a:ea typeface="Calibri" pitchFamily="34" charset="-122"/>
                <a:cs typeface="Calibri" pitchFamily="34" charset="-120"/>
              </a:rPr>
              <a:t>Closing round: </a:t>
            </a:r>
            <a:pPr indent="0" marL="0">
              <a:buNone/>
            </a:pPr>
            <a:r>
              <a:rPr lang="en-US" sz="1200" i="1" dirty="0">
                <a:solidFill>
                  <a:srgbClr val="DFEDEC"/>
                </a:solidFill>
                <a:latin typeface="Calibri" pitchFamily="34" charset="0"/>
                <a:ea typeface="Calibri" pitchFamily="34" charset="-122"/>
                <a:cs typeface="Calibri" pitchFamily="34" charset="-120"/>
              </a:rPr>
              <a:t>which of your current sign-offs are gates, and which are merely waiting?</a:t>
            </a:r>
            <a:endParaRPr lang="en-US" sz="1200" dirty="0"/>
          </a:p>
        </p:txBody>
      </p:sp>
      <p:sp>
        <p:nvSpPr>
          <p:cNvPr id="46" name="Text 44"/>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47" name="Text 45"/>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5 AGENDA · 4 HOURS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Day 5 — Capstone, governance and certification</a:t>
            </a:r>
            <a:endParaRPr lang="en-US" sz="3000" dirty="0"/>
          </a:p>
        </p:txBody>
      </p:sp>
      <p:sp>
        <p:nvSpPr>
          <p:cNvPr id="4" name="Text 2"/>
          <p:cNvSpPr txBox="1"/>
          <p:nvPr/>
        </p:nvSpPr>
        <p:spPr>
          <a:xfrm>
            <a:off x="548640" y="160020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0:00 – 0:45</a:t>
            </a:r>
            <a:endParaRPr lang="en-US" sz="1100" dirty="0"/>
          </a:p>
        </p:txBody>
      </p:sp>
      <p:sp>
        <p:nvSpPr>
          <p:cNvPr id="5" name="Shape 3"/>
          <p:cNvSpPr/>
          <p:nvPr/>
        </p:nvSpPr>
        <p:spPr>
          <a:xfrm>
            <a:off x="1645920" y="1655064"/>
            <a:ext cx="5943600" cy="457200"/>
          </a:xfrm>
          <a:prstGeom prst="roundRect">
            <a:avLst>
              <a:gd name="adj" fmla="val 20000"/>
            </a:avLst>
          </a:prstGeom>
          <a:solidFill>
            <a:srgbClr val="F4F6F6"/>
          </a:solidFill>
          <a:ln w="12700">
            <a:solidFill>
              <a:srgbClr val="F4F6F6"/>
            </a:solidFill>
            <a:prstDash val="solid"/>
          </a:ln>
        </p:spPr>
      </p:sp>
      <p:sp>
        <p:nvSpPr>
          <p:cNvPr id="6" name="Text 4"/>
          <p:cNvSpPr txBox="1"/>
          <p:nvPr/>
        </p:nvSpPr>
        <p:spPr>
          <a:xfrm>
            <a:off x="1810512" y="165506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Case study discussion</a:t>
            </a:r>
            <a:pPr indent="0" marL="0">
              <a:buNone/>
            </a:pPr>
            <a:r>
              <a:rPr lang="en-US" sz="1100" dirty="0">
                <a:solidFill>
                  <a:srgbClr val="3A464B"/>
                </a:solidFill>
                <a:latin typeface="Calibri" pitchFamily="34" charset="0"/>
                <a:ea typeface="Calibri" pitchFamily="34" charset="-122"/>
                <a:cs typeface="Calibri" pitchFamily="34" charset="-120"/>
              </a:rPr>
              <a:t>   The four-repository estate · porting the pipeline to another runner · what applies to you</a:t>
            </a:r>
            <a:endParaRPr lang="en-US" sz="1250" dirty="0"/>
          </a:p>
        </p:txBody>
      </p:sp>
      <p:sp>
        <p:nvSpPr>
          <p:cNvPr id="7" name="Text 5"/>
          <p:cNvSpPr txBox="1"/>
          <p:nvPr/>
        </p:nvSpPr>
        <p:spPr>
          <a:xfrm>
            <a:off x="548640" y="2203704"/>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0:45 – 0:55</a:t>
            </a:r>
            <a:endParaRPr lang="en-US" sz="1100" dirty="0"/>
          </a:p>
        </p:txBody>
      </p:sp>
      <p:sp>
        <p:nvSpPr>
          <p:cNvPr id="8" name="Shape 6"/>
          <p:cNvSpPr/>
          <p:nvPr/>
        </p:nvSpPr>
        <p:spPr>
          <a:xfrm>
            <a:off x="1645920" y="2258568"/>
            <a:ext cx="5943600" cy="457200"/>
          </a:xfrm>
          <a:prstGeom prst="roundRect">
            <a:avLst>
              <a:gd name="adj" fmla="val 20000"/>
            </a:avLst>
          </a:prstGeom>
          <a:solidFill>
            <a:srgbClr val="F4F6F6"/>
          </a:solidFill>
          <a:ln w="12700">
            <a:solidFill>
              <a:srgbClr val="F4F6F6"/>
            </a:solidFill>
            <a:prstDash val="solid"/>
          </a:ln>
        </p:spPr>
      </p:sp>
      <p:sp>
        <p:nvSpPr>
          <p:cNvPr id="9" name="Text 7"/>
          <p:cNvSpPr txBox="1"/>
          <p:nvPr/>
        </p:nvSpPr>
        <p:spPr>
          <a:xfrm>
            <a:off x="1810512" y="2258568"/>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0" name="Text 8"/>
          <p:cNvSpPr txBox="1"/>
          <p:nvPr/>
        </p:nvSpPr>
        <p:spPr>
          <a:xfrm>
            <a:off x="548640" y="2807208"/>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0:55 – 2:55</a:t>
            </a:r>
            <a:endParaRPr lang="en-US" sz="1100" dirty="0"/>
          </a:p>
        </p:txBody>
      </p:sp>
      <p:sp>
        <p:nvSpPr>
          <p:cNvPr id="11" name="Shape 9"/>
          <p:cNvSpPr/>
          <p:nvPr/>
        </p:nvSpPr>
        <p:spPr>
          <a:xfrm>
            <a:off x="1645920" y="2862072"/>
            <a:ext cx="5943600" cy="457200"/>
          </a:xfrm>
          <a:prstGeom prst="roundRect">
            <a:avLst>
              <a:gd name="adj" fmla="val 20000"/>
            </a:avLst>
          </a:prstGeom>
          <a:solidFill>
            <a:srgbClr val="F4F6F6"/>
          </a:solidFill>
          <a:ln w="12700">
            <a:solidFill>
              <a:srgbClr val="F4F6F6"/>
            </a:solidFill>
            <a:prstDash val="solid"/>
          </a:ln>
        </p:spPr>
      </p:sp>
      <p:sp>
        <p:nvSpPr>
          <p:cNvPr id="12" name="Text 10"/>
          <p:cNvSpPr txBox="1"/>
          <p:nvPr/>
        </p:nvSpPr>
        <p:spPr>
          <a:xfrm>
            <a:off x="1810512" y="2862072"/>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Capstone project (teams of 3–4)</a:t>
            </a:r>
            <a:pPr indent="0" marL="0">
              <a:buNone/>
            </a:pPr>
            <a:r>
              <a:rPr lang="en-US" sz="1100" dirty="0">
                <a:solidFill>
                  <a:srgbClr val="3A464B"/>
                </a:solidFill>
                <a:latin typeface="Calibri" pitchFamily="34" charset="0"/>
                <a:ea typeface="Calibri" pitchFamily="34" charset="-122"/>
                <a:cs typeface="Calibri" pitchFamily="34" charset="-120"/>
              </a:rPr>
              <a:t>   AI-enabled delivery plan for a case-study release, six deliverables</a:t>
            </a:r>
            <a:endParaRPr lang="en-US" sz="1250" dirty="0"/>
          </a:p>
        </p:txBody>
      </p:sp>
      <p:sp>
        <p:nvSpPr>
          <p:cNvPr id="13" name="Text 11"/>
          <p:cNvSpPr txBox="1"/>
          <p:nvPr/>
        </p:nvSpPr>
        <p:spPr>
          <a:xfrm>
            <a:off x="548640" y="3410712"/>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2:55 – 3:05</a:t>
            </a:r>
            <a:endParaRPr lang="en-US" sz="1100" dirty="0"/>
          </a:p>
        </p:txBody>
      </p:sp>
      <p:sp>
        <p:nvSpPr>
          <p:cNvPr id="14" name="Shape 12"/>
          <p:cNvSpPr/>
          <p:nvPr/>
        </p:nvSpPr>
        <p:spPr>
          <a:xfrm>
            <a:off x="1645920" y="3465576"/>
            <a:ext cx="5943600" cy="457200"/>
          </a:xfrm>
          <a:prstGeom prst="roundRect">
            <a:avLst>
              <a:gd name="adj" fmla="val 20000"/>
            </a:avLst>
          </a:prstGeom>
          <a:solidFill>
            <a:srgbClr val="F4F6F6"/>
          </a:solidFill>
          <a:ln w="12700">
            <a:solidFill>
              <a:srgbClr val="F4F6F6"/>
            </a:solidFill>
            <a:prstDash val="solid"/>
          </a:ln>
        </p:spPr>
      </p:sp>
      <p:sp>
        <p:nvSpPr>
          <p:cNvPr id="15" name="Text 13"/>
          <p:cNvSpPr txBox="1"/>
          <p:nvPr/>
        </p:nvSpPr>
        <p:spPr>
          <a:xfrm>
            <a:off x="1810512" y="3465576"/>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Break</a:t>
            </a:r>
            <a:pPr indent="0" marL="0">
              <a:buNone/>
            </a:pPr>
            <a:endParaRPr lang="en-US" sz="1250" dirty="0"/>
          </a:p>
        </p:txBody>
      </p:sp>
      <p:sp>
        <p:nvSpPr>
          <p:cNvPr id="16" name="Text 14"/>
          <p:cNvSpPr txBox="1"/>
          <p:nvPr/>
        </p:nvSpPr>
        <p:spPr>
          <a:xfrm>
            <a:off x="548640" y="4014216"/>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3:05 – 3:40</a:t>
            </a:r>
            <a:endParaRPr lang="en-US" sz="1100" dirty="0"/>
          </a:p>
        </p:txBody>
      </p:sp>
      <p:sp>
        <p:nvSpPr>
          <p:cNvPr id="17" name="Shape 15"/>
          <p:cNvSpPr/>
          <p:nvPr/>
        </p:nvSpPr>
        <p:spPr>
          <a:xfrm>
            <a:off x="1645920" y="4069080"/>
            <a:ext cx="5943600" cy="457200"/>
          </a:xfrm>
          <a:prstGeom prst="roundRect">
            <a:avLst>
              <a:gd name="adj" fmla="val 20000"/>
            </a:avLst>
          </a:prstGeom>
          <a:solidFill>
            <a:srgbClr val="F4F6F6"/>
          </a:solidFill>
          <a:ln w="12700">
            <a:solidFill>
              <a:srgbClr val="F4F6F6"/>
            </a:solidFill>
            <a:prstDash val="solid"/>
          </a:ln>
        </p:spPr>
      </p:sp>
      <p:sp>
        <p:nvSpPr>
          <p:cNvPr id="18" name="Text 16"/>
          <p:cNvSpPr txBox="1"/>
          <p:nvPr/>
        </p:nvSpPr>
        <p:spPr>
          <a:xfrm>
            <a:off x="1810512" y="4069080"/>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Capstone presentations and critique</a:t>
            </a:r>
            <a:pPr indent="0" marL="0">
              <a:buNone/>
            </a:pPr>
            <a:r>
              <a:rPr lang="en-US" sz="1100" dirty="0">
                <a:solidFill>
                  <a:srgbClr val="3A464B"/>
                </a:solidFill>
                <a:latin typeface="Calibri" pitchFamily="34" charset="0"/>
                <a:ea typeface="Calibri" pitchFamily="34" charset="-122"/>
                <a:cs typeface="Calibri" pitchFamily="34" charset="-120"/>
              </a:rPr>
              <a:t>   10 minutes per team, scored against the outcome measures</a:t>
            </a:r>
            <a:endParaRPr lang="en-US" sz="1250" dirty="0"/>
          </a:p>
        </p:txBody>
      </p:sp>
      <p:sp>
        <p:nvSpPr>
          <p:cNvPr id="19" name="Text 17"/>
          <p:cNvSpPr txBox="1"/>
          <p:nvPr/>
        </p:nvSpPr>
        <p:spPr>
          <a:xfrm>
            <a:off x="548640" y="4617720"/>
            <a:ext cx="1051560" cy="566928"/>
          </a:xfrm>
          <a:prstGeom prst="rect">
            <a:avLst/>
          </a:prstGeom>
          <a:noFill/>
          <a:ln/>
        </p:spPr>
        <p:txBody>
          <a:bodyPr wrap="square" lIns="0" tIns="0" rIns="0" bIns="0" rtlCol="0" anchor="ctr"/>
          <a:lstStyle/>
          <a:p>
            <a:pPr indent="0" marL="0">
              <a:buNone/>
            </a:pPr>
            <a:r>
              <a:rPr lang="en-US" sz="1100" b="1" dirty="0">
                <a:solidFill>
                  <a:srgbClr val="9FADB1"/>
                </a:solidFill>
                <a:latin typeface="Calibri" pitchFamily="34" charset="0"/>
                <a:ea typeface="Calibri" pitchFamily="34" charset="-122"/>
                <a:cs typeface="Calibri" pitchFamily="34" charset="-120"/>
              </a:rPr>
              <a:t>3:40 – 4:15</a:t>
            </a:r>
            <a:endParaRPr lang="en-US" sz="1100" dirty="0"/>
          </a:p>
        </p:txBody>
      </p:sp>
      <p:sp>
        <p:nvSpPr>
          <p:cNvPr id="20" name="Shape 18"/>
          <p:cNvSpPr/>
          <p:nvPr/>
        </p:nvSpPr>
        <p:spPr>
          <a:xfrm>
            <a:off x="1645920" y="4672584"/>
            <a:ext cx="5943600" cy="457200"/>
          </a:xfrm>
          <a:prstGeom prst="roundRect">
            <a:avLst>
              <a:gd name="adj" fmla="val 20000"/>
            </a:avLst>
          </a:prstGeom>
          <a:solidFill>
            <a:srgbClr val="F4F6F6"/>
          </a:solidFill>
          <a:ln w="12700">
            <a:solidFill>
              <a:srgbClr val="F4F6F6"/>
            </a:solidFill>
            <a:prstDash val="solid"/>
          </a:ln>
        </p:spPr>
      </p:sp>
      <p:sp>
        <p:nvSpPr>
          <p:cNvPr id="21" name="Text 19"/>
          <p:cNvSpPr txBox="1"/>
          <p:nvPr/>
        </p:nvSpPr>
        <p:spPr>
          <a:xfrm>
            <a:off x="1810512" y="4672584"/>
            <a:ext cx="5669280" cy="457200"/>
          </a:xfrm>
          <a:prstGeom prst="rect">
            <a:avLst/>
          </a:prstGeom>
          <a:noFill/>
          <a:ln/>
        </p:spPr>
        <p:txBody>
          <a:bodyPr wrap="square" lIns="0" tIns="0" rIns="0" bIns="0" rtlCol="0" anchor="ctr"/>
          <a:lstStyle/>
          <a:p>
            <a:pPr indent="0" marL="0">
              <a:buNone/>
            </a:pPr>
            <a:r>
              <a:rPr lang="en-US" sz="1250" b="1" dirty="0">
                <a:solidFill>
                  <a:srgbClr val="0F1A1C"/>
                </a:solidFill>
                <a:latin typeface="Calibri" pitchFamily="34" charset="0"/>
                <a:ea typeface="Calibri" pitchFamily="34" charset="-122"/>
                <a:cs typeface="Calibri" pitchFamily="34" charset="-120"/>
              </a:rPr>
              <a:t>Course conclusion, 30-60-90 plan, certification</a:t>
            </a:r>
            <a:pPr indent="0" marL="0">
              <a:buNone/>
            </a:pPr>
            <a:r>
              <a:rPr lang="en-US" sz="1100" dirty="0">
                <a:solidFill>
                  <a:srgbClr val="3A464B"/>
                </a:solidFill>
                <a:latin typeface="Calibri" pitchFamily="34" charset="0"/>
                <a:ea typeface="Calibri" pitchFamily="34" charset="-122"/>
                <a:cs typeface="Calibri" pitchFamily="34" charset="-120"/>
              </a:rPr>
              <a:t>   Recap, scenario quiz, personal adoption plan, certificate</a:t>
            </a:r>
            <a:endParaRPr lang="en-US" sz="1250" dirty="0"/>
          </a:p>
        </p:txBody>
      </p:sp>
      <p:sp>
        <p:nvSpPr>
          <p:cNvPr id="22" name="Shape 20"/>
          <p:cNvSpPr/>
          <p:nvPr/>
        </p:nvSpPr>
        <p:spPr>
          <a:xfrm>
            <a:off x="7955280" y="1600200"/>
            <a:ext cx="3703320" cy="2011680"/>
          </a:xfrm>
          <a:prstGeom prst="roundRect">
            <a:avLst>
              <a:gd name="adj" fmla="val 5455"/>
            </a:avLst>
          </a:prstGeom>
          <a:solidFill>
            <a:srgbClr val="F4F6F6"/>
          </a:solidFill>
          <a:ln w="12700">
            <a:solidFill>
              <a:srgbClr val="F4F6F6"/>
            </a:solidFill>
            <a:prstDash val="solid"/>
          </a:ln>
        </p:spPr>
      </p:sp>
      <p:sp>
        <p:nvSpPr>
          <p:cNvPr id="23" name="Text 21"/>
          <p:cNvSpPr txBox="1"/>
          <p:nvPr/>
        </p:nvSpPr>
        <p:spPr>
          <a:xfrm>
            <a:off x="8156448" y="1764792"/>
            <a:ext cx="330098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Client ToC modules covered</a:t>
            </a:r>
            <a:endParaRPr lang="en-US" sz="1300" dirty="0"/>
          </a:p>
        </p:txBody>
      </p:sp>
      <p:sp>
        <p:nvSpPr>
          <p:cNvPr id="24" name="Text 22"/>
          <p:cNvSpPr txBox="1"/>
          <p:nvPr/>
        </p:nvSpPr>
        <p:spPr>
          <a:xfrm>
            <a:off x="8156448" y="2176272"/>
            <a:ext cx="3300984" cy="129844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Capstone Project &amp; Case Study Discussion</a:t>
            </a:r>
            <a:endParaRPr lang="en-US" sz="1100" dirty="0"/>
          </a:p>
          <a:p>
            <a:pPr marL="152400" indent="-152400">
              <a:spcAft>
                <a:spcPts val="400"/>
              </a:spcAft>
              <a:buSzPct val="100000"/>
              <a:buChar char="•"/>
            </a:pPr>
            <a:r>
              <a:rPr lang="en-US" sz="1100" dirty="0">
                <a:solidFill>
                  <a:srgbClr val="3A464B"/>
                </a:solidFill>
                <a:latin typeface="Calibri" pitchFamily="34" charset="0"/>
                <a:ea typeface="Calibri" pitchFamily="34" charset="-122"/>
                <a:cs typeface="Calibri" pitchFamily="34" charset="-120"/>
              </a:rPr>
              <a:t>Course Conclusion and Certification</a:t>
            </a:r>
            <a:endParaRPr lang="en-US" sz="1100" dirty="0"/>
          </a:p>
        </p:txBody>
      </p:sp>
      <p:sp>
        <p:nvSpPr>
          <p:cNvPr id="25" name="Shape 23"/>
          <p:cNvSpPr/>
          <p:nvPr/>
        </p:nvSpPr>
        <p:spPr>
          <a:xfrm>
            <a:off x="7955280" y="3794760"/>
            <a:ext cx="3703320" cy="2331720"/>
          </a:xfrm>
          <a:prstGeom prst="roundRect">
            <a:avLst>
              <a:gd name="adj" fmla="val 4706"/>
            </a:avLst>
          </a:prstGeom>
          <a:solidFill>
            <a:srgbClr val="DFEDEC"/>
          </a:solidFill>
          <a:ln w="12700">
            <a:solidFill>
              <a:srgbClr val="DFEDEC"/>
            </a:solidFill>
            <a:prstDash val="solid"/>
          </a:ln>
        </p:spPr>
      </p:sp>
      <p:sp>
        <p:nvSpPr>
          <p:cNvPr id="26" name="Text 24"/>
          <p:cNvSpPr txBox="1"/>
          <p:nvPr/>
        </p:nvSpPr>
        <p:spPr>
          <a:xfrm>
            <a:off x="8156448" y="3959352"/>
            <a:ext cx="3300984" cy="365760"/>
          </a:xfrm>
          <a:prstGeom prst="rect">
            <a:avLst/>
          </a:prstGeom>
          <a:noFill/>
          <a:ln/>
        </p:spPr>
        <p:txBody>
          <a:bodyPr wrap="square" lIns="0" tIns="0" rIns="0" bIns="0" rtlCol="0" anchor="t"/>
          <a:lstStyle/>
          <a:p>
            <a:pPr indent="0" marL="0">
              <a:buNone/>
            </a:pPr>
            <a:r>
              <a:rPr lang="en-US" sz="1300" b="1" dirty="0">
                <a:solidFill>
                  <a:srgbClr val="0A3B39"/>
                </a:solidFill>
                <a:latin typeface="Cambria" pitchFamily="34" charset="0"/>
                <a:ea typeface="Cambria" pitchFamily="34" charset="-122"/>
                <a:cs typeface="Cambria" pitchFamily="34" charset="-120"/>
              </a:rPr>
              <a:t>Software Factory thread</a:t>
            </a:r>
            <a:endParaRPr lang="en-US" sz="1300" dirty="0"/>
          </a:p>
        </p:txBody>
      </p:sp>
      <p:sp>
        <p:nvSpPr>
          <p:cNvPr id="27" name="Text 25"/>
          <p:cNvSpPr txBox="1"/>
          <p:nvPr/>
        </p:nvSpPr>
        <p:spPr>
          <a:xfrm>
            <a:off x="8156448" y="4370832"/>
            <a:ext cx="3300984" cy="1618488"/>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original deployment: four repositories, one pipeline — what it cost, what broke, what the gates caught</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same shape on GitHub Copilot: what was vendor-neutral and what was not</a:t>
            </a:r>
            <a:endParaRPr lang="en-US" sz="1100" dirty="0"/>
          </a:p>
          <a:p>
            <a:pPr marL="152400" indent="-152400">
              <a:spcAft>
                <a:spcPts val="400"/>
              </a:spcAft>
              <a:buSzPct val="100000"/>
              <a:buChar char="•"/>
            </a:pPr>
            <a:r>
              <a:rPr lang="en-US" sz="1100" dirty="0">
                <a:solidFill>
                  <a:srgbClr val="0A3B39"/>
                </a:solidFill>
                <a:latin typeface="Calibri" pitchFamily="34" charset="0"/>
                <a:ea typeface="Calibri" pitchFamily="34" charset="-122"/>
                <a:cs typeface="Calibri" pitchFamily="34" charset="-120"/>
              </a:rPr>
              <a:t>The capstone's governance design uses the factory's gate and guardrail vocabulary</a:t>
            </a:r>
            <a:endParaRPr lang="en-US" sz="1100" dirty="0"/>
          </a:p>
        </p:txBody>
      </p:sp>
      <p:sp>
        <p:nvSpPr>
          <p:cNvPr id="28" name="Text 2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9" name="Text 2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5 · THE ORIGINAL DEPLOYMENT</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Case study: one pipeline, four repositories</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035040" cy="914400"/>
        </p:xfrm>
        <a:graphic>
          <a:graphicData uri="http://schemas.openxmlformats.org/drawingml/2006/table">
            <a:tbl>
              <a:tblPr/>
              <a:tblGrid>
                <a:gridCol w="2194560"/>
                <a:gridCol w="2103120"/>
                <a:gridCol w="173736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Repository</a:t>
                      </a:r>
                      <a:endParaRPr lang="en-US" sz="11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Stack</a:t>
                      </a:r>
                      <a:endParaRPr lang="en-US" sz="11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 in the estate</a:t>
                      </a:r>
                      <a:endParaRPr lang="en-US" sz="11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6E6B"/>
                    </a:solidFill>
                  </a:tcPr>
                </a:tc>
              </a:tr>
              <a:tr h="411480">
                <a:tc>
                  <a:txBody>
                    <a:bodyPr/>
                    <a:lstStyle/>
                    <a:p>
                      <a:pPr indent="0" marL="0">
                        <a:buNone/>
                      </a:pPr>
                      <a:r>
                        <a:rPr lang="en-US" sz="1050" b="1" dirty="0">
                          <a:solidFill>
                            <a:srgbClr val="0A3B39"/>
                          </a:solidFill>
                          <a:latin typeface="Courier New" pitchFamily="34" charset="0"/>
                          <a:ea typeface="Courier New" pitchFamily="34" charset="-122"/>
                          <a:cs typeface="Courier New" pitchFamily="34" charset="-120"/>
                        </a:rPr>
                        <a:t>lighthouse-backend</a:t>
                      </a:r>
                      <a:endParaRPr lang="en-US" sz="1050" dirty="0">
                        <a:latin typeface="Courier New" charset="0"/>
                        <a:ea typeface="Courier New" charset="0"/>
                        <a:cs typeface="Courier New"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Python 3.12 · FastAPI · MySQL</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Coordination repo — epics filed here</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411480">
                <a:tc>
                  <a:txBody>
                    <a:bodyPr/>
                    <a:lstStyle/>
                    <a:p>
                      <a:pPr indent="0" marL="0">
                        <a:buNone/>
                      </a:pPr>
                      <a:r>
                        <a:rPr lang="en-US" sz="1050" b="1" dirty="0">
                          <a:solidFill>
                            <a:srgbClr val="0A3B39"/>
                          </a:solidFill>
                          <a:latin typeface="Courier New" pitchFamily="34" charset="0"/>
                          <a:ea typeface="Courier New" pitchFamily="34" charset="-122"/>
                          <a:cs typeface="Courier New" pitchFamily="34" charset="-120"/>
                        </a:rPr>
                        <a:t>lighthouse-ui</a:t>
                      </a:r>
                      <a:endParaRPr lang="en-US" sz="1050" dirty="0">
                        <a:latin typeface="Courier New" charset="0"/>
                        <a:ea typeface="Courier New" charset="0"/>
                        <a:cs typeface="Courier New"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React 19 · Vite · TypeScript</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Frontend implementer</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0A3B39"/>
                          </a:solidFill>
                          <a:latin typeface="Courier New" pitchFamily="34" charset="0"/>
                          <a:ea typeface="Courier New" pitchFamily="34" charset="-122"/>
                          <a:cs typeface="Courier New" pitchFamily="34" charset="-120"/>
                        </a:rPr>
                        <a:t>lighthouse-sales</a:t>
                      </a:r>
                      <a:endParaRPr lang="en-US" sz="1050" dirty="0">
                        <a:latin typeface="Courier New" charset="0"/>
                        <a:ea typeface="Courier New" charset="0"/>
                        <a:cs typeface="Courier New"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FastAPI · Postgres/pgvector · Celery</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Sales automation implementer</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411480">
                <a:tc>
                  <a:txBody>
                    <a:bodyPr/>
                    <a:lstStyle/>
                    <a:p>
                      <a:pPr indent="0" marL="0">
                        <a:buNone/>
                      </a:pPr>
                      <a:r>
                        <a:rPr lang="en-US" sz="1050" b="1" dirty="0">
                          <a:solidFill>
                            <a:srgbClr val="0A3B39"/>
                          </a:solidFill>
                          <a:latin typeface="Courier New" pitchFamily="34" charset="0"/>
                          <a:ea typeface="Courier New" pitchFamily="34" charset="-122"/>
                          <a:cs typeface="Courier New" pitchFamily="34" charset="-120"/>
                        </a:rPr>
                        <a:t>lighthouse-whatsapp-server</a:t>
                      </a:r>
                      <a:endParaRPr lang="en-US" sz="1050" dirty="0">
                        <a:latin typeface="Courier New" charset="0"/>
                        <a:ea typeface="Courier New" charset="0"/>
                        <a:cs typeface="Courier New"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NestJS · Prisma · BullMQ</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3A464B"/>
                          </a:solidFill>
                          <a:latin typeface="Calibri" pitchFamily="34" charset="0"/>
                          <a:ea typeface="Calibri" pitchFamily="34" charset="-122"/>
                          <a:cs typeface="Calibri" pitchFamily="34" charset="-120"/>
                        </a:rPr>
                        <a:t>Messaging implementer</a:t>
                      </a:r>
                      <a:endParaRPr lang="en-US" sz="10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794760"/>
            <a:ext cx="6035040" cy="2468880"/>
          </a:xfrm>
          <a:prstGeom prst="rect">
            <a:avLst/>
          </a:prstGeom>
          <a:noFill/>
          <a:ln/>
        </p:spPr>
        <p:txBody>
          <a:bodyPr wrap="square" lIns="0" tIns="0" rIns="0" bIns="0" rtlCol="0" anchor="t"/>
          <a:lstStyle/>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The problem it solved.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An agent could write good code, but nothing could tell you where a piece of work was, what it was supposed to do, or who had agreed to it.</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What each stage cost,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in minutes and in tokens — and where the humans spent their time (mostly at G1, reading specs).</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What broke.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Cross-repo hand-offs without a shared token; runs that finished green having done nothing; sub-issues stranded with no state after a merge.</a:t>
            </a:r>
            <a:endParaRPr lang="en-US" sz="1150" dirty="0"/>
          </a:p>
          <a:p>
            <a:pPr marL="177800" indent="-177800">
              <a:spcAft>
                <a:spcPts val="800"/>
              </a:spcAft>
              <a:buSzPct val="100000"/>
              <a:buChar char="•"/>
            </a:pPr>
            <a:r>
              <a:rPr lang="en-US" sz="1150" b="1" dirty="0">
                <a:solidFill>
                  <a:srgbClr val="0F1A1C"/>
                </a:solidFill>
                <a:latin typeface="Calibri" pitchFamily="34" charset="0"/>
                <a:ea typeface="Calibri" pitchFamily="34" charset="-122"/>
                <a:cs typeface="Calibri" pitchFamily="34" charset="-120"/>
              </a:rPr>
              <a:t>What the gates caught.  </a:t>
            </a:r>
            <a:pPr indent="0" marL="0">
              <a:spcAft>
                <a:spcPts val="800"/>
              </a:spcAft>
              <a:buNone/>
            </a:pPr>
            <a:r>
              <a:rPr lang="en-US" sz="1150" dirty="0">
                <a:solidFill>
                  <a:srgbClr val="3A464B"/>
                </a:solidFill>
                <a:latin typeface="Calibri" pitchFamily="34" charset="0"/>
                <a:ea typeface="Calibri" pitchFamily="34" charset="-122"/>
                <a:cs typeface="Calibri" pitchFamily="34" charset="-120"/>
              </a:rPr>
              <a:t>A design that duplicated an existing module; a task ordering that would have shipped a consumer before its schema.</a:t>
            </a:r>
            <a:endParaRPr lang="en-US" sz="1150" dirty="0"/>
          </a:p>
        </p:txBody>
      </p:sp>
      <p:sp>
        <p:nvSpPr>
          <p:cNvPr id="6" name="Shape 3"/>
          <p:cNvSpPr/>
          <p:nvPr/>
        </p:nvSpPr>
        <p:spPr>
          <a:xfrm>
            <a:off x="6858000" y="1600200"/>
            <a:ext cx="4800600" cy="4663440"/>
          </a:xfrm>
          <a:prstGeom prst="roundRect">
            <a:avLst>
              <a:gd name="adj" fmla="val 2353"/>
            </a:avLst>
          </a:prstGeom>
          <a:solidFill>
            <a:srgbClr val="DFEDEC"/>
          </a:solidFill>
          <a:ln w="12700">
            <a:solidFill>
              <a:srgbClr val="DFEDEC"/>
            </a:solidFill>
            <a:prstDash val="solid"/>
          </a:ln>
        </p:spPr>
      </p:sp>
      <p:sp>
        <p:nvSpPr>
          <p:cNvPr id="7" name="Text 4"/>
          <p:cNvSpPr txBox="1"/>
          <p:nvPr/>
        </p:nvSpPr>
        <p:spPr>
          <a:xfrm>
            <a:off x="7059168" y="1764792"/>
            <a:ext cx="4398264" cy="640080"/>
          </a:xfrm>
          <a:prstGeom prst="rect">
            <a:avLst/>
          </a:prstGeom>
          <a:noFill/>
          <a:ln/>
        </p:spPr>
        <p:txBody>
          <a:bodyPr wrap="square" lIns="0" tIns="0" rIns="0" bIns="0" rtlCol="0" anchor="t"/>
          <a:lstStyle/>
          <a:p>
            <a:pPr indent="0" marL="0">
              <a:buNone/>
            </a:pPr>
            <a:r>
              <a:rPr lang="en-US" sz="1400" b="1" dirty="0">
                <a:solidFill>
                  <a:srgbClr val="0A3B39"/>
                </a:solidFill>
                <a:latin typeface="Cambria" pitchFamily="34" charset="0"/>
                <a:ea typeface="Cambria" pitchFamily="34" charset="-122"/>
                <a:cs typeface="Cambria" pitchFamily="34" charset="-120"/>
              </a:rPr>
              <a:t>Second case: the same shape on GitHub Copilot</a:t>
            </a:r>
            <a:endParaRPr lang="en-US" sz="1400" dirty="0"/>
          </a:p>
        </p:txBody>
      </p:sp>
      <p:sp>
        <p:nvSpPr>
          <p:cNvPr id="8" name="Text 5"/>
          <p:cNvSpPr txBox="1"/>
          <p:nvPr/>
        </p:nvSpPr>
        <p:spPr>
          <a:xfrm>
            <a:off x="7059168" y="2450592"/>
            <a:ext cx="4398264" cy="367588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State (issues, labels, milestones, PRs) and content (OpenSpec folders) are vendor-neutral — roughly 70% of the factory did not change</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What had to change: how an agent is defined and launched, and how permissions are enforced</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Role prompts ported almost verbatim: trigger → mission → numbered steps → guardrails</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Discussion for your context: a services engagement with a client PMO, a fixed-price project, a regulated environment — what carries over, what needs a different gate design?</a:t>
            </a:r>
            <a:endParaRPr lang="en-US" sz="1150" dirty="0"/>
          </a:p>
        </p:txBody>
      </p:sp>
      <p:sp>
        <p:nvSpPr>
          <p:cNvPr id="9" name="Text 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10" name="Text 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5 · 2 HOURS IN TEAMS OF 3–4, THEN 10-MINUTE PRESENTATIONS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Capstone: an AI-enabled delivery plan for a real release</a:t>
            </a:r>
            <a:endParaRPr lang="en-US" sz="3000" dirty="0"/>
          </a:p>
        </p:txBody>
      </p:sp>
      <p:sp>
        <p:nvSpPr>
          <p:cNvPr id="4" name="Text 2"/>
          <p:cNvSpPr txBox="1"/>
          <p:nvPr/>
        </p:nvSpPr>
        <p:spPr>
          <a:xfrm>
            <a:off x="548640" y="1508760"/>
            <a:ext cx="11064240" cy="548640"/>
          </a:xfrm>
          <a:prstGeom prst="rect">
            <a:avLst/>
          </a:prstGeom>
          <a:noFill/>
          <a:ln/>
        </p:spPr>
        <p:txBody>
          <a:bodyPr wrap="square" lIns="0" tIns="0" rIns="0" bIns="0" rtlCol="0" anchor="t"/>
          <a:lstStyle/>
          <a:p>
            <a:pPr indent="0" marL="0">
              <a:buNone/>
            </a:pPr>
            <a:r>
              <a:rPr lang="en-US" sz="1250" dirty="0">
                <a:solidFill>
                  <a:srgbClr val="3A464B"/>
                </a:solidFill>
                <a:latin typeface="Calibri" pitchFamily="34" charset="0"/>
                <a:ea typeface="Calibri" pitchFamily="34" charset="-122"/>
                <a:cs typeface="Calibri" pitchFamily="34" charset="-120"/>
              </a:rPr>
              <a:t>Brief: a release of 6–8 requirements for a case-study insurance policy-servicing application (teams may substitute a sanitised release of their own). Produce everything with AI; review everything as a team.</a:t>
            </a:r>
            <a:endParaRPr lang="en-US" sz="1250" dirty="0"/>
          </a:p>
        </p:txBody>
      </p:sp>
      <p:sp>
        <p:nvSpPr>
          <p:cNvPr id="5" name="Shape 3"/>
          <p:cNvSpPr/>
          <p:nvPr/>
        </p:nvSpPr>
        <p:spPr>
          <a:xfrm>
            <a:off x="548640" y="2194560"/>
            <a:ext cx="3566160" cy="1691640"/>
          </a:xfrm>
          <a:prstGeom prst="roundRect">
            <a:avLst>
              <a:gd name="adj" fmla="val 6486"/>
            </a:avLst>
          </a:prstGeom>
          <a:solidFill>
            <a:srgbClr val="F4F6F6"/>
          </a:solidFill>
          <a:ln w="12700">
            <a:solidFill>
              <a:srgbClr val="F4F6F6"/>
            </a:solidFill>
            <a:prstDash val="solid"/>
          </a:ln>
        </p:spPr>
      </p:sp>
      <p:sp>
        <p:nvSpPr>
          <p:cNvPr id="6" name="Shape 4"/>
          <p:cNvSpPr/>
          <p:nvPr/>
        </p:nvSpPr>
        <p:spPr>
          <a:xfrm>
            <a:off x="731520" y="2377440"/>
            <a:ext cx="457200" cy="45720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841248" y="2487168"/>
            <a:ext cx="237744" cy="237744"/>
          </a:xfrm>
          <a:prstGeom prst="rect">
            <a:avLst/>
          </a:prstGeom>
        </p:spPr>
      </p:pic>
      <p:sp>
        <p:nvSpPr>
          <p:cNvPr id="8" name="Text 5"/>
          <p:cNvSpPr txBox="1"/>
          <p:nvPr/>
        </p:nvSpPr>
        <p:spPr>
          <a:xfrm>
            <a:off x="1325880" y="2377440"/>
            <a:ext cx="2697480" cy="45720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1. Release plan</a:t>
            </a:r>
            <a:endParaRPr lang="en-US" sz="1300" dirty="0"/>
          </a:p>
        </p:txBody>
      </p:sp>
      <p:sp>
        <p:nvSpPr>
          <p:cNvPr id="9" name="Text 6"/>
          <p:cNvSpPr txBox="1"/>
          <p:nvPr/>
        </p:nvSpPr>
        <p:spPr>
          <a:xfrm>
            <a:off x="731520" y="2926080"/>
            <a:ext cx="3200400" cy="9144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Scope table, sequencing with the dependency that forces it, risks, what to drop, GO / NO-GO — in the Scrum Master's format.</a:t>
            </a:r>
            <a:endParaRPr lang="en-US" sz="1050" dirty="0"/>
          </a:p>
        </p:txBody>
      </p:sp>
      <p:sp>
        <p:nvSpPr>
          <p:cNvPr id="10" name="Shape 7"/>
          <p:cNvSpPr/>
          <p:nvPr/>
        </p:nvSpPr>
        <p:spPr>
          <a:xfrm>
            <a:off x="4297680" y="2194560"/>
            <a:ext cx="3566160" cy="1691640"/>
          </a:xfrm>
          <a:prstGeom prst="roundRect">
            <a:avLst>
              <a:gd name="adj" fmla="val 6486"/>
            </a:avLst>
          </a:prstGeom>
          <a:solidFill>
            <a:srgbClr val="F4F6F6"/>
          </a:solidFill>
          <a:ln w="12700">
            <a:solidFill>
              <a:srgbClr val="F4F6F6"/>
            </a:solidFill>
            <a:prstDash val="solid"/>
          </a:ln>
        </p:spPr>
      </p:sp>
      <p:sp>
        <p:nvSpPr>
          <p:cNvPr id="11" name="Shape 8"/>
          <p:cNvSpPr/>
          <p:nvPr/>
        </p:nvSpPr>
        <p:spPr>
          <a:xfrm>
            <a:off x="4480560" y="2377440"/>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4590288" y="2487168"/>
            <a:ext cx="237744" cy="237744"/>
          </a:xfrm>
          <a:prstGeom prst="rect">
            <a:avLst/>
          </a:prstGeom>
        </p:spPr>
      </p:pic>
      <p:sp>
        <p:nvSpPr>
          <p:cNvPr id="13" name="Text 9"/>
          <p:cNvSpPr txBox="1"/>
          <p:nvPr/>
        </p:nvSpPr>
        <p:spPr>
          <a:xfrm>
            <a:off x="5074920" y="2377440"/>
            <a:ext cx="2697480" cy="45720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2. Probabilistic forecast</a:t>
            </a:r>
            <a:endParaRPr lang="en-US" sz="1300" dirty="0"/>
          </a:p>
        </p:txBody>
      </p:sp>
      <p:sp>
        <p:nvSpPr>
          <p:cNvPr id="14" name="Text 10"/>
          <p:cNvSpPr txBox="1"/>
          <p:nvPr/>
        </p:nvSpPr>
        <p:spPr>
          <a:xfrm>
            <a:off x="4480560" y="2926080"/>
            <a:ext cx="3200400" cy="9144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P50 / P85 completion with the assumptions and the two scenarios that move it.</a:t>
            </a:r>
            <a:endParaRPr lang="en-US" sz="1050" dirty="0"/>
          </a:p>
        </p:txBody>
      </p:sp>
      <p:sp>
        <p:nvSpPr>
          <p:cNvPr id="15" name="Shape 11"/>
          <p:cNvSpPr/>
          <p:nvPr/>
        </p:nvSpPr>
        <p:spPr>
          <a:xfrm>
            <a:off x="8046720" y="2194560"/>
            <a:ext cx="3566160" cy="1691640"/>
          </a:xfrm>
          <a:prstGeom prst="roundRect">
            <a:avLst>
              <a:gd name="adj" fmla="val 6486"/>
            </a:avLst>
          </a:prstGeom>
          <a:solidFill>
            <a:srgbClr val="F4F6F6"/>
          </a:solidFill>
          <a:ln w="12700">
            <a:solidFill>
              <a:srgbClr val="F4F6F6"/>
            </a:solidFill>
            <a:prstDash val="solid"/>
          </a:ln>
        </p:spPr>
      </p:sp>
      <p:sp>
        <p:nvSpPr>
          <p:cNvPr id="16" name="Shape 12"/>
          <p:cNvSpPr/>
          <p:nvPr/>
        </p:nvSpPr>
        <p:spPr>
          <a:xfrm>
            <a:off x="8229600" y="2377440"/>
            <a:ext cx="457200" cy="457200"/>
          </a:xfrm>
          <a:prstGeom prst="ellipse">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3"/>
          <a:stretch>
            <a:fillRect/>
          </a:stretch>
        </p:blipFill>
        <p:spPr>
          <a:xfrm>
            <a:off x="8339328" y="2487168"/>
            <a:ext cx="237744" cy="237744"/>
          </a:xfrm>
          <a:prstGeom prst="rect">
            <a:avLst/>
          </a:prstGeom>
        </p:spPr>
      </p:pic>
      <p:sp>
        <p:nvSpPr>
          <p:cNvPr id="18" name="Text 13"/>
          <p:cNvSpPr txBox="1"/>
          <p:nvPr/>
        </p:nvSpPr>
        <p:spPr>
          <a:xfrm>
            <a:off x="8823960" y="2377440"/>
            <a:ext cx="2697480" cy="45720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3. Risk register</a:t>
            </a:r>
            <a:endParaRPr lang="en-US" sz="1300" dirty="0"/>
          </a:p>
        </p:txBody>
      </p:sp>
      <p:sp>
        <p:nvSpPr>
          <p:cNvPr id="19" name="Text 14"/>
          <p:cNvSpPr txBox="1"/>
          <p:nvPr/>
        </p:nvSpPr>
        <p:spPr>
          <a:xfrm>
            <a:off x="8229600" y="2926080"/>
            <a:ext cx="3200400" cy="9144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AI-mined from the requirements and the case history; exposure, owners, early-warning signals.</a:t>
            </a:r>
            <a:endParaRPr lang="en-US" sz="1050" dirty="0"/>
          </a:p>
        </p:txBody>
      </p:sp>
      <p:sp>
        <p:nvSpPr>
          <p:cNvPr id="20" name="Shape 15"/>
          <p:cNvSpPr/>
          <p:nvPr/>
        </p:nvSpPr>
        <p:spPr>
          <a:xfrm>
            <a:off x="548640" y="4069080"/>
            <a:ext cx="3566160" cy="1691640"/>
          </a:xfrm>
          <a:prstGeom prst="roundRect">
            <a:avLst>
              <a:gd name="adj" fmla="val 6486"/>
            </a:avLst>
          </a:prstGeom>
          <a:solidFill>
            <a:srgbClr val="F4F6F6"/>
          </a:solidFill>
          <a:ln w="12700">
            <a:solidFill>
              <a:srgbClr val="F4F6F6"/>
            </a:solidFill>
            <a:prstDash val="solid"/>
          </a:ln>
        </p:spPr>
      </p:sp>
      <p:sp>
        <p:nvSpPr>
          <p:cNvPr id="21" name="Shape 16"/>
          <p:cNvSpPr/>
          <p:nvPr/>
        </p:nvSpPr>
        <p:spPr>
          <a:xfrm>
            <a:off x="731520" y="4251960"/>
            <a:ext cx="457200" cy="457200"/>
          </a:xfrm>
          <a:prstGeom prst="ellipse">
            <a:avLst/>
          </a:prstGeom>
          <a:solidFill>
            <a:srgbClr val="FFFFFF"/>
          </a:solidFill>
          <a:ln w="12700">
            <a:solidFill>
              <a:srgbClr val="FFFFFF"/>
            </a:solidFill>
            <a:prstDash val="solid"/>
          </a:ln>
        </p:spPr>
      </p:sp>
      <p:pic>
        <p:nvPicPr>
          <p:cNvPr id="22" name="Image 3" descr="preencoded.png">    </p:cNvPr>
          <p:cNvPicPr>
            <a:picLocks noChangeAspect="1"/>
          </p:cNvPicPr>
          <p:nvPr/>
        </p:nvPicPr>
        <p:blipFill>
          <a:blip r:embed="rId4"/>
          <a:stretch>
            <a:fillRect/>
          </a:stretch>
        </p:blipFill>
        <p:spPr>
          <a:xfrm>
            <a:off x="841248" y="4361688"/>
            <a:ext cx="237744" cy="237744"/>
          </a:xfrm>
          <a:prstGeom prst="rect">
            <a:avLst/>
          </a:prstGeom>
        </p:spPr>
      </p:pic>
      <p:sp>
        <p:nvSpPr>
          <p:cNvPr id="23" name="Text 17"/>
          <p:cNvSpPr txBox="1"/>
          <p:nvPr/>
        </p:nvSpPr>
        <p:spPr>
          <a:xfrm>
            <a:off x="1325880" y="4251960"/>
            <a:ext cx="2697480" cy="45720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4. Automation &amp; reporting plan</a:t>
            </a:r>
            <a:endParaRPr lang="en-US" sz="1300" dirty="0"/>
          </a:p>
        </p:txBody>
      </p:sp>
      <p:sp>
        <p:nvSpPr>
          <p:cNvPr id="24" name="Text 18"/>
          <p:cNvSpPr txBox="1"/>
          <p:nvPr/>
        </p:nvSpPr>
        <p:spPr>
          <a:xfrm>
            <a:off x="731520" y="4800600"/>
            <a:ext cx="3200400" cy="9144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Which reports and rituals are automated, from which sources, with what human review.</a:t>
            </a:r>
            <a:endParaRPr lang="en-US" sz="1050" dirty="0"/>
          </a:p>
        </p:txBody>
      </p:sp>
      <p:sp>
        <p:nvSpPr>
          <p:cNvPr id="25" name="Shape 19"/>
          <p:cNvSpPr/>
          <p:nvPr/>
        </p:nvSpPr>
        <p:spPr>
          <a:xfrm>
            <a:off x="4297680" y="4069080"/>
            <a:ext cx="3566160" cy="1691640"/>
          </a:xfrm>
          <a:prstGeom prst="roundRect">
            <a:avLst>
              <a:gd name="adj" fmla="val 6486"/>
            </a:avLst>
          </a:prstGeom>
          <a:solidFill>
            <a:srgbClr val="F4F6F6"/>
          </a:solidFill>
          <a:ln w="12700">
            <a:solidFill>
              <a:srgbClr val="F4F6F6"/>
            </a:solidFill>
            <a:prstDash val="solid"/>
          </a:ln>
        </p:spPr>
      </p:sp>
      <p:sp>
        <p:nvSpPr>
          <p:cNvPr id="26" name="Shape 20"/>
          <p:cNvSpPr/>
          <p:nvPr/>
        </p:nvSpPr>
        <p:spPr>
          <a:xfrm>
            <a:off x="4480560" y="4251960"/>
            <a:ext cx="457200" cy="457200"/>
          </a:xfrm>
          <a:prstGeom prst="ellipse">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5"/>
          <a:stretch>
            <a:fillRect/>
          </a:stretch>
        </p:blipFill>
        <p:spPr>
          <a:xfrm>
            <a:off x="4590288" y="4361688"/>
            <a:ext cx="237744" cy="237744"/>
          </a:xfrm>
          <a:prstGeom prst="rect">
            <a:avLst/>
          </a:prstGeom>
        </p:spPr>
      </p:pic>
      <p:sp>
        <p:nvSpPr>
          <p:cNvPr id="28" name="Text 21"/>
          <p:cNvSpPr txBox="1"/>
          <p:nvPr/>
        </p:nvSpPr>
        <p:spPr>
          <a:xfrm>
            <a:off x="5074920" y="4251960"/>
            <a:ext cx="2697480" cy="45720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5. Governance design</a:t>
            </a:r>
            <a:endParaRPr lang="en-US" sz="1300" dirty="0"/>
          </a:p>
        </p:txBody>
      </p:sp>
      <p:sp>
        <p:nvSpPr>
          <p:cNvPr id="29" name="Text 22"/>
          <p:cNvSpPr txBox="1"/>
          <p:nvPr/>
        </p:nvSpPr>
        <p:spPr>
          <a:xfrm>
            <a:off x="4480560" y="4800600"/>
            <a:ext cx="3200400" cy="9144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Which gates exist, who holds them, which are delegated to an agent, which guardrails are controls.</a:t>
            </a:r>
            <a:endParaRPr lang="en-US" sz="1050" dirty="0"/>
          </a:p>
        </p:txBody>
      </p:sp>
      <p:sp>
        <p:nvSpPr>
          <p:cNvPr id="30" name="Shape 23"/>
          <p:cNvSpPr/>
          <p:nvPr/>
        </p:nvSpPr>
        <p:spPr>
          <a:xfrm>
            <a:off x="8046720" y="4069080"/>
            <a:ext cx="3566160" cy="1691640"/>
          </a:xfrm>
          <a:prstGeom prst="roundRect">
            <a:avLst>
              <a:gd name="adj" fmla="val 6486"/>
            </a:avLst>
          </a:prstGeom>
          <a:solidFill>
            <a:srgbClr val="F4F6F6"/>
          </a:solidFill>
          <a:ln w="12700">
            <a:solidFill>
              <a:srgbClr val="F4F6F6"/>
            </a:solidFill>
            <a:prstDash val="solid"/>
          </a:ln>
        </p:spPr>
      </p:sp>
      <p:sp>
        <p:nvSpPr>
          <p:cNvPr id="31" name="Shape 24"/>
          <p:cNvSpPr/>
          <p:nvPr/>
        </p:nvSpPr>
        <p:spPr>
          <a:xfrm>
            <a:off x="8229600" y="4251960"/>
            <a:ext cx="457200" cy="457200"/>
          </a:xfrm>
          <a:prstGeom prst="ellipse">
            <a:avLst/>
          </a:prstGeom>
          <a:solidFill>
            <a:srgbClr val="FFFFFF"/>
          </a:solidFill>
          <a:ln w="12700">
            <a:solidFill>
              <a:srgbClr val="FFFFFF"/>
            </a:solidFill>
            <a:prstDash val="solid"/>
          </a:ln>
        </p:spPr>
      </p:sp>
      <p:pic>
        <p:nvPicPr>
          <p:cNvPr id="32" name="Image 5" descr="preencoded.png">    </p:cNvPr>
          <p:cNvPicPr>
            <a:picLocks noChangeAspect="1"/>
          </p:cNvPicPr>
          <p:nvPr/>
        </p:nvPicPr>
        <p:blipFill>
          <a:blip r:embed="rId6"/>
          <a:stretch>
            <a:fillRect/>
          </a:stretch>
        </p:blipFill>
        <p:spPr>
          <a:xfrm>
            <a:off x="8339328" y="4361688"/>
            <a:ext cx="237744" cy="237744"/>
          </a:xfrm>
          <a:prstGeom prst="rect">
            <a:avLst/>
          </a:prstGeom>
        </p:spPr>
      </p:pic>
      <p:sp>
        <p:nvSpPr>
          <p:cNvPr id="33" name="Text 25"/>
          <p:cNvSpPr txBox="1"/>
          <p:nvPr/>
        </p:nvSpPr>
        <p:spPr>
          <a:xfrm>
            <a:off x="8823960" y="4251960"/>
            <a:ext cx="2697480" cy="457200"/>
          </a:xfrm>
          <a:prstGeom prst="rect">
            <a:avLst/>
          </a:prstGeom>
          <a:noFill/>
          <a:ln/>
        </p:spPr>
        <p:txBody>
          <a:bodyPr wrap="square" lIns="0" tIns="0" rIns="0" bIns="0" rtlCol="0" anchor="ctr"/>
          <a:lstStyle/>
          <a:p>
            <a:pPr indent="0" marL="0">
              <a:buNone/>
            </a:pPr>
            <a:r>
              <a:rPr lang="en-US" sz="1300" b="1" dirty="0">
                <a:solidFill>
                  <a:srgbClr val="0F1A1C"/>
                </a:solidFill>
                <a:latin typeface="Cambria" pitchFamily="34" charset="0"/>
                <a:ea typeface="Cambria" pitchFamily="34" charset="-122"/>
                <a:cs typeface="Cambria" pitchFamily="34" charset="-120"/>
              </a:rPr>
              <a:t>6. Stakeholder pack</a:t>
            </a:r>
            <a:endParaRPr lang="en-US" sz="1300" dirty="0"/>
          </a:p>
        </p:txBody>
      </p:sp>
      <p:sp>
        <p:nvSpPr>
          <p:cNvPr id="34" name="Text 26"/>
          <p:cNvSpPr txBox="1"/>
          <p:nvPr/>
        </p:nvSpPr>
        <p:spPr>
          <a:xfrm>
            <a:off x="8229600" y="4800600"/>
            <a:ext cx="3200400" cy="914400"/>
          </a:xfrm>
          <a:prstGeom prst="rect">
            <a:avLst/>
          </a:prstGeom>
          <a:noFill/>
          <a:ln/>
        </p:spPr>
        <p:txBody>
          <a:bodyPr wrap="square" lIns="0" tIns="0" rIns="0" bIns="0" rtlCol="0" anchor="t"/>
          <a:lstStyle/>
          <a:p>
            <a:pPr indent="0" marL="0">
              <a:buNone/>
            </a:pPr>
            <a:r>
              <a:rPr lang="en-US" sz="1050" dirty="0">
                <a:solidFill>
                  <a:srgbClr val="3A464B"/>
                </a:solidFill>
                <a:latin typeface="Calibri" pitchFamily="34" charset="0"/>
                <a:ea typeface="Calibri" pitchFamily="34" charset="-122"/>
                <a:cs typeface="Calibri" pitchFamily="34" charset="-120"/>
              </a:rPr>
              <a:t>A sponsor-grade one-page status and a steering-committee narrative, generated from the plan.</a:t>
            </a:r>
            <a:endParaRPr lang="en-US" sz="1050" dirty="0"/>
          </a:p>
        </p:txBody>
      </p:sp>
      <p:sp>
        <p:nvSpPr>
          <p:cNvPr id="35" name="Text 27"/>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0A3B39"/>
                </a:solidFill>
                <a:latin typeface="Calibri" pitchFamily="34" charset="0"/>
                <a:ea typeface="Calibri" pitchFamily="34" charset="-122"/>
                <a:cs typeface="Calibri" pitchFamily="34" charset="-120"/>
              </a:rPr>
              <a:t>Scored against the six business outcomes: predictability, reporting, risk, automation, governance, AI readiness. Peer critique first, trainer critique second.</a:t>
            </a:r>
            <a:endParaRPr lang="en-US" sz="1100" dirty="0"/>
          </a:p>
        </p:txBody>
      </p:sp>
      <p:sp>
        <p:nvSpPr>
          <p:cNvPr id="36" name="Text 2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37" name="Text 29"/>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DAY 5 · CONCLUSION AND CERTIFICATION</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Leaving with a plan, not just a certificate</a:t>
            </a:r>
            <a:endParaRPr lang="en-US" sz="3000" dirty="0"/>
          </a:p>
        </p:txBody>
      </p:sp>
      <p:sp>
        <p:nvSpPr>
          <p:cNvPr id="4" name="Shape 2"/>
          <p:cNvSpPr/>
          <p:nvPr/>
        </p:nvSpPr>
        <p:spPr>
          <a:xfrm>
            <a:off x="548640" y="1600200"/>
            <a:ext cx="3566160" cy="3017520"/>
          </a:xfrm>
          <a:prstGeom prst="roundRect">
            <a:avLst>
              <a:gd name="adj" fmla="val 3636"/>
            </a:avLst>
          </a:prstGeom>
          <a:solidFill>
            <a:srgbClr val="F4F6F6"/>
          </a:solidFill>
          <a:ln w="12700">
            <a:solidFill>
              <a:srgbClr val="F4F6F6"/>
            </a:solidFill>
            <a:prstDash val="solid"/>
          </a:ln>
        </p:spPr>
      </p:sp>
      <p:sp>
        <p:nvSpPr>
          <p:cNvPr id="5" name="Text 3"/>
          <p:cNvSpPr txBox="1"/>
          <p:nvPr/>
        </p:nvSpPr>
        <p:spPr>
          <a:xfrm>
            <a:off x="777240" y="1737360"/>
            <a:ext cx="3108960" cy="548640"/>
          </a:xfrm>
          <a:prstGeom prst="rect">
            <a:avLst/>
          </a:prstGeom>
          <a:noFill/>
          <a:ln/>
        </p:spPr>
        <p:txBody>
          <a:bodyPr wrap="square" lIns="0" tIns="0" rIns="0" bIns="0" rtlCol="0" anchor="ctr"/>
          <a:lstStyle/>
          <a:p>
            <a:pPr indent="0" marL="0">
              <a:buNone/>
            </a:pPr>
            <a:r>
              <a:rPr lang="en-US" sz="2600" b="1" dirty="0">
                <a:solidFill>
                  <a:srgbClr val="0B6E6B"/>
                </a:solidFill>
                <a:latin typeface="Cambria" pitchFamily="34" charset="0"/>
                <a:ea typeface="Cambria" pitchFamily="34" charset="-122"/>
                <a:cs typeface="Cambria" pitchFamily="34" charset="-120"/>
              </a:rPr>
              <a:t>30 days</a:t>
            </a:r>
            <a:endParaRPr lang="en-US" sz="2600" dirty="0"/>
          </a:p>
        </p:txBody>
      </p:sp>
      <p:sp>
        <p:nvSpPr>
          <p:cNvPr id="6" name="Text 4"/>
          <p:cNvSpPr txBox="1"/>
          <p:nvPr/>
        </p:nvSpPr>
        <p:spPr>
          <a:xfrm>
            <a:off x="777240" y="2286000"/>
            <a:ext cx="3108960" cy="365760"/>
          </a:xfrm>
          <a:prstGeom prst="rect">
            <a:avLst/>
          </a:prstGeom>
          <a:noFill/>
          <a:ln/>
        </p:spPr>
        <p:txBody>
          <a:bodyPr wrap="square" lIns="0" tIns="0" rIns="0" bIns="0" rtlCol="0" anchor="ctr"/>
          <a:lstStyle/>
          <a:p>
            <a:pPr indent="0" marL="0">
              <a:buNone/>
            </a:pPr>
            <a:r>
              <a:rPr lang="en-US" sz="1300" b="1" dirty="0">
                <a:solidFill>
                  <a:srgbClr val="0F1A1C"/>
                </a:solidFill>
                <a:latin typeface="Calibri" pitchFamily="34" charset="0"/>
                <a:ea typeface="Calibri" pitchFamily="34" charset="-122"/>
                <a:cs typeface="Calibri" pitchFamily="34" charset="-120"/>
              </a:rPr>
              <a:t>One report to automate</a:t>
            </a:r>
            <a:endParaRPr lang="en-US" sz="1300" dirty="0"/>
          </a:p>
        </p:txBody>
      </p:sp>
      <p:sp>
        <p:nvSpPr>
          <p:cNvPr id="7" name="Text 5"/>
          <p:cNvSpPr txBox="1"/>
          <p:nvPr/>
        </p:nvSpPr>
        <p:spPr>
          <a:xfrm>
            <a:off x="777240" y="2697480"/>
            <a:ext cx="3108960" cy="182880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Pick the report that costs the most hours</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Build it from the system of record with an LLM narrator</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Run it in parallel with the manual one for two cycles</a:t>
            </a:r>
            <a:endParaRPr lang="en-US" sz="1100" dirty="0"/>
          </a:p>
        </p:txBody>
      </p:sp>
      <p:sp>
        <p:nvSpPr>
          <p:cNvPr id="8" name="Shape 6"/>
          <p:cNvSpPr/>
          <p:nvPr/>
        </p:nvSpPr>
        <p:spPr>
          <a:xfrm>
            <a:off x="4297680" y="1600200"/>
            <a:ext cx="3566160" cy="3017520"/>
          </a:xfrm>
          <a:prstGeom prst="roundRect">
            <a:avLst>
              <a:gd name="adj" fmla="val 3636"/>
            </a:avLst>
          </a:prstGeom>
          <a:solidFill>
            <a:srgbClr val="DFEDEC"/>
          </a:solidFill>
          <a:ln w="12700">
            <a:solidFill>
              <a:srgbClr val="DFEDEC"/>
            </a:solidFill>
            <a:prstDash val="solid"/>
          </a:ln>
        </p:spPr>
      </p:sp>
      <p:sp>
        <p:nvSpPr>
          <p:cNvPr id="9" name="Text 7"/>
          <p:cNvSpPr txBox="1"/>
          <p:nvPr/>
        </p:nvSpPr>
        <p:spPr>
          <a:xfrm>
            <a:off x="4526280" y="1737360"/>
            <a:ext cx="3108960" cy="548640"/>
          </a:xfrm>
          <a:prstGeom prst="rect">
            <a:avLst/>
          </a:prstGeom>
          <a:noFill/>
          <a:ln/>
        </p:spPr>
        <p:txBody>
          <a:bodyPr wrap="square" lIns="0" tIns="0" rIns="0" bIns="0" rtlCol="0" anchor="ctr"/>
          <a:lstStyle/>
          <a:p>
            <a:pPr indent="0" marL="0">
              <a:buNone/>
            </a:pPr>
            <a:r>
              <a:rPr lang="en-US" sz="2600" b="1" dirty="0">
                <a:solidFill>
                  <a:srgbClr val="0B6E6B"/>
                </a:solidFill>
                <a:latin typeface="Cambria" pitchFamily="34" charset="0"/>
                <a:ea typeface="Cambria" pitchFamily="34" charset="-122"/>
                <a:cs typeface="Cambria" pitchFamily="34" charset="-120"/>
              </a:rPr>
              <a:t>60 days</a:t>
            </a:r>
            <a:endParaRPr lang="en-US" sz="2600" dirty="0"/>
          </a:p>
        </p:txBody>
      </p:sp>
      <p:sp>
        <p:nvSpPr>
          <p:cNvPr id="10" name="Text 8"/>
          <p:cNvSpPr txBox="1"/>
          <p:nvPr/>
        </p:nvSpPr>
        <p:spPr>
          <a:xfrm>
            <a:off x="4526280" y="2286000"/>
            <a:ext cx="3108960" cy="365760"/>
          </a:xfrm>
          <a:prstGeom prst="rect">
            <a:avLst/>
          </a:prstGeom>
          <a:noFill/>
          <a:ln/>
        </p:spPr>
        <p:txBody>
          <a:bodyPr wrap="square" lIns="0" tIns="0" rIns="0" bIns="0" rtlCol="0" anchor="ctr"/>
          <a:lstStyle/>
          <a:p>
            <a:pPr indent="0" marL="0">
              <a:buNone/>
            </a:pPr>
            <a:r>
              <a:rPr lang="en-US" sz="1300" b="1" dirty="0">
                <a:solidFill>
                  <a:srgbClr val="0F1A1C"/>
                </a:solidFill>
                <a:latin typeface="Calibri" pitchFamily="34" charset="0"/>
                <a:ea typeface="Calibri" pitchFamily="34" charset="-122"/>
                <a:cs typeface="Calibri" pitchFamily="34" charset="-120"/>
              </a:rPr>
              <a:t>One forecast, one gate</a:t>
            </a:r>
            <a:endParaRPr lang="en-US" sz="1300" dirty="0"/>
          </a:p>
        </p:txBody>
      </p:sp>
      <p:sp>
        <p:nvSpPr>
          <p:cNvPr id="11" name="Text 9"/>
          <p:cNvSpPr txBox="1"/>
          <p:nvPr/>
        </p:nvSpPr>
        <p:spPr>
          <a:xfrm>
            <a:off x="4526280" y="2697480"/>
            <a:ext cx="3108960" cy="182880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Replace a committed date with a P50 / P85</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Redesign one sign-off as a real gate with evidence and an approver list</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Put an attention queue in front of the sponsor</a:t>
            </a:r>
            <a:endParaRPr lang="en-US" sz="1100" dirty="0"/>
          </a:p>
        </p:txBody>
      </p:sp>
      <p:sp>
        <p:nvSpPr>
          <p:cNvPr id="12" name="Shape 10"/>
          <p:cNvSpPr/>
          <p:nvPr/>
        </p:nvSpPr>
        <p:spPr>
          <a:xfrm>
            <a:off x="8046720" y="1600200"/>
            <a:ext cx="3566160" cy="3017520"/>
          </a:xfrm>
          <a:prstGeom prst="roundRect">
            <a:avLst>
              <a:gd name="adj" fmla="val 3636"/>
            </a:avLst>
          </a:prstGeom>
          <a:solidFill>
            <a:srgbClr val="0F1A1C"/>
          </a:solidFill>
          <a:ln w="12700">
            <a:solidFill>
              <a:srgbClr val="0F1A1C"/>
            </a:solidFill>
            <a:prstDash val="solid"/>
          </a:ln>
        </p:spPr>
      </p:sp>
      <p:sp>
        <p:nvSpPr>
          <p:cNvPr id="13" name="Text 11"/>
          <p:cNvSpPr txBox="1"/>
          <p:nvPr/>
        </p:nvSpPr>
        <p:spPr>
          <a:xfrm>
            <a:off x="8275320" y="1737360"/>
            <a:ext cx="310896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90 days</a:t>
            </a:r>
            <a:endParaRPr lang="en-US" sz="2600" dirty="0"/>
          </a:p>
        </p:txBody>
      </p:sp>
      <p:sp>
        <p:nvSpPr>
          <p:cNvPr id="14" name="Text 12"/>
          <p:cNvSpPr txBox="1"/>
          <p:nvPr/>
        </p:nvSpPr>
        <p:spPr>
          <a:xfrm>
            <a:off x="8275320" y="2286000"/>
            <a:ext cx="3108960" cy="365760"/>
          </a:xfrm>
          <a:prstGeom prst="rect">
            <a:avLst/>
          </a:prstGeom>
          <a:noFill/>
          <a:ln/>
        </p:spPr>
        <p:txBody>
          <a:bodyPr wrap="square" lIns="0" tIns="0" rIns="0" bIns="0" rtlCol="0" anchor="ctr"/>
          <a:lstStyle/>
          <a:p>
            <a:pPr indent="0" marL="0">
              <a:buNone/>
            </a:pPr>
            <a:r>
              <a:rPr lang="en-US" sz="1300" b="1" dirty="0">
                <a:solidFill>
                  <a:srgbClr val="DFEDEC"/>
                </a:solidFill>
                <a:latin typeface="Calibri" pitchFamily="34" charset="0"/>
                <a:ea typeface="Calibri" pitchFamily="34" charset="-122"/>
                <a:cs typeface="Calibri" pitchFamily="34" charset="-120"/>
              </a:rPr>
              <a:t>One AI-driven initiative</a:t>
            </a:r>
            <a:endParaRPr lang="en-US" sz="1300" dirty="0"/>
          </a:p>
        </p:txBody>
      </p:sp>
      <p:sp>
        <p:nvSpPr>
          <p:cNvPr id="15" name="Text 13"/>
          <p:cNvSpPr txBox="1"/>
          <p:nvPr/>
        </p:nvSpPr>
        <p:spPr>
          <a:xfrm>
            <a:off x="8275320" y="2697480"/>
            <a:ext cx="3108960" cy="182880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DFEDEC"/>
                </a:solidFill>
                <a:latin typeface="Calibri" pitchFamily="34" charset="0"/>
                <a:ea typeface="Calibri" pitchFamily="34" charset="-122"/>
                <a:cs typeface="Calibri" pitchFamily="34" charset="-120"/>
              </a:rPr>
              <a:t>Govern a Gen AI project with evals, budgets and guardrails as controls</a:t>
            </a:r>
            <a:endParaRPr lang="en-US" sz="1100" dirty="0"/>
          </a:p>
          <a:p>
            <a:pPr marL="127000" indent="-127000">
              <a:spcAft>
                <a:spcPts val="500"/>
              </a:spcAft>
              <a:buSzPct val="100000"/>
              <a:buChar char="•"/>
            </a:pPr>
            <a:r>
              <a:rPr lang="en-US" sz="1100" dirty="0">
                <a:solidFill>
                  <a:srgbClr val="DFEDEC"/>
                </a:solidFill>
                <a:latin typeface="Calibri" pitchFamily="34" charset="0"/>
                <a:ea typeface="Calibri" pitchFamily="34" charset="-122"/>
                <a:cs typeface="Calibri" pitchFamily="34" charset="-120"/>
              </a:rPr>
              <a:t>Or: factory-enable one sandbox repository and run a first epic</a:t>
            </a:r>
            <a:endParaRPr lang="en-US" sz="1100" dirty="0"/>
          </a:p>
          <a:p>
            <a:pPr marL="127000" indent="-127000">
              <a:spcAft>
                <a:spcPts val="500"/>
              </a:spcAft>
              <a:buSzPct val="100000"/>
              <a:buChar char="•"/>
            </a:pPr>
            <a:r>
              <a:rPr lang="en-US" sz="1100" dirty="0">
                <a:solidFill>
                  <a:srgbClr val="DFEDEC"/>
                </a:solidFill>
                <a:latin typeface="Calibri" pitchFamily="34" charset="0"/>
                <a:ea typeface="Calibri" pitchFamily="34" charset="-122"/>
                <a:cs typeface="Calibri" pitchFamily="34" charset="-120"/>
              </a:rPr>
              <a:t>Report what changed in predictability and reporting time</a:t>
            </a:r>
            <a:endParaRPr lang="en-US" sz="1100" dirty="0"/>
          </a:p>
        </p:txBody>
      </p:sp>
      <p:sp>
        <p:nvSpPr>
          <p:cNvPr id="16" name="Shape 14"/>
          <p:cNvSpPr/>
          <p:nvPr/>
        </p:nvSpPr>
        <p:spPr>
          <a:xfrm>
            <a:off x="548640" y="4800600"/>
            <a:ext cx="5394960" cy="1463040"/>
          </a:xfrm>
          <a:prstGeom prst="roundRect">
            <a:avLst>
              <a:gd name="adj" fmla="val 7500"/>
            </a:avLst>
          </a:prstGeom>
          <a:solidFill>
            <a:srgbClr val="F4F6F6"/>
          </a:solidFill>
          <a:ln w="12700">
            <a:solidFill>
              <a:srgbClr val="F4F6F6"/>
            </a:solidFill>
            <a:prstDash val="solid"/>
          </a:ln>
        </p:spPr>
      </p:sp>
      <p:sp>
        <p:nvSpPr>
          <p:cNvPr id="17" name="Text 15"/>
          <p:cNvSpPr txBox="1"/>
          <p:nvPr/>
        </p:nvSpPr>
        <p:spPr>
          <a:xfrm>
            <a:off x="749808" y="4965192"/>
            <a:ext cx="4992624" cy="365760"/>
          </a:xfrm>
          <a:prstGeom prst="rect">
            <a:avLst/>
          </a:prstGeom>
          <a:noFill/>
          <a:ln/>
        </p:spPr>
        <p:txBody>
          <a:bodyPr wrap="square" lIns="0" tIns="0" rIns="0" bIns="0" rtlCol="0" anchor="t"/>
          <a:lstStyle/>
          <a:p>
            <a:pPr indent="0" marL="0">
              <a:buNone/>
            </a:pPr>
            <a:r>
              <a:rPr lang="en-US" sz="1300" b="1" dirty="0">
                <a:solidFill>
                  <a:srgbClr val="0B6E6B"/>
                </a:solidFill>
                <a:latin typeface="Cambria" pitchFamily="34" charset="0"/>
                <a:ea typeface="Cambria" pitchFamily="34" charset="-122"/>
                <a:cs typeface="Cambria" pitchFamily="34" charset="-120"/>
              </a:rPr>
              <a:t>Assessment and certificate</a:t>
            </a:r>
            <a:endParaRPr lang="en-US" sz="1300" dirty="0"/>
          </a:p>
        </p:txBody>
      </p:sp>
      <p:sp>
        <p:nvSpPr>
          <p:cNvPr id="18" name="Text 16"/>
          <p:cNvSpPr txBox="1"/>
          <p:nvPr/>
        </p:nvSpPr>
        <p:spPr>
          <a:xfrm>
            <a:off x="749808" y="5376672"/>
            <a:ext cx="4992624" cy="74980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Capstone 60% + scenario-based quiz 40%</a:t>
            </a:r>
            <a:endParaRPr lang="en-US" sz="1150" dirty="0"/>
          </a:p>
          <a:p>
            <a:pPr marL="152400" indent="-152400">
              <a:spcAft>
                <a:spcPts val="400"/>
              </a:spcAft>
              <a:buSzPct val="100000"/>
              <a:buChar char="•"/>
            </a:pPr>
            <a:r>
              <a:rPr lang="en-US" sz="1150" dirty="0">
                <a:solidFill>
                  <a:srgbClr val="3A464B"/>
                </a:solidFill>
                <a:latin typeface="Calibri" pitchFamily="34" charset="0"/>
                <a:ea typeface="Calibri" pitchFamily="34" charset="-122"/>
                <a:cs typeface="Calibri" pitchFamily="34" charset="-120"/>
              </a:rPr>
              <a:t>Certificate of completion issued on passing; recording and materials retained by the client</a:t>
            </a:r>
            <a:endParaRPr lang="en-US" sz="1150" dirty="0"/>
          </a:p>
        </p:txBody>
      </p:sp>
      <p:sp>
        <p:nvSpPr>
          <p:cNvPr id="19" name="Shape 17"/>
          <p:cNvSpPr/>
          <p:nvPr/>
        </p:nvSpPr>
        <p:spPr>
          <a:xfrm>
            <a:off x="6217920" y="4800600"/>
            <a:ext cx="5440680" cy="1463040"/>
          </a:xfrm>
          <a:prstGeom prst="roundRect">
            <a:avLst>
              <a:gd name="adj" fmla="val 7500"/>
            </a:avLst>
          </a:prstGeom>
          <a:solidFill>
            <a:srgbClr val="DFEDEC"/>
          </a:solidFill>
          <a:ln w="12700">
            <a:solidFill>
              <a:srgbClr val="DFEDEC"/>
            </a:solidFill>
            <a:prstDash val="solid"/>
          </a:ln>
        </p:spPr>
      </p:sp>
      <p:sp>
        <p:nvSpPr>
          <p:cNvPr id="20" name="Text 18"/>
          <p:cNvSpPr txBox="1"/>
          <p:nvPr/>
        </p:nvSpPr>
        <p:spPr>
          <a:xfrm>
            <a:off x="6419088" y="4965192"/>
            <a:ext cx="5038344" cy="365760"/>
          </a:xfrm>
          <a:prstGeom prst="rect">
            <a:avLst/>
          </a:prstGeom>
          <a:noFill/>
          <a:ln/>
        </p:spPr>
        <p:txBody>
          <a:bodyPr wrap="square" lIns="0" tIns="0" rIns="0" bIns="0" rtlCol="0" anchor="t"/>
          <a:lstStyle/>
          <a:p>
            <a:pPr indent="0" marL="0">
              <a:buNone/>
            </a:pPr>
            <a:r>
              <a:rPr lang="en-US" sz="1300" b="1" dirty="0">
                <a:solidFill>
                  <a:srgbClr val="0A3B39"/>
                </a:solidFill>
                <a:latin typeface="Cambria" pitchFamily="34" charset="0"/>
                <a:ea typeface="Cambria" pitchFamily="34" charset="-122"/>
                <a:cs typeface="Cambria" pitchFamily="34" charset="-120"/>
              </a:rPr>
              <a:t>Take-home resources</a:t>
            </a:r>
            <a:endParaRPr lang="en-US" sz="1300" dirty="0"/>
          </a:p>
        </p:txBody>
      </p:sp>
      <p:sp>
        <p:nvSpPr>
          <p:cNvPr id="21" name="Text 19"/>
          <p:cNvSpPr txBox="1"/>
          <p:nvPr/>
        </p:nvSpPr>
        <p:spPr>
          <a:xfrm>
            <a:off x="6419088" y="5376672"/>
            <a:ext cx="5038344" cy="74980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The Software Factory handbook and case studies (open source, MIT)</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Prompt library, forecast templates, automation templates, reading list</a:t>
            </a:r>
            <a:endParaRPr lang="en-US" sz="1150" dirty="0"/>
          </a:p>
        </p:txBody>
      </p:sp>
      <p:sp>
        <p:nvSpPr>
          <p:cNvPr id="22" name="Text 2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3" name="Text 21"/>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LOGISTICS · ANSWERS TO THE LAB QUESTIONS IN THE REQUEST</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Lab setup and system requirements</a:t>
            </a:r>
            <a:endParaRPr lang="en-US" sz="3000" dirty="0"/>
          </a:p>
        </p:txBody>
      </p:sp>
      <p:sp>
        <p:nvSpPr>
          <p:cNvPr id="4" name="Shape 2"/>
          <p:cNvSpPr/>
          <p:nvPr/>
        </p:nvSpPr>
        <p:spPr>
          <a:xfrm>
            <a:off x="548640" y="1600200"/>
            <a:ext cx="3566160" cy="3931920"/>
          </a:xfrm>
          <a:prstGeom prst="roundRect">
            <a:avLst>
              <a:gd name="adj" fmla="val 3077"/>
            </a:avLst>
          </a:prstGeom>
          <a:solidFill>
            <a:srgbClr val="F4F6F6"/>
          </a:solidFill>
          <a:ln w="12700">
            <a:solidFill>
              <a:srgbClr val="F4F6F6"/>
            </a:solidFill>
            <a:prstDash val="solid"/>
          </a:ln>
        </p:spPr>
      </p:sp>
      <p:sp>
        <p:nvSpPr>
          <p:cNvPr id="5" name="Shape 3"/>
          <p:cNvSpPr/>
          <p:nvPr/>
        </p:nvSpPr>
        <p:spPr>
          <a:xfrm>
            <a:off x="731520" y="178308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52221" y="1903781"/>
            <a:ext cx="261518" cy="261518"/>
          </a:xfrm>
          <a:prstGeom prst="rect">
            <a:avLst/>
          </a:prstGeom>
        </p:spPr>
      </p:pic>
      <p:sp>
        <p:nvSpPr>
          <p:cNvPr id="7" name="Text 4"/>
          <p:cNvSpPr txBox="1"/>
          <p:nvPr/>
        </p:nvSpPr>
        <p:spPr>
          <a:xfrm>
            <a:off x="1371600" y="1783080"/>
            <a:ext cx="2651760" cy="502920"/>
          </a:xfrm>
          <a:prstGeom prst="rect">
            <a:avLst/>
          </a:prstGeom>
          <a:noFill/>
          <a:ln/>
        </p:spPr>
        <p:txBody>
          <a:bodyPr wrap="square" lIns="0" tIns="0" rIns="0" bIns="0" rtlCol="0" anchor="ctr"/>
          <a:lstStyle/>
          <a:p>
            <a:pPr indent="0" marL="0">
              <a:buNone/>
            </a:pPr>
            <a:r>
              <a:rPr lang="en-US" sz="1350" b="1" dirty="0">
                <a:solidFill>
                  <a:srgbClr val="0F1A1C"/>
                </a:solidFill>
                <a:latin typeface="Cambria" pitchFamily="34" charset="0"/>
                <a:ea typeface="Cambria" pitchFamily="34" charset="-122"/>
                <a:cs typeface="Cambria" pitchFamily="34" charset="-120"/>
              </a:rPr>
              <a:t>Hardware (per participant)</a:t>
            </a:r>
            <a:endParaRPr lang="en-US" sz="1350" dirty="0"/>
          </a:p>
        </p:txBody>
      </p:sp>
      <p:sp>
        <p:nvSpPr>
          <p:cNvPr id="8" name="Text 5"/>
          <p:cNvSpPr txBox="1"/>
          <p:nvPr/>
        </p:nvSpPr>
        <p:spPr>
          <a:xfrm>
            <a:off x="731520" y="2423160"/>
            <a:ext cx="3200400" cy="30175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Laptop with 8 GB RAM or more</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Chrome or Edge, stable internet</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Microphone and camera</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No GPU; nothing heavy runs locally</a:t>
            </a:r>
            <a:endParaRPr lang="en-US" sz="1100" dirty="0"/>
          </a:p>
        </p:txBody>
      </p:sp>
      <p:sp>
        <p:nvSpPr>
          <p:cNvPr id="9" name="Shape 6"/>
          <p:cNvSpPr/>
          <p:nvPr/>
        </p:nvSpPr>
        <p:spPr>
          <a:xfrm>
            <a:off x="4297680" y="1600200"/>
            <a:ext cx="3566160" cy="3931920"/>
          </a:xfrm>
          <a:prstGeom prst="roundRect">
            <a:avLst>
              <a:gd name="adj" fmla="val 3077"/>
            </a:avLst>
          </a:prstGeom>
          <a:solidFill>
            <a:srgbClr val="F4F6F6"/>
          </a:solidFill>
          <a:ln w="12700">
            <a:solidFill>
              <a:srgbClr val="F4F6F6"/>
            </a:solidFill>
            <a:prstDash val="solid"/>
          </a:ln>
        </p:spPr>
      </p:sp>
      <p:sp>
        <p:nvSpPr>
          <p:cNvPr id="10" name="Shape 7"/>
          <p:cNvSpPr/>
          <p:nvPr/>
        </p:nvSpPr>
        <p:spPr>
          <a:xfrm>
            <a:off x="4480560" y="1783080"/>
            <a:ext cx="502920" cy="50292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01261" y="1903781"/>
            <a:ext cx="261518" cy="261518"/>
          </a:xfrm>
          <a:prstGeom prst="rect">
            <a:avLst/>
          </a:prstGeom>
        </p:spPr>
      </p:pic>
      <p:sp>
        <p:nvSpPr>
          <p:cNvPr id="12" name="Text 8"/>
          <p:cNvSpPr txBox="1"/>
          <p:nvPr/>
        </p:nvSpPr>
        <p:spPr>
          <a:xfrm>
            <a:off x="5120640" y="1783080"/>
            <a:ext cx="2651760" cy="502920"/>
          </a:xfrm>
          <a:prstGeom prst="rect">
            <a:avLst/>
          </a:prstGeom>
          <a:noFill/>
          <a:ln/>
        </p:spPr>
        <p:txBody>
          <a:bodyPr wrap="square" lIns="0" tIns="0" rIns="0" bIns="0" rtlCol="0" anchor="ctr"/>
          <a:lstStyle/>
          <a:p>
            <a:pPr indent="0" marL="0">
              <a:buNone/>
            </a:pPr>
            <a:r>
              <a:rPr lang="en-US" sz="1350" b="1" dirty="0">
                <a:solidFill>
                  <a:srgbClr val="0F1A1C"/>
                </a:solidFill>
                <a:latin typeface="Cambria" pitchFamily="34" charset="0"/>
                <a:ea typeface="Cambria" pitchFamily="34" charset="-122"/>
                <a:cs typeface="Cambria" pitchFamily="34" charset="-120"/>
              </a:rPr>
              <a:t>Software and accounts</a:t>
            </a:r>
            <a:endParaRPr lang="en-US" sz="1350" dirty="0"/>
          </a:p>
        </p:txBody>
      </p:sp>
      <p:sp>
        <p:nvSpPr>
          <p:cNvPr id="13" name="Text 9"/>
          <p:cNvSpPr txBox="1"/>
          <p:nvPr/>
        </p:nvSpPr>
        <p:spPr>
          <a:xfrm>
            <a:off x="4480560" y="2423160"/>
            <a:ext cx="3200400" cy="30175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GitHub account (free), added to the sandbox organisation</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A Generative AI assistant: Claude, ChatGPT or Microsoft Copilot — the client's enterprise assistant preferred, to respect data policy</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Excel or Google Sheets</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Teams or Slack sandbox channel</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Optional stretch: VS Code, Node.js 20+, Python 3.11+</a:t>
            </a:r>
            <a:endParaRPr lang="en-US" sz="1100" dirty="0"/>
          </a:p>
        </p:txBody>
      </p:sp>
      <p:sp>
        <p:nvSpPr>
          <p:cNvPr id="14" name="Shape 10"/>
          <p:cNvSpPr/>
          <p:nvPr/>
        </p:nvSpPr>
        <p:spPr>
          <a:xfrm>
            <a:off x="8046720" y="1600200"/>
            <a:ext cx="3566160" cy="3931920"/>
          </a:xfrm>
          <a:prstGeom prst="roundRect">
            <a:avLst>
              <a:gd name="adj" fmla="val 3077"/>
            </a:avLst>
          </a:prstGeom>
          <a:solidFill>
            <a:srgbClr val="F4F6F6"/>
          </a:solidFill>
          <a:ln w="12700">
            <a:solidFill>
              <a:srgbClr val="F4F6F6"/>
            </a:solidFill>
            <a:prstDash val="solid"/>
          </a:ln>
        </p:spPr>
      </p:sp>
      <p:sp>
        <p:nvSpPr>
          <p:cNvPr id="15" name="Shape 11"/>
          <p:cNvSpPr/>
          <p:nvPr/>
        </p:nvSpPr>
        <p:spPr>
          <a:xfrm>
            <a:off x="8229600" y="1783080"/>
            <a:ext cx="502920" cy="50292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50301" y="1903781"/>
            <a:ext cx="261518" cy="261518"/>
          </a:xfrm>
          <a:prstGeom prst="rect">
            <a:avLst/>
          </a:prstGeom>
        </p:spPr>
      </p:pic>
      <p:sp>
        <p:nvSpPr>
          <p:cNvPr id="17" name="Text 12"/>
          <p:cNvSpPr txBox="1"/>
          <p:nvPr/>
        </p:nvSpPr>
        <p:spPr>
          <a:xfrm>
            <a:off x="8869680" y="1783080"/>
            <a:ext cx="2651760" cy="502920"/>
          </a:xfrm>
          <a:prstGeom prst="rect">
            <a:avLst/>
          </a:prstGeom>
          <a:noFill/>
          <a:ln/>
        </p:spPr>
        <p:txBody>
          <a:bodyPr wrap="square" lIns="0" tIns="0" rIns="0" bIns="0" rtlCol="0" anchor="ctr"/>
          <a:lstStyle/>
          <a:p>
            <a:pPr indent="0" marL="0">
              <a:buNone/>
            </a:pPr>
            <a:r>
              <a:rPr lang="en-US" sz="1350" b="1" dirty="0">
                <a:solidFill>
                  <a:srgbClr val="0F1A1C"/>
                </a:solidFill>
                <a:latin typeface="Cambria" pitchFamily="34" charset="0"/>
                <a:ea typeface="Cambria" pitchFamily="34" charset="-122"/>
                <a:cs typeface="Cambria" pitchFamily="34" charset="-120"/>
              </a:rPr>
              <a:t>Provided by the trainer</a:t>
            </a:r>
            <a:endParaRPr lang="en-US" sz="1350" dirty="0"/>
          </a:p>
        </p:txBody>
      </p:sp>
      <p:sp>
        <p:nvSpPr>
          <p:cNvPr id="18" name="Text 13"/>
          <p:cNvSpPr txBox="1"/>
          <p:nvPr/>
        </p:nvSpPr>
        <p:spPr>
          <a:xfrm>
            <a:off x="8229600" y="2423160"/>
            <a:ext cx="3200400" cy="30175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Sandbox GitHub organisation with the Software Factory installed on a case-study repository</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Approver lists configured for the batch</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Factory Console deployed for participants</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LLM API credits for the factory runs on Days 4–5</a:t>
            </a:r>
            <a:endParaRPr lang="en-US" sz="1100" dirty="0"/>
          </a:p>
          <a:p>
            <a:pPr marL="127000" indent="-127000">
              <a:spcAft>
                <a:spcPts val="500"/>
              </a:spcAft>
              <a:buSzPct val="100000"/>
              <a:buChar char="•"/>
            </a:pPr>
            <a:r>
              <a:rPr lang="en-US" sz="1100" dirty="0">
                <a:solidFill>
                  <a:srgbClr val="3A464B"/>
                </a:solidFill>
                <a:latin typeface="Calibri" pitchFamily="34" charset="0"/>
                <a:ea typeface="Calibri" pitchFamily="34" charset="-122"/>
                <a:cs typeface="Calibri" pitchFamily="34" charset="-120"/>
              </a:rPr>
              <a:t>Datasets, prompt library, lab guides, templates</a:t>
            </a:r>
            <a:endParaRPr lang="en-US" sz="1100" dirty="0"/>
          </a:p>
        </p:txBody>
      </p:sp>
      <p:sp>
        <p:nvSpPr>
          <p:cNvPr id="19" name="Shape 14"/>
          <p:cNvSpPr/>
          <p:nvPr/>
        </p:nvSpPr>
        <p:spPr>
          <a:xfrm>
            <a:off x="548640" y="5669280"/>
            <a:ext cx="11064240" cy="594360"/>
          </a:xfrm>
          <a:prstGeom prst="roundRect">
            <a:avLst>
              <a:gd name="adj" fmla="val 15385"/>
            </a:avLst>
          </a:prstGeom>
          <a:solidFill>
            <a:srgbClr val="DFEDEC"/>
          </a:solidFill>
          <a:ln w="12700">
            <a:solidFill>
              <a:srgbClr val="DFEDEC"/>
            </a:solidFill>
            <a:prstDash val="solid"/>
          </a:ln>
        </p:spPr>
      </p:sp>
      <p:sp>
        <p:nvSpPr>
          <p:cNvPr id="20" name="Text 15"/>
          <p:cNvSpPr txBox="1"/>
          <p:nvPr/>
        </p:nvSpPr>
        <p:spPr>
          <a:xfrm>
            <a:off x="777240" y="5669280"/>
            <a:ext cx="10607040" cy="594360"/>
          </a:xfrm>
          <a:prstGeom prst="rect">
            <a:avLst/>
          </a:prstGeom>
          <a:noFill/>
          <a:ln/>
        </p:spPr>
        <p:txBody>
          <a:bodyPr wrap="square" lIns="0" tIns="0" rIns="0" bIns="0" rtlCol="0" anchor="ctr"/>
          <a:lstStyle/>
          <a:p>
            <a:pPr indent="0" marL="0">
              <a:buNone/>
            </a:pPr>
            <a:r>
              <a:rPr lang="en-US" sz="1050" b="1" dirty="0">
                <a:solidFill>
                  <a:srgbClr val="0A3B39"/>
                </a:solidFill>
                <a:latin typeface="Calibri" pitchFamily="34" charset="0"/>
                <a:ea typeface="Calibri" pitchFamily="34" charset="-122"/>
                <a:cs typeface="Calibri" pitchFamily="34" charset="-120"/>
              </a:rPr>
              <a:t>Lab cost per participant </a:t>
            </a:r>
            <a:pPr indent="0" marL="0">
              <a:buNone/>
            </a:pPr>
            <a:r>
              <a:rPr lang="en-US" sz="1050" dirty="0">
                <a:solidFill>
                  <a:srgbClr val="0A3B39"/>
                </a:solidFill>
                <a:latin typeface="Calibri" pitchFamily="34" charset="0"/>
                <a:ea typeface="Calibri" pitchFamily="34" charset="-122"/>
                <a:cs typeface="Calibri" pitchFamily="34" charset="-120"/>
              </a:rPr>
              <a:t>covers the sandbox environment, the agent-run credits for the labs and capstone, and AI-assistant usage where the client does not supply its own. All required software is available from our side; the client supplies only its own enterprise AI assistant if it prefers one.</a:t>
            </a:r>
            <a:endParaRPr lang="en-US" sz="1050" dirty="0"/>
          </a:p>
        </p:txBody>
      </p:sp>
      <p:sp>
        <p:nvSpPr>
          <p:cNvPr id="21" name="Text 1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22" name="Text 1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100" b="1" spc="200" kern="0" dirty="0">
                <a:solidFill>
                  <a:srgbClr val="B24A17"/>
                </a:solidFill>
                <a:latin typeface="Calibri" pitchFamily="34" charset="0"/>
                <a:ea typeface="Calibri" pitchFamily="34" charset="-122"/>
                <a:cs typeface="Calibri" pitchFamily="34" charset="-120"/>
              </a:rPr>
              <a:t>LOGISTICS · OPTIONAL EXTENSIONS</a:t>
            </a:r>
            <a:endParaRPr lang="en-US" sz="1100" dirty="0"/>
          </a:p>
        </p:txBody>
      </p:sp>
      <p:sp>
        <p:nvSpPr>
          <p:cNvPr id="3" name="Text 1"/>
          <p:cNvSpPr txBox="1"/>
          <p:nvPr/>
        </p:nvSpPr>
        <p:spPr>
          <a:xfrm>
            <a:off x="548640" y="603504"/>
            <a:ext cx="11064240" cy="777240"/>
          </a:xfrm>
          <a:prstGeom prst="rect">
            <a:avLst/>
          </a:prstGeom>
          <a:noFill/>
          <a:ln/>
        </p:spPr>
        <p:txBody>
          <a:bodyPr wrap="square" lIns="0" tIns="0" rIns="0" bIns="0" rtlCol="0" anchor="ctr"/>
          <a:lstStyle/>
          <a:p>
            <a:pPr indent="0" marL="0">
              <a:buNone/>
            </a:pPr>
            <a:r>
              <a:rPr lang="en-US" sz="3000" b="1" dirty="0">
                <a:solidFill>
                  <a:srgbClr val="0F1A1C"/>
                </a:solidFill>
                <a:latin typeface="Cambria" pitchFamily="34" charset="0"/>
                <a:ea typeface="Cambria" pitchFamily="34" charset="-122"/>
                <a:cs typeface="Cambria" pitchFamily="34" charset="-120"/>
              </a:rPr>
              <a:t>Delivery format, and topics we can add</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914400"/>
        </p:xfrm>
        <a:graphic>
          <a:graphicData uri="http://schemas.openxmlformats.org/drawingml/2006/table">
            <a:tbl>
              <a:tblPr/>
              <a:tblGrid>
                <a:gridCol w="1280160"/>
                <a:gridCol w="4114800"/>
              </a:tblGrid>
              <a:tr h="566928">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Mode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Online, instructor-led, recorded — recording provided to the client</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566928">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Duration</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20 hours: 5 half-days × 4 hours (4.5 with extended labs)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Batch size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12–20 participants; capstone in teams of 3–4</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566928">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Materials</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Slide deck, lab guides, prompt library, forecast and automation templates, sandbox estate, the Software Factory handbook</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Assessment</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Capstone 60% + scenario quiz 40% → certificate of completion</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6F6"/>
                    </a:solidFill>
                  </a:tcPr>
                </a:tc>
              </a:tr>
              <a:tr h="566928">
                <a:tc>
                  <a:txBody>
                    <a:bodyPr/>
                    <a:lstStyle/>
                    <a:p>
                      <a:pPr indent="0" marL="0">
                        <a:buNone/>
                      </a:pPr>
                      <a:r>
                        <a:rPr lang="en-US" sz="1150" b="1" dirty="0">
                          <a:solidFill>
                            <a:srgbClr val="0F1A1C"/>
                          </a:solidFill>
                          <a:latin typeface="Calibri" pitchFamily="34" charset="0"/>
                          <a:ea typeface="Calibri" pitchFamily="34" charset="-122"/>
                          <a:cs typeface="Calibri" pitchFamily="34" charset="-120"/>
                        </a:rPr>
                        <a:t>Language</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3A464B"/>
                          </a:solidFill>
                          <a:latin typeface="Calibri" pitchFamily="34" charset="0"/>
                          <a:ea typeface="Calibri" pitchFamily="34" charset="-122"/>
                          <a:cs typeface="Calibri" pitchFamily="34" charset="-120"/>
                        </a:rPr>
                        <a:t>English</a:t>
                      </a:r>
                      <a:endParaRPr lang="en-US" sz="115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Shape 2"/>
          <p:cNvSpPr/>
          <p:nvPr/>
        </p:nvSpPr>
        <p:spPr>
          <a:xfrm>
            <a:off x="6217920" y="1600200"/>
            <a:ext cx="5440680" cy="4663440"/>
          </a:xfrm>
          <a:prstGeom prst="roundRect">
            <a:avLst>
              <a:gd name="adj" fmla="val 2353"/>
            </a:avLst>
          </a:prstGeom>
          <a:solidFill>
            <a:srgbClr val="DFEDEC"/>
          </a:solidFill>
          <a:ln w="12700">
            <a:solidFill>
              <a:srgbClr val="DFEDEC"/>
            </a:solidFill>
            <a:prstDash val="solid"/>
          </a:ln>
        </p:spPr>
      </p:sp>
      <p:sp>
        <p:nvSpPr>
          <p:cNvPr id="6" name="Text 3"/>
          <p:cNvSpPr txBox="1"/>
          <p:nvPr/>
        </p:nvSpPr>
        <p:spPr>
          <a:xfrm>
            <a:off x="6419088" y="1764792"/>
            <a:ext cx="5038344" cy="640080"/>
          </a:xfrm>
          <a:prstGeom prst="rect">
            <a:avLst/>
          </a:prstGeom>
          <a:noFill/>
          <a:ln/>
        </p:spPr>
        <p:txBody>
          <a:bodyPr wrap="square" lIns="0" tIns="0" rIns="0" bIns="0" rtlCol="0" anchor="t"/>
          <a:lstStyle/>
          <a:p>
            <a:pPr indent="0" marL="0">
              <a:buNone/>
            </a:pPr>
            <a:r>
              <a:rPr lang="en-US" sz="1350" b="1" dirty="0">
                <a:solidFill>
                  <a:srgbClr val="0A3B39"/>
                </a:solidFill>
                <a:latin typeface="Cambria" pitchFamily="34" charset="0"/>
                <a:ea typeface="Cambria" pitchFamily="34" charset="-122"/>
                <a:cs typeface="Cambria" pitchFamily="34" charset="-120"/>
              </a:rPr>
              <a:t>Beyond the initial curriculum (60–90 min each, or a sixth half-day)</a:t>
            </a:r>
            <a:endParaRPr lang="en-US" sz="1350" dirty="0"/>
          </a:p>
        </p:txBody>
      </p:sp>
      <p:sp>
        <p:nvSpPr>
          <p:cNvPr id="7" name="Text 4"/>
          <p:cNvSpPr txBox="1"/>
          <p:nvPr/>
        </p:nvSpPr>
        <p:spPr>
          <a:xfrm>
            <a:off x="6419088" y="2450592"/>
            <a:ext cx="5038344" cy="3675888"/>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Agile estimation and planning with AI: story splitting, backlog grooming, sprint-planning assistants</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Vendor and contract management for AI-delivered work: acceptance when an agent wrote the code, IP of generated artifacts</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Change management and role redesign: BAs, testers and tech leads on an agent-driven pipeline</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Portfolio and PMO-level AI: cross-project forecasting, capacity planning, multi-repository estates</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Agentic AI deep-dive: event-driven routers versus graph engines, MCP, evaluating agent runs</a:t>
            </a:r>
            <a:endParaRPr lang="en-US" sz="1150" dirty="0"/>
          </a:p>
          <a:p>
            <a:pPr marL="152400" indent="-152400">
              <a:spcAft>
                <a:spcPts val="400"/>
              </a:spcAft>
              <a:buSzPct val="100000"/>
              <a:buChar char="•"/>
            </a:pPr>
            <a:r>
              <a:rPr lang="en-US" sz="1150" dirty="0">
                <a:solidFill>
                  <a:srgbClr val="0A3B39"/>
                </a:solidFill>
                <a:latin typeface="Calibri" pitchFamily="34" charset="0"/>
                <a:ea typeface="Calibri" pitchFamily="34" charset="-122"/>
                <a:cs typeface="Calibri" pitchFamily="34" charset="-120"/>
              </a:rPr>
              <a:t>Build the client's own factory: factory-enable one sandbox repository and run a first epic</a:t>
            </a:r>
            <a:endParaRPr lang="en-US" sz="1150" dirty="0"/>
          </a:p>
        </p:txBody>
      </p:sp>
      <p:sp>
        <p:nvSpPr>
          <p:cNvPr id="8" name="Text 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9" name="Text 6"/>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A1C"/>
        </a:solidFill>
      </p:bgPr>
    </p:bg>
    <p:spTree>
      <p:nvGrpSpPr>
        <p:cNvPr id="1" name=""/>
        <p:cNvGrpSpPr/>
        <p:nvPr/>
      </p:nvGrpSpPr>
      <p:grpSpPr>
        <a:xfrm>
          <a:off x="0" y="0"/>
          <a:ext cx="0" cy="0"/>
          <a:chOff x="0" y="0"/>
          <a:chExt cx="0" cy="0"/>
        </a:xfrm>
      </p:grpSpPr>
      <p:sp>
        <p:nvSpPr>
          <p:cNvPr id="2" name="Shape 0"/>
          <p:cNvSpPr/>
          <p:nvPr/>
        </p:nvSpPr>
        <p:spPr>
          <a:xfrm>
            <a:off x="-2011680" y="3291840"/>
            <a:ext cx="5943600" cy="5943600"/>
          </a:xfrm>
          <a:prstGeom prst="ellipse">
            <a:avLst/>
          </a:prstGeom>
          <a:solidFill>
            <a:srgbClr val="0A3B39"/>
          </a:solidFill>
          <a:ln w="12700">
            <a:solidFill>
              <a:srgbClr val="0A3B39"/>
            </a:solidFill>
            <a:prstDash val="solid"/>
          </a:ln>
        </p:spPr>
      </p:sp>
      <p:sp>
        <p:nvSpPr>
          <p:cNvPr id="3" name="Text 1"/>
          <p:cNvSpPr txBox="1"/>
          <p:nvPr/>
        </p:nvSpPr>
        <p:spPr>
          <a:xfrm>
            <a:off x="640080" y="1280160"/>
            <a:ext cx="107899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 plain requirement goes in.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A governed, proven change comes out.</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The PM holds the gates.</a:t>
            </a:r>
            <a:endParaRPr lang="en-US" sz="3600" dirty="0"/>
          </a:p>
        </p:txBody>
      </p:sp>
      <p:sp>
        <p:nvSpPr>
          <p:cNvPr id="4" name="Text 2"/>
          <p:cNvSpPr txBox="1"/>
          <p:nvPr/>
        </p:nvSpPr>
        <p:spPr>
          <a:xfrm>
            <a:off x="640080" y="3749040"/>
            <a:ext cx="8686800" cy="731520"/>
          </a:xfrm>
          <a:prstGeom prst="rect">
            <a:avLst/>
          </a:prstGeom>
          <a:noFill/>
          <a:ln/>
        </p:spPr>
        <p:txBody>
          <a:bodyPr wrap="square" lIns="0" tIns="0" rIns="0" bIns="0" rtlCol="0" anchor="t"/>
          <a:lstStyle/>
          <a:p>
            <a:pPr indent="0" marL="0">
              <a:buNone/>
            </a:pPr>
            <a:r>
              <a:rPr lang="en-US" sz="1600" dirty="0">
                <a:solidFill>
                  <a:srgbClr val="DFEDEC"/>
                </a:solidFill>
                <a:latin typeface="Calibri" pitchFamily="34" charset="0"/>
                <a:ea typeface="Calibri" pitchFamily="34" charset="-122"/>
                <a:cs typeface="Calibri" pitchFamily="34" charset="-120"/>
              </a:rPr>
              <a:t>That is the delivery model this program prepares Project and Delivery Managers to run — and the one they practise, hands-on, for 20 hours.</a:t>
            </a:r>
            <a:endParaRPr lang="en-US" sz="1600" dirty="0"/>
          </a:p>
        </p:txBody>
      </p:sp>
      <p:sp>
        <p:nvSpPr>
          <p:cNvPr id="5" name="Shape 3"/>
          <p:cNvSpPr/>
          <p:nvPr/>
        </p:nvSpPr>
        <p:spPr>
          <a:xfrm>
            <a:off x="640080" y="4709160"/>
            <a:ext cx="1563624" cy="292608"/>
          </a:xfrm>
          <a:prstGeom prst="roundRect">
            <a:avLst>
              <a:gd name="adj" fmla="val 50000"/>
            </a:avLst>
          </a:prstGeom>
          <a:solidFill>
            <a:srgbClr val="0B6E6B"/>
          </a:solidFill>
          <a:ln w="6350">
            <a:solidFill>
              <a:srgbClr val="0B6E6B"/>
            </a:solidFill>
            <a:prstDash val="solid"/>
          </a:ln>
        </p:spPr>
      </p:sp>
      <p:sp>
        <p:nvSpPr>
          <p:cNvPr id="6" name="Text 4"/>
          <p:cNvSpPr txBox="1"/>
          <p:nvPr/>
        </p:nvSpPr>
        <p:spPr>
          <a:xfrm>
            <a:off x="640080" y="4709160"/>
            <a:ext cx="15636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factory:deployed</a:t>
            </a:r>
            <a:endParaRPr lang="en-US" sz="1100" dirty="0"/>
          </a:p>
        </p:txBody>
      </p:sp>
      <p:sp>
        <p:nvSpPr>
          <p:cNvPr id="7" name="Text 5"/>
          <p:cNvSpPr txBox="1"/>
          <p:nvPr/>
        </p:nvSpPr>
        <p:spPr>
          <a:xfrm>
            <a:off x="640080" y="5303520"/>
            <a:ext cx="105156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Jerry Kurian  ·  GenAI People
</a:t>
            </a:r>
            <a:pPr indent="0" marL="0">
              <a:buNone/>
            </a:pPr>
            <a:r>
              <a:rPr lang="en-US" sz="1200" dirty="0">
                <a:solidFill>
                  <a:srgbClr val="9FADB1"/>
                </a:solidFill>
                <a:latin typeface="Calibri" pitchFamily="34" charset="0"/>
                <a:ea typeface="Calibri" pitchFamily="34" charset="-122"/>
                <a:cs typeface="Calibri" pitchFamily="34" charset="-120"/>
              </a:rPr>
              <a:t>jerry@genaipeople.com  ·  genaipeople.com  ·  github.com/genai-jerry/claude-software-factory</a:t>
            </a:r>
            <a:endParaRPr lang="en-US" sz="1500" dirty="0"/>
          </a:p>
        </p:txBody>
      </p:sp>
      <p:sp>
        <p:nvSpPr>
          <p:cNvPr id="8" name="Text 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9FADB1"/>
                </a:solidFill>
                <a:latin typeface="Calibri" pitchFamily="34" charset="0"/>
                <a:ea typeface="Calibri" pitchFamily="34" charset="-122"/>
                <a:cs typeface="Calibri" pitchFamily="34" charset="-120"/>
              </a:rPr>
              <a:t>AI-Enabled Project &amp; Delivery Management  ·  GenAI People</a:t>
            </a:r>
            <a:endParaRPr lang="en-US" sz="900" dirty="0"/>
          </a:p>
        </p:txBody>
      </p:sp>
      <p:sp>
        <p:nvSpPr>
          <p:cNvPr id="9" name="Text 7"/>
          <p:cNvSpPr txBox="1"/>
          <p:nvPr/>
        </p:nvSpPr>
        <p:spPr>
          <a:xfrm>
            <a:off x="11091672" y="6419088"/>
            <a:ext cx="548640" cy="274320"/>
          </a:xfrm>
          <a:prstGeom prst="rect">
            <a:avLst/>
          </a:prstGeom>
          <a:noFill/>
          <a:ln/>
        </p:spPr>
        <p:txBody>
          <a:bodyPr wrap="square" lIns="0" tIns="0" rIns="0" bIns="0" rtlCol="0" anchor="ctr"/>
          <a:lstStyle/>
          <a:p>
            <a:pPr algn="r" indent="0" marL="0">
              <a:buNone/>
            </a:pPr>
            <a:r>
              <a:rPr lang="en-US" sz="900" dirty="0">
                <a:solidFill>
                  <a:srgbClr val="9FADB1"/>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AI-Enabled Project &amp; Delivery Management</dc:title>
  <dc:subject>PptxGenJS Presentation</dc:subject>
  <dc:creator>GenAI People</dc:creator>
  <cp:lastModifiedBy>GenAI People</cp:lastModifiedBy>
  <cp:revision>1</cp:revision>
  <dcterms:created xsi:type="dcterms:W3CDTF">2026-09-10T00:33:36Z</dcterms:created>
  <dcterms:modified xsi:type="dcterms:W3CDTF">2026-09-10T00:33:36Z</dcterms:modified>
</cp:coreProperties>
</file>